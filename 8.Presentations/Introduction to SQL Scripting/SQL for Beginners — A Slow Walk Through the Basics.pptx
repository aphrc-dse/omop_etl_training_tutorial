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13716000" cx="2438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b5dddb631_2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b5dddb631_2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b5dddb631_2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fb5dddb631_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b5dddb631_2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fb5dddb631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b5dddb631_1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fb5dddb631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b5dddb631_1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fb5dddb631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b5dddb631_1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fb5dddb631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b5dddb631_1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fb5dddb631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fb5dddb631_1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fb5dddb631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fb5dddb631_1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fb5dddb631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fb5dddb631_1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fb5dddb631_1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fb5dddb631_1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fb5dddb631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fb5dddb631_1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fb5dddb631_1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fb5dddb631_1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fb5dddb631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fb5dddb631_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fb5dddb631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fb5dddb631_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3fb5dddb631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b5dddb631_7_0)">
  <p:cSld name="Generated (g3fb5dddb631_7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831222" y="1985533"/>
            <a:ext cx="22721600" cy="5473600"/>
          </a:xfrm>
          <a:prstGeom prst="rect">
            <a:avLst/>
          </a:prstGeom>
        </p:spPr>
        <p:txBody>
          <a:bodyPr anchorCtr="0" anchor="b" bIns="243800" lIns="243800" spcFirstLastPara="1" rIns="243800" wrap="square" tIns="2438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1pPr>
            <a:lvl2pPr lvl="1" algn="ctr"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2pPr>
            <a:lvl3pPr lvl="2" algn="ctr"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3pPr>
            <a:lvl4pPr lvl="3" algn="ctr"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4pPr>
            <a:lvl5pPr lvl="4" algn="ctr"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5pPr>
            <a:lvl6pPr lvl="5" algn="ctr"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6pPr>
            <a:lvl7pPr lvl="6" algn="ctr"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7pPr>
            <a:lvl8pPr lvl="7" algn="ctr"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8pPr>
            <a:lvl9pPr lvl="8" algn="ctr"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831200" y="7557667"/>
            <a:ext cx="22721600" cy="21136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22593221" y="12435245"/>
            <a:ext cx="1463200" cy="10496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831200" y="5735600"/>
            <a:ext cx="22721600" cy="22448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22593221" y="12435245"/>
            <a:ext cx="1463200" cy="10496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831200" y="1186733"/>
            <a:ext cx="22721600" cy="15272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831200" y="3073267"/>
            <a:ext cx="22721600" cy="91104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indent="-533400" lvl="0" marL="457200">
              <a:spcBef>
                <a:spcPts val="0"/>
              </a:spcBef>
              <a:spcAft>
                <a:spcPts val="0"/>
              </a:spcAft>
              <a:buSzPts val="4800"/>
              <a:buChar char="●"/>
              <a:defRPr/>
            </a:lvl1pPr>
            <a:lvl2pPr indent="-463550" lvl="1" marL="914400">
              <a:spcBef>
                <a:spcPts val="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>
              <a:spcBef>
                <a:spcPts val="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>
              <a:spcBef>
                <a:spcPts val="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>
              <a:spcBef>
                <a:spcPts val="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>
              <a:spcBef>
                <a:spcPts val="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>
              <a:spcBef>
                <a:spcPts val="0"/>
              </a:spcBef>
              <a:spcAft>
                <a:spcPts val="0"/>
              </a:spcAft>
              <a:buSzPts val="37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22593221" y="12435245"/>
            <a:ext cx="1463200" cy="10496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831200" y="1186733"/>
            <a:ext cx="22721600" cy="15272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831200" y="3073267"/>
            <a:ext cx="10666400" cy="91104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indent="-463550" lvl="0" marL="457200"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1pPr>
            <a:lvl2pPr indent="-431800" lvl="1" marL="9144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2pPr>
            <a:lvl3pPr indent="-431800" lvl="2" marL="13716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3pPr>
            <a:lvl4pPr indent="-431800" lvl="3" marL="1828800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4pPr>
            <a:lvl5pPr indent="-431800" lvl="4" marL="22860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5pPr>
            <a:lvl6pPr indent="-431800" lvl="5" marL="27432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6pPr>
            <a:lvl7pPr indent="-431800" lvl="6" marL="3200400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7pPr>
            <a:lvl8pPr indent="-431800" lvl="7" marL="36576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8pPr>
            <a:lvl9pPr indent="-431800" lvl="8" marL="41148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12886400" y="3073267"/>
            <a:ext cx="10666400" cy="91104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indent="-463550" lvl="0" marL="457200"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1pPr>
            <a:lvl2pPr indent="-431800" lvl="1" marL="9144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2pPr>
            <a:lvl3pPr indent="-431800" lvl="2" marL="13716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3pPr>
            <a:lvl4pPr indent="-431800" lvl="3" marL="1828800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4pPr>
            <a:lvl5pPr indent="-431800" lvl="4" marL="22860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5pPr>
            <a:lvl6pPr indent="-431800" lvl="5" marL="27432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6pPr>
            <a:lvl7pPr indent="-431800" lvl="6" marL="3200400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7pPr>
            <a:lvl8pPr indent="-431800" lvl="7" marL="36576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8pPr>
            <a:lvl9pPr indent="-431800" lvl="8" marL="41148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22593221" y="12435245"/>
            <a:ext cx="1463200" cy="10496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831200" y="1186733"/>
            <a:ext cx="22721600" cy="15272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22593221" y="12435245"/>
            <a:ext cx="1463200" cy="10496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831200" y="1481600"/>
            <a:ext cx="7488000" cy="2015200"/>
          </a:xfrm>
          <a:prstGeom prst="rect">
            <a:avLst/>
          </a:prstGeom>
        </p:spPr>
        <p:txBody>
          <a:bodyPr anchorCtr="0" anchor="b" bIns="243800" lIns="243800" spcFirstLastPara="1" rIns="243800" wrap="square" tIns="243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831200" y="3705600"/>
            <a:ext cx="7488000" cy="84784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indent="-431800" lvl="0" marL="457200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1pPr>
            <a:lvl2pPr indent="-431800" lvl="1" marL="9144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2pPr>
            <a:lvl3pPr indent="-431800" lvl="2" marL="13716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3pPr>
            <a:lvl4pPr indent="-431800" lvl="3" marL="1828800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4pPr>
            <a:lvl5pPr indent="-431800" lvl="4" marL="22860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5pPr>
            <a:lvl6pPr indent="-431800" lvl="5" marL="27432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6pPr>
            <a:lvl7pPr indent="-431800" lvl="6" marL="3200400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7pPr>
            <a:lvl8pPr indent="-431800" lvl="7" marL="36576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8pPr>
            <a:lvl9pPr indent="-431800" lvl="8" marL="41148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22593221" y="12435245"/>
            <a:ext cx="1463200" cy="10496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1307333" y="1200400"/>
            <a:ext cx="16980801" cy="109088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1pPr>
            <a:lvl2pPr lvl="1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2pPr>
            <a:lvl3pPr lvl="2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3pPr>
            <a:lvl4pPr lvl="3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4pPr>
            <a:lvl5pPr lvl="4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5pPr>
            <a:lvl6pPr lvl="5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6pPr>
            <a:lvl7pPr lvl="6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7pPr>
            <a:lvl8pPr lvl="7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8pPr>
            <a:lvl9pPr lvl="8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22593221" y="12435245"/>
            <a:ext cx="1463200" cy="10496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12192000" y="-333"/>
            <a:ext cx="12192000" cy="13716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243800" lIns="243800" spcFirstLastPara="1" rIns="243800" wrap="square" tIns="24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708000" y="3288467"/>
            <a:ext cx="10787200" cy="3952800"/>
          </a:xfrm>
          <a:prstGeom prst="rect">
            <a:avLst/>
          </a:prstGeom>
        </p:spPr>
        <p:txBody>
          <a:bodyPr anchorCtr="0" anchor="b" bIns="243800" lIns="243800" spcFirstLastPara="1" rIns="243800" wrap="square" tIns="2438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708000" y="7474867"/>
            <a:ext cx="10787200" cy="32936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13172000" y="1930867"/>
            <a:ext cx="10232000" cy="98536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indent="-533400" lvl="0" marL="457200">
              <a:spcBef>
                <a:spcPts val="0"/>
              </a:spcBef>
              <a:spcAft>
                <a:spcPts val="0"/>
              </a:spcAft>
              <a:buSzPts val="4800"/>
              <a:buChar char="●"/>
              <a:defRPr/>
            </a:lvl1pPr>
            <a:lvl2pPr indent="-463550" lvl="1" marL="914400">
              <a:spcBef>
                <a:spcPts val="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>
              <a:spcBef>
                <a:spcPts val="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>
              <a:spcBef>
                <a:spcPts val="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>
              <a:spcBef>
                <a:spcPts val="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>
              <a:spcBef>
                <a:spcPts val="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>
              <a:spcBef>
                <a:spcPts val="0"/>
              </a:spcBef>
              <a:spcAft>
                <a:spcPts val="0"/>
              </a:spcAft>
              <a:buSzPts val="37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22593221" y="12435245"/>
            <a:ext cx="1463200" cy="10496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831200" y="11281533"/>
            <a:ext cx="15996800" cy="16136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22593221" y="12435245"/>
            <a:ext cx="1463200" cy="10496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831200" y="2949667"/>
            <a:ext cx="22721600" cy="5236000"/>
          </a:xfrm>
          <a:prstGeom prst="rect">
            <a:avLst/>
          </a:prstGeom>
        </p:spPr>
        <p:txBody>
          <a:bodyPr anchorCtr="0" anchor="b" bIns="243800" lIns="243800" spcFirstLastPara="1" rIns="243800" wrap="square" tIns="2438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831200" y="8405933"/>
            <a:ext cx="22721600" cy="34688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indent="-533400" lvl="0" marL="457200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/>
            </a:lvl1pPr>
            <a:lvl2pPr indent="-463550" lvl="1" marL="914400" algn="ctr">
              <a:spcBef>
                <a:spcPts val="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 algn="ctr">
              <a:spcBef>
                <a:spcPts val="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 algn="ctr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 algn="ctr">
              <a:spcBef>
                <a:spcPts val="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 algn="ctr">
              <a:spcBef>
                <a:spcPts val="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 algn="ctr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 algn="ctr">
              <a:spcBef>
                <a:spcPts val="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 algn="ctr">
              <a:spcBef>
                <a:spcPts val="0"/>
              </a:spcBef>
              <a:spcAft>
                <a:spcPts val="0"/>
              </a:spcAft>
              <a:buSzPts val="37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22593221" y="12435245"/>
            <a:ext cx="1463200" cy="10496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22593221" y="12435245"/>
            <a:ext cx="1463200" cy="10496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1200" y="1186733"/>
            <a:ext cx="22721600" cy="15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43800" lIns="243800" spcFirstLastPara="1" rIns="243800" wrap="square" tIns="243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7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7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7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7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7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7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7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7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7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1200" y="3073267"/>
            <a:ext cx="22721600" cy="91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43800" lIns="243800" spcFirstLastPara="1" rIns="243800" wrap="square" tIns="243800">
            <a:normAutofit/>
          </a:bodyPr>
          <a:lstStyle>
            <a:lvl1pPr indent="-533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Char char="●"/>
              <a:defRPr sz="4800">
                <a:solidFill>
                  <a:schemeClr val="dk2"/>
                </a:solidFill>
              </a:defRPr>
            </a:lvl1pPr>
            <a:lvl2pPr indent="-463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Char char="○"/>
              <a:defRPr sz="3700">
                <a:solidFill>
                  <a:schemeClr val="dk2"/>
                </a:solidFill>
              </a:defRPr>
            </a:lvl2pPr>
            <a:lvl3pPr indent="-463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Char char="■"/>
              <a:defRPr sz="3700">
                <a:solidFill>
                  <a:schemeClr val="dk2"/>
                </a:solidFill>
              </a:defRPr>
            </a:lvl3pPr>
            <a:lvl4pPr indent="-463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Char char="●"/>
              <a:defRPr sz="3700">
                <a:solidFill>
                  <a:schemeClr val="dk2"/>
                </a:solidFill>
              </a:defRPr>
            </a:lvl4pPr>
            <a:lvl5pPr indent="-463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Char char="○"/>
              <a:defRPr sz="3700">
                <a:solidFill>
                  <a:schemeClr val="dk2"/>
                </a:solidFill>
              </a:defRPr>
            </a:lvl5pPr>
            <a:lvl6pPr indent="-463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Char char="■"/>
              <a:defRPr sz="3700">
                <a:solidFill>
                  <a:schemeClr val="dk2"/>
                </a:solidFill>
              </a:defRPr>
            </a:lvl6pPr>
            <a:lvl7pPr indent="-463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Char char="●"/>
              <a:defRPr sz="3700">
                <a:solidFill>
                  <a:schemeClr val="dk2"/>
                </a:solidFill>
              </a:defRPr>
            </a:lvl7pPr>
            <a:lvl8pPr indent="-463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Char char="○"/>
              <a:defRPr sz="3700">
                <a:solidFill>
                  <a:schemeClr val="dk2"/>
                </a:solidFill>
              </a:defRPr>
            </a:lvl8pPr>
            <a:lvl9pPr indent="-463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Char char="■"/>
              <a:defRPr sz="37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22593221" y="12435245"/>
            <a:ext cx="1463200" cy="104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 algn="r">
              <a:buNone/>
              <a:defRPr sz="2700">
                <a:solidFill>
                  <a:schemeClr val="dk2"/>
                </a:solidFill>
              </a:defRPr>
            </a:lvl1pPr>
            <a:lvl2pPr lvl="1" algn="r">
              <a:buNone/>
              <a:defRPr sz="2700">
                <a:solidFill>
                  <a:schemeClr val="dk2"/>
                </a:solidFill>
              </a:defRPr>
            </a:lvl2pPr>
            <a:lvl3pPr lvl="2" algn="r">
              <a:buNone/>
              <a:defRPr sz="2700">
                <a:solidFill>
                  <a:schemeClr val="dk2"/>
                </a:solidFill>
              </a:defRPr>
            </a:lvl3pPr>
            <a:lvl4pPr lvl="3" algn="r">
              <a:buNone/>
              <a:defRPr sz="2700">
                <a:solidFill>
                  <a:schemeClr val="dk2"/>
                </a:solidFill>
              </a:defRPr>
            </a:lvl4pPr>
            <a:lvl5pPr lvl="4" algn="r">
              <a:buNone/>
              <a:defRPr sz="2700">
                <a:solidFill>
                  <a:schemeClr val="dk2"/>
                </a:solidFill>
              </a:defRPr>
            </a:lvl5pPr>
            <a:lvl6pPr lvl="5" algn="r">
              <a:buNone/>
              <a:defRPr sz="2700">
                <a:solidFill>
                  <a:schemeClr val="dk2"/>
                </a:solidFill>
              </a:defRPr>
            </a:lvl6pPr>
            <a:lvl7pPr lvl="6" algn="r">
              <a:buNone/>
              <a:defRPr sz="2700">
                <a:solidFill>
                  <a:schemeClr val="dk2"/>
                </a:solidFill>
              </a:defRPr>
            </a:lvl7pPr>
            <a:lvl8pPr lvl="7" algn="r">
              <a:buNone/>
              <a:defRPr sz="2700">
                <a:solidFill>
                  <a:schemeClr val="dk2"/>
                </a:solidFill>
              </a:defRPr>
            </a:lvl8pPr>
            <a:lvl9pPr lvl="8" algn="r">
              <a:buNone/>
              <a:defRPr sz="27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2.png"/><Relationship Id="rId5" Type="http://schemas.openxmlformats.org/officeDocument/2006/relationships/image" Target="../media/image27.png"/><Relationship Id="rId6" Type="http://schemas.openxmlformats.org/officeDocument/2006/relationships/image" Target="../media/image3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4">
            <a:alphaModFix/>
          </a:blip>
          <a:srcRect b="10754" l="0" r="0" t="10754"/>
          <a:stretch/>
        </p:blipFill>
        <p:spPr>
          <a:xfrm>
            <a:off x="0" y="0"/>
            <a:ext cx="24387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/>
          <p:nvPr/>
        </p:nvSpPr>
        <p:spPr>
          <a:xfrm>
            <a:off x="0" y="0"/>
            <a:ext cx="24387000" cy="201300"/>
          </a:xfrm>
          <a:prstGeom prst="rect">
            <a:avLst/>
          </a:prstGeom>
          <a:solidFill>
            <a:srgbClr val="7BC14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" name="Google Shape;57;p14"/>
          <p:cNvPicPr preferRelativeResize="0"/>
          <p:nvPr/>
        </p:nvPicPr>
        <p:blipFill rotWithShape="1">
          <a:blip r:embed="rId5">
            <a:alphaModFix/>
          </a:blip>
          <a:srcRect b="40" l="0" r="0" t="40"/>
          <a:stretch/>
        </p:blipFill>
        <p:spPr>
          <a:xfrm>
            <a:off x="1371600" y="1097280"/>
            <a:ext cx="2651700" cy="298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9772" y="1901942"/>
            <a:ext cx="41148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4"/>
          <p:cNvSpPr txBox="1"/>
          <p:nvPr/>
        </p:nvSpPr>
        <p:spPr>
          <a:xfrm>
            <a:off x="1554480" y="4667250"/>
            <a:ext cx="20574000" cy="3143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0" u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SQL for Beginners</a:t>
            </a:r>
            <a:endParaRPr b="1" i="0" sz="11000" u="none" strike="noStrike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i="0" lang="en" sz="6600" u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— A Slow Walk Through the Basics</a:t>
            </a:r>
            <a:endParaRPr b="1" i="0" sz="6600" u="none" strike="noStrike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1554480" y="8048625"/>
            <a:ext cx="20574000" cy="1524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600" u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 foundational guide for new OMOP/OHDSI team members.</a:t>
            </a:r>
            <a:endParaRPr b="0" i="0" sz="5600" u="none" strike="noStrike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 rotWithShape="1">
          <a:blip r:embed="rId3">
            <a:alphaModFix/>
          </a:blip>
          <a:srcRect b="0" l="20" r="2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/>
          <p:nvPr/>
        </p:nvSpPr>
        <p:spPr>
          <a:xfrm>
            <a:off x="0" y="0"/>
            <a:ext cx="24387000" cy="155400"/>
          </a:xfrm>
          <a:prstGeom prst="rect">
            <a:avLst/>
          </a:prstGeom>
          <a:solidFill>
            <a:srgbClr val="7BC14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854160" y="384048"/>
            <a:ext cx="1417200" cy="141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/>
        </p:nvSpPr>
        <p:spPr>
          <a:xfrm>
            <a:off x="1554480" y="868680"/>
            <a:ext cx="19751100" cy="23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4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What is SQL and Database Basics</a:t>
            </a:r>
            <a:endParaRPr b="1" sz="840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" name="Google Shape;69;p15"/>
          <p:cNvGrpSpPr/>
          <p:nvPr/>
        </p:nvGrpSpPr>
        <p:grpSpPr>
          <a:xfrm>
            <a:off x="1554480" y="3429000"/>
            <a:ext cx="21278100" cy="2095500"/>
            <a:chOff x="0" y="0"/>
            <a:chExt cx="21278100" cy="2095500"/>
          </a:xfrm>
        </p:grpSpPr>
        <p:sp>
          <p:nvSpPr>
            <p:cNvPr id="70" name="Google Shape;70;p15"/>
            <p:cNvSpPr/>
            <p:nvPr/>
          </p:nvSpPr>
          <p:spPr>
            <a:xfrm>
              <a:off x="0" y="0"/>
              <a:ext cx="21278100" cy="2095500"/>
            </a:xfrm>
            <a:prstGeom prst="rect">
              <a:avLst/>
            </a:prstGeom>
            <a:solidFill>
              <a:srgbClr val="7BC14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5"/>
            <p:cNvSpPr txBox="1"/>
            <p:nvPr/>
          </p:nvSpPr>
          <p:spPr>
            <a:xfrm>
              <a:off x="476250" y="0"/>
              <a:ext cx="203256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SQL (Structured Query Language) is the primary language used to communicate directly with a database.</a:t>
              </a:r>
              <a:endParaRPr b="1" sz="5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" name="Google Shape;72;p15"/>
          <p:cNvGrpSpPr/>
          <p:nvPr/>
        </p:nvGrpSpPr>
        <p:grpSpPr>
          <a:xfrm>
            <a:off x="1554480" y="5905500"/>
            <a:ext cx="10001400" cy="6334125"/>
            <a:chOff x="0" y="0"/>
            <a:chExt cx="10001400" cy="6334125"/>
          </a:xfrm>
        </p:grpSpPr>
        <p:sp>
          <p:nvSpPr>
            <p:cNvPr id="73" name="Google Shape;73;p15"/>
            <p:cNvSpPr txBox="1"/>
            <p:nvPr/>
          </p:nvSpPr>
          <p:spPr>
            <a:xfrm>
              <a:off x="0" y="0"/>
              <a:ext cx="100014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885">
                  <a:solidFill>
                    <a:srgbClr val="7BC148"/>
                  </a:solidFill>
                  <a:latin typeface="Arial"/>
                  <a:ea typeface="Arial"/>
                  <a:cs typeface="Arial"/>
                  <a:sym typeface="Arial"/>
                </a:rPr>
                <a:t>Database &amp; Query Fundamentals</a:t>
              </a:r>
              <a:endParaRPr b="1" sz="3885">
                <a:solidFill>
                  <a:srgbClr val="7BC14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5"/>
            <p:cNvSpPr/>
            <p:nvPr/>
          </p:nvSpPr>
          <p:spPr>
            <a:xfrm>
              <a:off x="0" y="809625"/>
              <a:ext cx="10001400" cy="5524500"/>
            </a:xfrm>
            <a:prstGeom prst="rect">
              <a:avLst/>
            </a:prstGeom>
            <a:solidFill>
              <a:srgbClr val="F4F9E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5"/>
            <p:cNvSpPr txBox="1"/>
            <p:nvPr/>
          </p:nvSpPr>
          <p:spPr>
            <a:xfrm>
              <a:off x="381000" y="1095375"/>
              <a:ext cx="9239400" cy="495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4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A </a:t>
              </a:r>
              <a:r>
                <a:rPr b="1" lang="en" sz="34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database</a:t>
              </a:r>
              <a:r>
                <a:rPr b="0" lang="en" sz="34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 is an organized collection of data stored systematically in tables, operating very much like a digital spreadsheet.</a:t>
              </a:r>
              <a:endParaRPr b="0" sz="34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0" lang="en" sz="34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By writing </a:t>
              </a:r>
              <a:r>
                <a:rPr b="1" lang="en" sz="34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SQL queries</a:t>
              </a:r>
              <a:r>
                <a:rPr b="0" lang="en" sz="34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, users ask the database specific questions to retrieve exact data, such as:</a:t>
              </a:r>
              <a:endParaRPr b="0" sz="34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444500" lvl="0" marL="457200" rtl="0" algn="l">
                <a:spcBef>
                  <a:spcPts val="1800"/>
                </a:spcBef>
                <a:spcAft>
                  <a:spcPts val="0"/>
                </a:spcAft>
                <a:buClr>
                  <a:srgbClr val="1A1A1A"/>
                </a:buClr>
                <a:buSzPts val="3400"/>
                <a:buFont typeface="Arial"/>
                <a:buChar char="●"/>
              </a:pPr>
              <a:r>
                <a:rPr b="0" lang="en" sz="34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"Show me all the patients born after 1990"</a:t>
              </a:r>
              <a:endParaRPr b="0" sz="34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444500" lvl="0" marL="457200" rtl="0" algn="l">
                <a:spcBef>
                  <a:spcPts val="1200"/>
                </a:spcBef>
                <a:spcAft>
                  <a:spcPts val="1200"/>
                </a:spcAft>
                <a:buClr>
                  <a:srgbClr val="1A1A1A"/>
                </a:buClr>
                <a:buSzPts val="3400"/>
                <a:buFont typeface="Arial"/>
                <a:buChar char="●"/>
              </a:pPr>
              <a:r>
                <a:rPr b="0" lang="en" sz="34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"How many people have diabetes?"</a:t>
              </a:r>
              <a:endParaRPr b="0" sz="34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76;p15"/>
          <p:cNvGrpSpPr/>
          <p:nvPr/>
        </p:nvGrpSpPr>
        <p:grpSpPr>
          <a:xfrm>
            <a:off x="12831318" y="5905500"/>
            <a:ext cx="10001400" cy="6334125"/>
            <a:chOff x="0" y="0"/>
            <a:chExt cx="10001400" cy="6334125"/>
          </a:xfrm>
        </p:grpSpPr>
        <p:sp>
          <p:nvSpPr>
            <p:cNvPr id="77" name="Google Shape;77;p15"/>
            <p:cNvSpPr txBox="1"/>
            <p:nvPr/>
          </p:nvSpPr>
          <p:spPr>
            <a:xfrm>
              <a:off x="0" y="0"/>
              <a:ext cx="100014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885">
                  <a:solidFill>
                    <a:srgbClr val="7BC148"/>
                  </a:solidFill>
                  <a:latin typeface="Arial"/>
                  <a:ea typeface="Arial"/>
                  <a:cs typeface="Arial"/>
                  <a:sym typeface="Arial"/>
                </a:rPr>
                <a:t>Usage &amp; Healthcare Context</a:t>
              </a:r>
              <a:endParaRPr b="1" sz="3885">
                <a:solidFill>
                  <a:srgbClr val="7BC14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0" y="809625"/>
              <a:ext cx="10001400" cy="5524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0" y="809625"/>
              <a:ext cx="10001400" cy="5524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5"/>
            <p:cNvSpPr txBox="1"/>
            <p:nvPr/>
          </p:nvSpPr>
          <p:spPr>
            <a:xfrm>
              <a:off x="381000" y="1190625"/>
              <a:ext cx="9239400" cy="476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4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Pronunciation:</a:t>
              </a:r>
              <a:br>
                <a:rPr b="0" lang="en" sz="34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lang="en" sz="34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When discussing the language, it is commonly pronounced as either </a:t>
              </a:r>
              <a:r>
                <a:rPr b="1" lang="en" sz="34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"sequel"</a:t>
              </a:r>
              <a:r>
                <a:rPr b="0" lang="en" sz="34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 or by spelling out the letters </a:t>
              </a:r>
              <a:r>
                <a:rPr b="1" lang="en" sz="34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"S-Q-L"</a:t>
              </a:r>
              <a:r>
                <a:rPr b="0" lang="en" sz="34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sz="34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250"/>
                </a:spcBef>
                <a:spcAft>
                  <a:spcPts val="1500"/>
                </a:spcAft>
                <a:buNone/>
              </a:pPr>
              <a:r>
                <a:rPr b="1" lang="en" sz="34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Healthcare Application:</a:t>
              </a:r>
              <a:br>
                <a:rPr b="0" lang="en" sz="34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lang="en" sz="34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Mastering SQL is the essential first step for navigating, querying, and analyzing healthcare data effectively within our environment.</a:t>
              </a:r>
              <a:endParaRPr b="0" sz="34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81" name="Google Shape;81;p15"/>
          <p:cNvCxnSpPr/>
          <p:nvPr/>
        </p:nvCxnSpPr>
        <p:spPr>
          <a:xfrm>
            <a:off x="1554480" y="12600432"/>
            <a:ext cx="19723500" cy="0"/>
          </a:xfrm>
          <a:prstGeom prst="straightConnector1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15"/>
          <p:cNvSpPr txBox="1"/>
          <p:nvPr/>
        </p:nvSpPr>
        <p:spPr>
          <a:xfrm>
            <a:off x="1554480" y="12755880"/>
            <a:ext cx="12801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Transforming lives in Africa through research</a:t>
            </a:r>
            <a:endParaRPr b="0" sz="2600">
              <a:solidFill>
                <a:srgbClr val="6B6B6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/>
          <p:nvPr/>
        </p:nvSpPr>
        <p:spPr>
          <a:xfrm>
            <a:off x="0" y="0"/>
            <a:ext cx="24387000" cy="155400"/>
          </a:xfrm>
          <a:prstGeom prst="rect">
            <a:avLst/>
          </a:prstGeom>
          <a:solidFill>
            <a:srgbClr val="7BC14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854160" y="384048"/>
            <a:ext cx="1417200" cy="141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/>
          <p:nvPr/>
        </p:nvSpPr>
        <p:spPr>
          <a:xfrm>
            <a:off x="1554480" y="868680"/>
            <a:ext cx="197511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4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Understanding Tables: Structure of the OMOP Person Table</a:t>
            </a:r>
            <a:endParaRPr b="1" sz="840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1554480" y="3931920"/>
            <a:ext cx="10396800" cy="8096400"/>
          </a:xfrm>
          <a:prstGeom prst="rect">
            <a:avLst/>
          </a:prstGeom>
          <a:solidFill>
            <a:srgbClr val="F4F9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 txBox="1"/>
          <p:nvPr/>
        </p:nvSpPr>
        <p:spPr>
          <a:xfrm>
            <a:off x="2103120" y="4297680"/>
            <a:ext cx="9327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00">
                <a:solidFill>
                  <a:srgbClr val="7BC148"/>
                </a:solidFill>
                <a:latin typeface="Arial"/>
                <a:ea typeface="Arial"/>
                <a:cs typeface="Arial"/>
                <a:sym typeface="Arial"/>
              </a:rPr>
              <a:t>Relational Structure</a:t>
            </a:r>
            <a:endParaRPr b="1" sz="4600">
              <a:solidFill>
                <a:srgbClr val="7BC1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2103120" y="5303520"/>
            <a:ext cx="9327000" cy="63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885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Data within a relational database is strictly organized into </a:t>
            </a:r>
            <a:r>
              <a:rPr b="1" lang="en" sz="3885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rows and columns</a:t>
            </a:r>
            <a:r>
              <a:rPr b="0" lang="en" sz="3885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. In the OMOP Common Data Model, the person table provides an excellent foundational example of this structure.</a:t>
            </a:r>
            <a:endParaRPr b="0" sz="3885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en" sz="3885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Each </a:t>
            </a:r>
            <a:r>
              <a:rPr b="1" lang="en" sz="3885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row</a:t>
            </a:r>
            <a:r>
              <a:rPr b="0" lang="en" sz="3885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in the table represents one single record, which in this case corresponds to one unique person.</a:t>
            </a:r>
            <a:endParaRPr b="0" sz="3885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00"/>
              </a:spcBef>
              <a:spcAft>
                <a:spcPts val="1800"/>
              </a:spcAft>
              <a:buNone/>
            </a:pPr>
            <a:r>
              <a:rPr b="0" lang="en" sz="3885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Each </a:t>
            </a:r>
            <a:r>
              <a:rPr b="1" lang="en" sz="3885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column</a:t>
            </a:r>
            <a:r>
              <a:rPr b="0" lang="en" sz="3885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represents a specific field, or piece of information, about that person.</a:t>
            </a:r>
            <a:endParaRPr b="0" sz="3885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12721590" y="3931920"/>
            <a:ext cx="101109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55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Simplified View: OMOP Person Table</a:t>
            </a:r>
            <a:endParaRPr b="1" sz="4255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" name="Google Shape;94;p16"/>
          <p:cNvGrpSpPr/>
          <p:nvPr/>
        </p:nvGrpSpPr>
        <p:grpSpPr>
          <a:xfrm>
            <a:off x="12721590" y="4810125"/>
            <a:ext cx="10110975" cy="3429150"/>
            <a:chOff x="0" y="0"/>
            <a:chExt cx="10110975" cy="3429150"/>
          </a:xfrm>
        </p:grpSpPr>
        <p:sp>
          <p:nvSpPr>
            <p:cNvPr id="95" name="Google Shape;95;p16"/>
            <p:cNvSpPr/>
            <p:nvPr/>
          </p:nvSpPr>
          <p:spPr>
            <a:xfrm>
              <a:off x="0" y="0"/>
              <a:ext cx="10110900" cy="762000"/>
            </a:xfrm>
            <a:prstGeom prst="rect">
              <a:avLst/>
            </a:prstGeom>
            <a:solidFill>
              <a:srgbClr val="44546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6"/>
            <p:cNvSpPr txBox="1"/>
            <p:nvPr/>
          </p:nvSpPr>
          <p:spPr>
            <a:xfrm>
              <a:off x="0" y="0"/>
              <a:ext cx="2476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person_id</a:t>
              </a:r>
              <a:endParaRPr b="1"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6"/>
            <p:cNvSpPr txBox="1"/>
            <p:nvPr/>
          </p:nvSpPr>
          <p:spPr>
            <a:xfrm>
              <a:off x="2476500" y="0"/>
              <a:ext cx="30003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38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gender_concept_id</a:t>
              </a:r>
              <a:endParaRPr b="1" sz="23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16"/>
            <p:cNvSpPr txBox="1"/>
            <p:nvPr/>
          </p:nvSpPr>
          <p:spPr>
            <a:xfrm>
              <a:off x="5476875" y="0"/>
              <a:ext cx="2286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63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year_of_birth</a:t>
              </a:r>
              <a:endParaRPr b="1" sz="263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6"/>
            <p:cNvSpPr txBox="1"/>
            <p:nvPr/>
          </p:nvSpPr>
          <p:spPr>
            <a:xfrm>
              <a:off x="7762875" y="0"/>
              <a:ext cx="23481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12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race_concept_id</a:t>
              </a:r>
              <a:endParaRPr b="1" sz="21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6"/>
            <p:cNvSpPr/>
            <p:nvPr/>
          </p:nvSpPr>
          <p:spPr>
            <a:xfrm>
              <a:off x="0" y="762000"/>
              <a:ext cx="10110900" cy="6669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4E4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6"/>
            <p:cNvSpPr txBox="1"/>
            <p:nvPr/>
          </p:nvSpPr>
          <p:spPr>
            <a:xfrm>
              <a:off x="0" y="762000"/>
              <a:ext cx="2476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7BC148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sz="3600">
                <a:solidFill>
                  <a:srgbClr val="7BC14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6"/>
            <p:cNvSpPr txBox="1"/>
            <p:nvPr/>
          </p:nvSpPr>
          <p:spPr>
            <a:xfrm>
              <a:off x="2476500" y="762000"/>
              <a:ext cx="30003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6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8507</a:t>
              </a:r>
              <a:endParaRPr b="0" sz="36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6"/>
            <p:cNvSpPr txBox="1"/>
            <p:nvPr/>
          </p:nvSpPr>
          <p:spPr>
            <a:xfrm>
              <a:off x="5476875" y="762000"/>
              <a:ext cx="2286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6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1985</a:t>
              </a:r>
              <a:endParaRPr b="0" sz="36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6"/>
            <p:cNvSpPr txBox="1"/>
            <p:nvPr/>
          </p:nvSpPr>
          <p:spPr>
            <a:xfrm>
              <a:off x="7762875" y="762000"/>
              <a:ext cx="23481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6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8516</a:t>
              </a:r>
              <a:endParaRPr b="0" sz="36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6"/>
            <p:cNvSpPr/>
            <p:nvPr/>
          </p:nvSpPr>
          <p:spPr>
            <a:xfrm>
              <a:off x="0" y="1428750"/>
              <a:ext cx="10110900" cy="666900"/>
            </a:xfrm>
            <a:prstGeom prst="rect">
              <a:avLst/>
            </a:prstGeom>
            <a:solidFill>
              <a:srgbClr val="F8F9FA"/>
            </a:solidFill>
            <a:ln cap="flat" cmpd="sng" w="9525">
              <a:solidFill>
                <a:srgbClr val="E4E4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6"/>
            <p:cNvSpPr txBox="1"/>
            <p:nvPr/>
          </p:nvSpPr>
          <p:spPr>
            <a:xfrm>
              <a:off x="0" y="1428750"/>
              <a:ext cx="2476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7BC148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sz="3600">
                <a:solidFill>
                  <a:srgbClr val="7BC14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16"/>
            <p:cNvSpPr txBox="1"/>
            <p:nvPr/>
          </p:nvSpPr>
          <p:spPr>
            <a:xfrm>
              <a:off x="2476500" y="1428750"/>
              <a:ext cx="30003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6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8532</a:t>
              </a:r>
              <a:endParaRPr b="0" sz="36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16"/>
            <p:cNvSpPr txBox="1"/>
            <p:nvPr/>
          </p:nvSpPr>
          <p:spPr>
            <a:xfrm>
              <a:off x="5476875" y="1428750"/>
              <a:ext cx="2286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6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1992</a:t>
              </a:r>
              <a:endParaRPr b="0" sz="36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6"/>
            <p:cNvSpPr txBox="1"/>
            <p:nvPr/>
          </p:nvSpPr>
          <p:spPr>
            <a:xfrm>
              <a:off x="7762875" y="1428750"/>
              <a:ext cx="23481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6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8527</a:t>
              </a:r>
              <a:endParaRPr b="0" sz="36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6"/>
            <p:cNvSpPr/>
            <p:nvPr/>
          </p:nvSpPr>
          <p:spPr>
            <a:xfrm>
              <a:off x="0" y="2095500"/>
              <a:ext cx="10110900" cy="6669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4E4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6"/>
            <p:cNvSpPr txBox="1"/>
            <p:nvPr/>
          </p:nvSpPr>
          <p:spPr>
            <a:xfrm>
              <a:off x="0" y="2095500"/>
              <a:ext cx="2476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7BC148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sz="3600">
                <a:solidFill>
                  <a:srgbClr val="7BC14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6"/>
            <p:cNvSpPr txBox="1"/>
            <p:nvPr/>
          </p:nvSpPr>
          <p:spPr>
            <a:xfrm>
              <a:off x="2476500" y="2095500"/>
              <a:ext cx="30003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6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8532</a:t>
              </a:r>
              <a:endParaRPr b="0" sz="36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6"/>
            <p:cNvSpPr txBox="1"/>
            <p:nvPr/>
          </p:nvSpPr>
          <p:spPr>
            <a:xfrm>
              <a:off x="5476875" y="2095500"/>
              <a:ext cx="2286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6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1978</a:t>
              </a:r>
              <a:endParaRPr b="0" sz="36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6"/>
            <p:cNvSpPr txBox="1"/>
            <p:nvPr/>
          </p:nvSpPr>
          <p:spPr>
            <a:xfrm>
              <a:off x="7762875" y="2095500"/>
              <a:ext cx="23481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6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8516</a:t>
              </a:r>
              <a:endParaRPr b="0" sz="36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6"/>
            <p:cNvSpPr/>
            <p:nvPr/>
          </p:nvSpPr>
          <p:spPr>
            <a:xfrm>
              <a:off x="0" y="2762250"/>
              <a:ext cx="10110900" cy="666900"/>
            </a:xfrm>
            <a:prstGeom prst="rect">
              <a:avLst/>
            </a:prstGeom>
            <a:solidFill>
              <a:srgbClr val="F8F9FA"/>
            </a:solidFill>
            <a:ln cap="flat" cmpd="sng" w="9525">
              <a:solidFill>
                <a:srgbClr val="E4E4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6"/>
            <p:cNvSpPr txBox="1"/>
            <p:nvPr/>
          </p:nvSpPr>
          <p:spPr>
            <a:xfrm>
              <a:off x="0" y="2762250"/>
              <a:ext cx="2476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7BC148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sz="3600">
                <a:solidFill>
                  <a:srgbClr val="7BC14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16"/>
            <p:cNvSpPr txBox="1"/>
            <p:nvPr/>
          </p:nvSpPr>
          <p:spPr>
            <a:xfrm>
              <a:off x="2476500" y="2762250"/>
              <a:ext cx="30003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6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8507</a:t>
              </a:r>
              <a:endParaRPr b="0" sz="36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6"/>
            <p:cNvSpPr txBox="1"/>
            <p:nvPr/>
          </p:nvSpPr>
          <p:spPr>
            <a:xfrm>
              <a:off x="5476875" y="2762250"/>
              <a:ext cx="2286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6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1985</a:t>
              </a:r>
              <a:endParaRPr b="0" sz="36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16"/>
            <p:cNvSpPr txBox="1"/>
            <p:nvPr/>
          </p:nvSpPr>
          <p:spPr>
            <a:xfrm>
              <a:off x="7762875" y="2762250"/>
              <a:ext cx="23481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6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8527</a:t>
              </a:r>
              <a:endParaRPr b="0" sz="36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0" name="Google Shape;120;p16"/>
          <p:cNvGrpSpPr/>
          <p:nvPr/>
        </p:nvGrpSpPr>
        <p:grpSpPr>
          <a:xfrm>
            <a:off x="12721590" y="8715375"/>
            <a:ext cx="10110900" cy="3312900"/>
            <a:chOff x="0" y="0"/>
            <a:chExt cx="10110900" cy="3312900"/>
          </a:xfrm>
        </p:grpSpPr>
        <p:sp>
          <p:nvSpPr>
            <p:cNvPr id="121" name="Google Shape;121;p16"/>
            <p:cNvSpPr/>
            <p:nvPr/>
          </p:nvSpPr>
          <p:spPr>
            <a:xfrm>
              <a:off x="0" y="0"/>
              <a:ext cx="10110900" cy="3312900"/>
            </a:xfrm>
            <a:prstGeom prst="roundRect">
              <a:avLst>
                <a:gd fmla="val 0" name="adj"/>
              </a:avLst>
            </a:prstGeom>
            <a:solidFill>
              <a:srgbClr val="7BC14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6"/>
            <p:cNvSpPr txBox="1"/>
            <p:nvPr/>
          </p:nvSpPr>
          <p:spPr>
            <a:xfrm>
              <a:off x="476250" y="381000"/>
              <a:ext cx="9158400" cy="25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425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Primary Identifier</a:t>
              </a:r>
              <a:endParaRPr b="1" sz="425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351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 this structure, the </a:t>
              </a:r>
              <a:r>
                <a:rPr b="0" lang="en" sz="3515" u="sng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person_id</a:t>
              </a:r>
              <a:r>
                <a:rPr b="0" lang="en" sz="351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column is critical because it uniquely identifies each individual person in the database.</a:t>
              </a:r>
              <a:endParaRPr b="0" sz="351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23" name="Google Shape;123;p16"/>
          <p:cNvCxnSpPr/>
          <p:nvPr/>
        </p:nvCxnSpPr>
        <p:spPr>
          <a:xfrm>
            <a:off x="1554480" y="12600432"/>
            <a:ext cx="21278100" cy="0"/>
          </a:xfrm>
          <a:prstGeom prst="straightConnector1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" name="Google Shape;124;p16"/>
          <p:cNvSpPr txBox="1"/>
          <p:nvPr/>
        </p:nvSpPr>
        <p:spPr>
          <a:xfrm>
            <a:off x="1554480" y="12755880"/>
            <a:ext cx="12801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Transforming lives in Africa through research</a:t>
            </a:r>
            <a:endParaRPr b="0" sz="2600">
              <a:solidFill>
                <a:srgbClr val="6B6B6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854160" y="384048"/>
            <a:ext cx="1417200" cy="141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/>
          <p:cNvPicPr preferRelativeResize="0"/>
          <p:nvPr/>
        </p:nvPicPr>
        <p:blipFill rotWithShape="1">
          <a:blip r:embed="rId4">
            <a:alphaModFix/>
          </a:blip>
          <a:srcRect b="0" l="20" r="2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/>
          <p:nvPr/>
        </p:nvSpPr>
        <p:spPr>
          <a:xfrm>
            <a:off x="0" y="0"/>
            <a:ext cx="24387000" cy="155400"/>
          </a:xfrm>
          <a:prstGeom prst="rect">
            <a:avLst/>
          </a:prstGeom>
          <a:solidFill>
            <a:srgbClr val="7BC14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1554480" y="868680"/>
            <a:ext cx="197511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4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SELECT: Retrieving Data from Tables</a:t>
            </a:r>
            <a:endParaRPr b="1" sz="840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1554480" y="2286000"/>
            <a:ext cx="19751100" cy="18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9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The SELECT statement is the most basic and essential SQL command. Its primary meaning is simply "show me this data".</a:t>
            </a:r>
            <a:endParaRPr b="0" sz="279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" sz="279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Every foundational query requires a SELECT clause to define which columns to retrieve, combined with a FROM clause to specify which table contains that data.</a:t>
            </a:r>
            <a:endParaRPr b="1" sz="279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4" name="Google Shape;134;p17"/>
          <p:cNvGrpSpPr/>
          <p:nvPr/>
        </p:nvGrpSpPr>
        <p:grpSpPr>
          <a:xfrm>
            <a:off x="1554480" y="4286250"/>
            <a:ext cx="10396800" cy="7905900"/>
            <a:chOff x="0" y="0"/>
            <a:chExt cx="10396800" cy="7905900"/>
          </a:xfrm>
        </p:grpSpPr>
        <p:sp>
          <p:nvSpPr>
            <p:cNvPr id="135" name="Google Shape;135;p17"/>
            <p:cNvSpPr/>
            <p:nvPr/>
          </p:nvSpPr>
          <p:spPr>
            <a:xfrm>
              <a:off x="0" y="0"/>
              <a:ext cx="10396800" cy="7905900"/>
            </a:xfrm>
            <a:prstGeom prst="roundRect">
              <a:avLst>
                <a:gd fmla="val 1927" name="adj"/>
              </a:avLst>
            </a:prstGeom>
            <a:solidFill>
              <a:srgbClr val="F4F9E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7"/>
            <p:cNvSpPr/>
            <p:nvPr/>
          </p:nvSpPr>
          <p:spPr>
            <a:xfrm>
              <a:off x="0" y="0"/>
              <a:ext cx="10396800" cy="857400"/>
            </a:xfrm>
            <a:prstGeom prst="roundRect">
              <a:avLst>
                <a:gd fmla="val 17777" name="adj"/>
              </a:avLst>
            </a:prstGeom>
            <a:solidFill>
              <a:srgbClr val="7BC14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7"/>
            <p:cNvSpPr/>
            <p:nvPr/>
          </p:nvSpPr>
          <p:spPr>
            <a:xfrm>
              <a:off x="0" y="476250"/>
              <a:ext cx="10396800" cy="381000"/>
            </a:xfrm>
            <a:prstGeom prst="rect">
              <a:avLst/>
            </a:prstGeom>
            <a:solidFill>
              <a:srgbClr val="7BC14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7"/>
            <p:cNvSpPr txBox="1"/>
            <p:nvPr/>
          </p:nvSpPr>
          <p:spPr>
            <a:xfrm>
              <a:off x="381000" y="142875"/>
              <a:ext cx="96348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7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Retrieving All Columns &amp; Rows</a:t>
              </a:r>
              <a:endParaRPr b="1" sz="3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17"/>
            <p:cNvSpPr txBox="1"/>
            <p:nvPr/>
          </p:nvSpPr>
          <p:spPr>
            <a:xfrm>
              <a:off x="381000" y="1143000"/>
              <a:ext cx="96348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4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To view every single column and row within a table, you use the asterisk symbol.</a:t>
              </a:r>
              <a:endParaRPr b="0" sz="34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17"/>
            <p:cNvSpPr/>
            <p:nvPr/>
          </p:nvSpPr>
          <p:spPr>
            <a:xfrm>
              <a:off x="381000" y="2762250"/>
              <a:ext cx="9634800" cy="1905000"/>
            </a:xfrm>
            <a:prstGeom prst="roundRect">
              <a:avLst>
                <a:gd fmla="val 6000" name="adj"/>
              </a:avLst>
            </a:prstGeom>
            <a:solidFill>
              <a:srgbClr val="44546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7"/>
            <p:cNvSpPr txBox="1"/>
            <p:nvPr/>
          </p:nvSpPr>
          <p:spPr>
            <a:xfrm>
              <a:off x="666750" y="3000375"/>
              <a:ext cx="90633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800">
                  <a:solidFill>
                    <a:srgbClr val="B9D98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SELECT</a:t>
              </a:r>
              <a:r>
                <a:rPr b="1" lang="en" sz="38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*</a:t>
              </a:r>
              <a:endParaRPr b="1" sz="3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3800">
                  <a:solidFill>
                    <a:srgbClr val="B9D98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FROM</a:t>
              </a:r>
              <a:r>
                <a:rPr b="1" lang="en" sz="38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cdm.person;</a:t>
              </a:r>
              <a:endParaRPr b="1" sz="3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42" name="Google Shape;142;p17"/>
            <p:cNvSpPr txBox="1"/>
            <p:nvPr/>
          </p:nvSpPr>
          <p:spPr>
            <a:xfrm>
              <a:off x="381000" y="4953000"/>
              <a:ext cx="96348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4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rPr>
                <a:t>For example, the query </a:t>
              </a:r>
              <a:r>
                <a:rPr b="1" lang="en" sz="3400">
                  <a:solidFill>
                    <a:srgbClr val="7BC14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SELECT * FROM cdm.person;</a:t>
              </a:r>
              <a:r>
                <a:rPr b="0" lang="en" sz="34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rPr>
                <a:t> instructs the database to show all columns and all rows in the person table.</a:t>
              </a:r>
              <a:endParaRPr b="0" sz="34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3" name="Google Shape;143;p17"/>
          <p:cNvGrpSpPr/>
          <p:nvPr/>
        </p:nvGrpSpPr>
        <p:grpSpPr>
          <a:xfrm>
            <a:off x="12435840" y="4286250"/>
            <a:ext cx="10396800" cy="7905900"/>
            <a:chOff x="0" y="0"/>
            <a:chExt cx="10396800" cy="7905900"/>
          </a:xfrm>
        </p:grpSpPr>
        <p:sp>
          <p:nvSpPr>
            <p:cNvPr id="144" name="Google Shape;144;p17"/>
            <p:cNvSpPr/>
            <p:nvPr/>
          </p:nvSpPr>
          <p:spPr>
            <a:xfrm>
              <a:off x="0" y="0"/>
              <a:ext cx="10396800" cy="7905900"/>
            </a:xfrm>
            <a:prstGeom prst="roundRect">
              <a:avLst>
                <a:gd fmla="val 1927" name="adj"/>
              </a:avLst>
            </a:prstGeom>
            <a:solidFill>
              <a:srgbClr val="F4F9E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7"/>
            <p:cNvSpPr/>
            <p:nvPr/>
          </p:nvSpPr>
          <p:spPr>
            <a:xfrm>
              <a:off x="0" y="0"/>
              <a:ext cx="10396800" cy="857400"/>
            </a:xfrm>
            <a:prstGeom prst="roundRect">
              <a:avLst>
                <a:gd fmla="val 17777" name="adj"/>
              </a:avLst>
            </a:prstGeom>
            <a:solidFill>
              <a:srgbClr val="44546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7"/>
            <p:cNvSpPr/>
            <p:nvPr/>
          </p:nvSpPr>
          <p:spPr>
            <a:xfrm>
              <a:off x="0" y="476250"/>
              <a:ext cx="10396800" cy="381000"/>
            </a:xfrm>
            <a:prstGeom prst="rect">
              <a:avLst/>
            </a:prstGeom>
            <a:solidFill>
              <a:srgbClr val="44546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7"/>
            <p:cNvSpPr txBox="1"/>
            <p:nvPr/>
          </p:nvSpPr>
          <p:spPr>
            <a:xfrm>
              <a:off x="381000" y="142875"/>
              <a:ext cx="96348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7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Retrieving Specific Columns</a:t>
              </a:r>
              <a:endParaRPr b="1" sz="3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17"/>
            <p:cNvSpPr txBox="1"/>
            <p:nvPr/>
          </p:nvSpPr>
          <p:spPr>
            <a:xfrm>
              <a:off x="381000" y="1143000"/>
              <a:ext cx="96348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145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To retrieve only specific pieces of information, you list the exact column names separated by commas.</a:t>
              </a:r>
              <a:endParaRPr b="0" sz="3145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17"/>
            <p:cNvSpPr/>
            <p:nvPr/>
          </p:nvSpPr>
          <p:spPr>
            <a:xfrm>
              <a:off x="381000" y="2762250"/>
              <a:ext cx="9634800" cy="1905000"/>
            </a:xfrm>
            <a:prstGeom prst="roundRect">
              <a:avLst>
                <a:gd fmla="val 6000" name="adj"/>
              </a:avLst>
            </a:prstGeom>
            <a:solidFill>
              <a:srgbClr val="44546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7"/>
            <p:cNvSpPr txBox="1"/>
            <p:nvPr/>
          </p:nvSpPr>
          <p:spPr>
            <a:xfrm>
              <a:off x="666750" y="3000375"/>
              <a:ext cx="90633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400">
                  <a:solidFill>
                    <a:srgbClr val="B9D98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SELECT</a:t>
              </a:r>
              <a:r>
                <a:rPr b="1" lang="en" sz="34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person_id, year_of_birth</a:t>
              </a:r>
              <a:endParaRPr b="1" sz="3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3400">
                  <a:solidFill>
                    <a:srgbClr val="B9D98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FROM</a:t>
              </a:r>
              <a:r>
                <a:rPr b="1" lang="en" sz="34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cdm.person;</a:t>
              </a:r>
              <a:endParaRPr b="1" sz="3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51" name="Google Shape;151;p17"/>
            <p:cNvSpPr txBox="1"/>
            <p:nvPr/>
          </p:nvSpPr>
          <p:spPr>
            <a:xfrm>
              <a:off x="381000" y="4953000"/>
              <a:ext cx="96348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4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rPr>
                <a:t>For example, the query </a:t>
              </a:r>
              <a:r>
                <a:rPr b="1" lang="en" sz="3400">
                  <a:solidFill>
                    <a:srgbClr val="7BC14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SELECT person_id, year_of_birth FROM cdm.person;</a:t>
              </a:r>
              <a:r>
                <a:rPr b="0" lang="en" sz="34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rPr>
                <a:t> will return only those two specific columns, ignoring the rest of the data in the table.</a:t>
              </a:r>
              <a:endParaRPr b="0" sz="34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52" name="Google Shape;152;p17"/>
          <p:cNvCxnSpPr/>
          <p:nvPr/>
        </p:nvCxnSpPr>
        <p:spPr>
          <a:xfrm>
            <a:off x="1554480" y="12600432"/>
            <a:ext cx="21278100" cy="0"/>
          </a:xfrm>
          <a:prstGeom prst="straightConnector1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" name="Google Shape;153;p17"/>
          <p:cNvSpPr txBox="1"/>
          <p:nvPr/>
        </p:nvSpPr>
        <p:spPr>
          <a:xfrm>
            <a:off x="1554480" y="12755880"/>
            <a:ext cx="12801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Transforming lives in Africa through research</a:t>
            </a:r>
            <a:endParaRPr b="0" sz="2600">
              <a:solidFill>
                <a:srgbClr val="6B6B6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854160" y="384048"/>
            <a:ext cx="1417200" cy="141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8"/>
          <p:cNvPicPr preferRelativeResize="0"/>
          <p:nvPr/>
        </p:nvPicPr>
        <p:blipFill rotWithShape="1">
          <a:blip r:embed="rId4">
            <a:alphaModFix/>
          </a:blip>
          <a:srcRect b="0" l="20" r="2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/>
          <p:nvPr/>
        </p:nvSpPr>
        <p:spPr>
          <a:xfrm>
            <a:off x="0" y="0"/>
            <a:ext cx="24387000" cy="155400"/>
          </a:xfrm>
          <a:prstGeom prst="rect">
            <a:avLst/>
          </a:prstGeom>
          <a:solidFill>
            <a:srgbClr val="7BC14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1554480" y="868680"/>
            <a:ext cx="197511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4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Statement 2 - WHERE: Filtering Data with Comparison &amp; Logical Operators</a:t>
            </a:r>
            <a:endParaRPr b="1" sz="840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1554480" y="3931920"/>
            <a:ext cx="10396800" cy="8096400"/>
          </a:xfrm>
          <a:prstGeom prst="rect">
            <a:avLst/>
          </a:prstGeom>
          <a:solidFill>
            <a:srgbClr val="F4F9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2103120" y="4297680"/>
            <a:ext cx="9327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00">
                <a:solidFill>
                  <a:srgbClr val="7BC148"/>
                </a:solidFill>
                <a:latin typeface="Arial"/>
                <a:ea typeface="Arial"/>
                <a:cs typeface="Arial"/>
                <a:sym typeface="Arial"/>
              </a:rPr>
              <a:t>Comparison Operators</a:t>
            </a:r>
            <a:endParaRPr b="1" sz="4600">
              <a:solidFill>
                <a:srgbClr val="7BC1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2103120" y="5303520"/>
            <a:ext cx="9327000" cy="6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2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The WHERE clause filters rows based on specific conditions, returning only necessary data.</a:t>
            </a:r>
            <a:endParaRPr b="0" sz="322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" sz="322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Standard comparison operators:</a:t>
            </a:r>
            <a:endParaRPr b="0" sz="322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3070" lvl="0" marL="457200" rtl="0" algn="l">
              <a:spcBef>
                <a:spcPts val="1500"/>
              </a:spcBef>
              <a:spcAft>
                <a:spcPts val="0"/>
              </a:spcAft>
              <a:buClr>
                <a:srgbClr val="1A1A1A"/>
              </a:buClr>
              <a:buSzPts val="3220"/>
              <a:buFont typeface="Arial"/>
              <a:buChar char="●"/>
            </a:pPr>
            <a:r>
              <a:rPr b="0" lang="en" sz="322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Equals (=)</a:t>
            </a:r>
            <a:endParaRPr b="0" sz="322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3070" lvl="0" marL="457200" rtl="0" algn="l">
              <a:spcBef>
                <a:spcPts val="1500"/>
              </a:spcBef>
              <a:spcAft>
                <a:spcPts val="0"/>
              </a:spcAft>
              <a:buClr>
                <a:srgbClr val="1A1A1A"/>
              </a:buClr>
              <a:buSzPts val="3220"/>
              <a:buFont typeface="Arial"/>
              <a:buChar char="●"/>
            </a:pPr>
            <a:r>
              <a:rPr b="0" lang="en" sz="322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Not equals (!=)</a:t>
            </a:r>
            <a:endParaRPr b="0" sz="322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3070" lvl="0" marL="457200" rtl="0" algn="l">
              <a:spcBef>
                <a:spcPts val="1500"/>
              </a:spcBef>
              <a:spcAft>
                <a:spcPts val="0"/>
              </a:spcAft>
              <a:buClr>
                <a:srgbClr val="1A1A1A"/>
              </a:buClr>
              <a:buSzPts val="3220"/>
              <a:buFont typeface="Arial"/>
              <a:buChar char="●"/>
            </a:pPr>
            <a:r>
              <a:rPr b="0" lang="en" sz="322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Greater than (&gt;)</a:t>
            </a:r>
            <a:endParaRPr b="0" sz="322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3070" lvl="0" marL="457200" rtl="0" algn="l">
              <a:spcBef>
                <a:spcPts val="1500"/>
              </a:spcBef>
              <a:spcAft>
                <a:spcPts val="0"/>
              </a:spcAft>
              <a:buClr>
                <a:srgbClr val="1A1A1A"/>
              </a:buClr>
              <a:buSzPts val="3220"/>
              <a:buFont typeface="Arial"/>
              <a:buChar char="●"/>
            </a:pPr>
            <a:r>
              <a:rPr b="0" lang="en" sz="322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Less than (&lt;)</a:t>
            </a:r>
            <a:endParaRPr b="0" sz="322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3070" lvl="0" marL="457200" rtl="0" algn="l">
              <a:spcBef>
                <a:spcPts val="1500"/>
              </a:spcBef>
              <a:spcAft>
                <a:spcPts val="0"/>
              </a:spcAft>
              <a:buClr>
                <a:srgbClr val="1A1A1A"/>
              </a:buClr>
              <a:buSzPts val="3220"/>
              <a:buFont typeface="Arial"/>
              <a:buChar char="●"/>
            </a:pPr>
            <a:r>
              <a:rPr b="0" lang="en" sz="322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Greater than or equal to (&gt;=)</a:t>
            </a:r>
            <a:endParaRPr b="0" sz="322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3070" lvl="0" marL="457200" rtl="0" algn="l">
              <a:spcBef>
                <a:spcPts val="1500"/>
              </a:spcBef>
              <a:spcAft>
                <a:spcPts val="1500"/>
              </a:spcAft>
              <a:buClr>
                <a:srgbClr val="1A1A1A"/>
              </a:buClr>
              <a:buSzPts val="3220"/>
              <a:buFont typeface="Arial"/>
              <a:buChar char="●"/>
            </a:pPr>
            <a:r>
              <a:rPr b="0" lang="en" sz="322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Less than or equal to (&lt;=)</a:t>
            </a:r>
            <a:endParaRPr b="0" sz="322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12435840" y="3931920"/>
            <a:ext cx="10396800" cy="8096400"/>
          </a:xfrm>
          <a:prstGeom prst="rect">
            <a:avLst/>
          </a:prstGeom>
          <a:solidFill>
            <a:srgbClr val="F4F9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12984480" y="4297680"/>
            <a:ext cx="9327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91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Logical Conditions &amp; Query Example</a:t>
            </a:r>
            <a:endParaRPr b="1" sz="391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12984480" y="5303520"/>
            <a:ext cx="9327000" cy="6492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220" u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Example Query:</a:t>
            </a:r>
            <a:endParaRPr b="1" i="0" sz="3220" u="none" strike="noStrike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i="0" lang="en" sz="2800" u="none" strike="noStrike">
                <a:solidFill>
                  <a:srgbClr val="44546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SELECT person_id, year_of_birth FROM cdm.person WHERE year_of_birth &gt; 1990;</a:t>
            </a:r>
            <a:endParaRPr b="1" i="0" sz="2800" u="none" strike="noStrike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i="0" lang="en" sz="3220" u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Filters results so only patients born after 1990 are included in the output.</a:t>
            </a:r>
            <a:endParaRPr b="1" i="0" sz="3220" u="none" strike="noStrike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i="0" lang="en" sz="3220" u="none" strike="noStrike">
                <a:solidFill>
                  <a:srgbClr val="7BC148"/>
                </a:solidFill>
                <a:latin typeface="Arial"/>
                <a:ea typeface="Arial"/>
                <a:cs typeface="Arial"/>
                <a:sym typeface="Arial"/>
              </a:rPr>
              <a:t>Complex Filtering Logic:</a:t>
            </a:r>
            <a:endParaRPr b="1" i="0" sz="3220" u="none" strike="noStrike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3070" lvl="0" marL="457200" rtl="0" algn="l">
              <a:spcBef>
                <a:spcPts val="1500"/>
              </a:spcBef>
              <a:spcAft>
                <a:spcPts val="0"/>
              </a:spcAft>
              <a:buClr>
                <a:srgbClr val="44546A"/>
              </a:buClr>
              <a:buSzPts val="3220"/>
              <a:buFont typeface="Arial"/>
              <a:buChar char="●"/>
            </a:pPr>
            <a:r>
              <a:rPr b="0" i="0" lang="en" sz="3220" u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Combine multiple conditions using </a:t>
            </a:r>
            <a:r>
              <a:rPr b="1" i="0" lang="en" sz="3220" u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0" i="0" lang="en" sz="3220" u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" sz="3220" u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r>
              <a:rPr b="0" i="0" lang="en" sz="3220" u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operators.</a:t>
            </a:r>
            <a:endParaRPr b="1" i="0" sz="3220" u="none" strike="noStrike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3070" lvl="0" marL="457200" rtl="0" algn="l">
              <a:spcBef>
                <a:spcPts val="1500"/>
              </a:spcBef>
              <a:spcAft>
                <a:spcPts val="1500"/>
              </a:spcAft>
              <a:buClr>
                <a:srgbClr val="44546A"/>
              </a:buClr>
              <a:buSzPts val="3220"/>
              <a:buFont typeface="Arial"/>
              <a:buChar char="●"/>
            </a:pPr>
            <a:r>
              <a:rPr b="0" i="0" lang="en" sz="3220" u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Allows for highly specific data retrieval.</a:t>
            </a:r>
            <a:endParaRPr b="1" i="0" sz="3220" u="none" strike="noStrike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8" name="Google Shape;168;p18"/>
          <p:cNvCxnSpPr/>
          <p:nvPr/>
        </p:nvCxnSpPr>
        <p:spPr>
          <a:xfrm>
            <a:off x="1554480" y="12600432"/>
            <a:ext cx="21278100" cy="0"/>
          </a:xfrm>
          <a:prstGeom prst="straightConnector1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" name="Google Shape;169;p18"/>
          <p:cNvSpPr txBox="1"/>
          <p:nvPr/>
        </p:nvSpPr>
        <p:spPr>
          <a:xfrm>
            <a:off x="1554480" y="12755880"/>
            <a:ext cx="12801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Transforming lives in Africa through research</a:t>
            </a:r>
            <a:endParaRPr b="0" sz="2600">
              <a:solidFill>
                <a:srgbClr val="6B6B6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9"/>
          <p:cNvPicPr preferRelativeResize="0"/>
          <p:nvPr/>
        </p:nvPicPr>
        <p:blipFill rotWithShape="1">
          <a:blip r:embed="rId3">
            <a:alphaModFix/>
          </a:blip>
          <a:srcRect b="0" l="20" r="2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/>
          <p:nvPr/>
        </p:nvSpPr>
        <p:spPr>
          <a:xfrm>
            <a:off x="0" y="0"/>
            <a:ext cx="24387000" cy="155400"/>
          </a:xfrm>
          <a:prstGeom prst="rect">
            <a:avLst/>
          </a:prstGeom>
          <a:solidFill>
            <a:srgbClr val="7BC14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6" name="Google Shape;17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854160" y="384048"/>
            <a:ext cx="1417200" cy="141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1554480" y="868680"/>
            <a:ext cx="197511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4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Handling Missing Data: IS NULL vs IS NOT NULL</a:t>
            </a:r>
            <a:endParaRPr b="1" sz="840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8" name="Google Shape;178;p19"/>
          <p:cNvGrpSpPr/>
          <p:nvPr/>
        </p:nvGrpSpPr>
        <p:grpSpPr>
          <a:xfrm>
            <a:off x="1554480" y="4023360"/>
            <a:ext cx="10396800" cy="4206300"/>
            <a:chOff x="1554480" y="4023360"/>
            <a:chExt cx="10396800" cy="4206300"/>
          </a:xfrm>
        </p:grpSpPr>
        <p:sp>
          <p:nvSpPr>
            <p:cNvPr id="179" name="Google Shape;179;p19"/>
            <p:cNvSpPr/>
            <p:nvPr/>
          </p:nvSpPr>
          <p:spPr>
            <a:xfrm>
              <a:off x="1554480" y="4023360"/>
              <a:ext cx="10396800" cy="4206300"/>
            </a:xfrm>
            <a:prstGeom prst="rect">
              <a:avLst/>
            </a:prstGeom>
            <a:solidFill>
              <a:srgbClr val="44546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9"/>
            <p:cNvSpPr txBox="1"/>
            <p:nvPr/>
          </p:nvSpPr>
          <p:spPr>
            <a:xfrm>
              <a:off x="2103120" y="4389120"/>
              <a:ext cx="9327000" cy="201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Do NOT use = NULL</a:t>
              </a:r>
              <a:endParaRPr b="1" sz="5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19"/>
            <p:cNvSpPr txBox="1"/>
            <p:nvPr/>
          </p:nvSpPr>
          <p:spPr>
            <a:xfrm>
              <a:off x="2103120" y="6286500"/>
              <a:ext cx="9327000" cy="146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600">
                  <a:solidFill>
                    <a:srgbClr val="B9D989"/>
                  </a:solidFill>
                  <a:latin typeface="Arial"/>
                  <a:ea typeface="Arial"/>
                  <a:cs typeface="Arial"/>
                  <a:sym typeface="Arial"/>
                </a:rPr>
                <a:t>WHERE col = NULL</a:t>
              </a:r>
              <a:endParaRPr b="1" sz="5600">
                <a:solidFill>
                  <a:srgbClr val="B9D98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2" name="Google Shape;182;p19"/>
          <p:cNvGrpSpPr/>
          <p:nvPr/>
        </p:nvGrpSpPr>
        <p:grpSpPr>
          <a:xfrm>
            <a:off x="12435840" y="4023360"/>
            <a:ext cx="10396800" cy="4206300"/>
            <a:chOff x="12435840" y="4023360"/>
            <a:chExt cx="10396800" cy="4206300"/>
          </a:xfrm>
        </p:grpSpPr>
        <p:sp>
          <p:nvSpPr>
            <p:cNvPr id="183" name="Google Shape;183;p19"/>
            <p:cNvSpPr/>
            <p:nvPr/>
          </p:nvSpPr>
          <p:spPr>
            <a:xfrm>
              <a:off x="12435840" y="4023360"/>
              <a:ext cx="10396800" cy="4206300"/>
            </a:xfrm>
            <a:prstGeom prst="rect">
              <a:avLst/>
            </a:prstGeom>
            <a:solidFill>
              <a:srgbClr val="7BC14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9"/>
            <p:cNvSpPr txBox="1"/>
            <p:nvPr/>
          </p:nvSpPr>
          <p:spPr>
            <a:xfrm>
              <a:off x="12984480" y="4389120"/>
              <a:ext cx="9327000" cy="201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Use IS NULL / IS NOT NULL</a:t>
              </a:r>
              <a:endParaRPr b="1" sz="5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9"/>
            <p:cNvSpPr txBox="1"/>
            <p:nvPr/>
          </p:nvSpPr>
          <p:spPr>
            <a:xfrm>
              <a:off x="12984480" y="6286500"/>
              <a:ext cx="9327000" cy="146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WHERE col IS NULL</a:t>
              </a:r>
              <a:endParaRPr b="1" sz="5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6" name="Google Shape;186;p19"/>
          <p:cNvSpPr txBox="1"/>
          <p:nvPr/>
        </p:nvSpPr>
        <p:spPr>
          <a:xfrm>
            <a:off x="1554480" y="8763000"/>
            <a:ext cx="21278100" cy="3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425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In SQL, missing or unknown data is represented by </a:t>
            </a:r>
            <a:r>
              <a:rPr b="1" lang="en" sz="425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r>
              <a:rPr b="0" lang="en" sz="425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. Because NULL represents an unknown value, it cannot be evaluated using standard comparison operators like </a:t>
            </a:r>
            <a:r>
              <a:rPr b="1" lang="en" sz="425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lang="en" sz="425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sz="425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en" sz="425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An unknown value does not equal anything, not even another unknown value. Always use </a:t>
            </a:r>
            <a:r>
              <a:rPr b="1" lang="en" sz="4250">
                <a:solidFill>
                  <a:srgbClr val="7BC148"/>
                </a:solidFill>
                <a:latin typeface="Arial"/>
                <a:ea typeface="Arial"/>
                <a:cs typeface="Arial"/>
                <a:sym typeface="Arial"/>
              </a:rPr>
              <a:t>IS NULL</a:t>
            </a:r>
            <a:r>
              <a:rPr b="0" lang="en" sz="425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to find missing data and </a:t>
            </a:r>
            <a:r>
              <a:rPr b="1" lang="en" sz="4250">
                <a:solidFill>
                  <a:srgbClr val="7BC148"/>
                </a:solidFill>
                <a:latin typeface="Arial"/>
                <a:ea typeface="Arial"/>
                <a:cs typeface="Arial"/>
                <a:sym typeface="Arial"/>
              </a:rPr>
              <a:t>IS NOT NULL</a:t>
            </a:r>
            <a:r>
              <a:rPr b="0" lang="en" sz="425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to find populated rows.</a:t>
            </a:r>
            <a:endParaRPr b="0" sz="425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7" name="Google Shape;187;p19"/>
          <p:cNvCxnSpPr/>
          <p:nvPr/>
        </p:nvCxnSpPr>
        <p:spPr>
          <a:xfrm>
            <a:off x="1554480" y="12600432"/>
            <a:ext cx="21278100" cy="0"/>
          </a:xfrm>
          <a:prstGeom prst="straightConnector1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" name="Google Shape;188;p19"/>
          <p:cNvSpPr txBox="1"/>
          <p:nvPr/>
        </p:nvSpPr>
        <p:spPr>
          <a:xfrm>
            <a:off x="1554480" y="12755880"/>
            <a:ext cx="12801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Transforming lives in Africa through research</a:t>
            </a:r>
            <a:endParaRPr b="0" sz="2600">
              <a:solidFill>
                <a:srgbClr val="6B6B6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0"/>
          <p:cNvPicPr preferRelativeResize="0"/>
          <p:nvPr/>
        </p:nvPicPr>
        <p:blipFill rotWithShape="1">
          <a:blip r:embed="rId3">
            <a:alphaModFix/>
          </a:blip>
          <a:srcRect b="0" l="20" r="2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/>
          <p:nvPr/>
        </p:nvSpPr>
        <p:spPr>
          <a:xfrm>
            <a:off x="0" y="0"/>
            <a:ext cx="24387000" cy="155400"/>
          </a:xfrm>
          <a:prstGeom prst="rect">
            <a:avLst/>
          </a:prstGeom>
          <a:solidFill>
            <a:srgbClr val="7BC14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5" name="Google Shape;19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854160" y="384048"/>
            <a:ext cx="1417200" cy="1417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6" name="Google Shape;196;p20"/>
          <p:cNvGrpSpPr/>
          <p:nvPr/>
        </p:nvGrpSpPr>
        <p:grpSpPr>
          <a:xfrm>
            <a:off x="1554480" y="868680"/>
            <a:ext cx="19751100" cy="2697600"/>
            <a:chOff x="0" y="0"/>
            <a:chExt cx="19751100" cy="2697600"/>
          </a:xfrm>
        </p:grpSpPr>
        <p:sp>
          <p:nvSpPr>
            <p:cNvPr id="197" name="Google Shape;197;p20"/>
            <p:cNvSpPr/>
            <p:nvPr/>
          </p:nvSpPr>
          <p:spPr>
            <a:xfrm>
              <a:off x="0" y="0"/>
              <a:ext cx="19751100" cy="2697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20"/>
            <p:cNvSpPr txBox="1"/>
            <p:nvPr/>
          </p:nvSpPr>
          <p:spPr>
            <a:xfrm>
              <a:off x="0" y="0"/>
              <a:ext cx="19751100" cy="269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4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Statements 3 &amp; 4 · ORDER BY &amp; LIMIT</a:t>
              </a:r>
              <a:endParaRPr b="1" sz="84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9" name="Google Shape;199;p20"/>
          <p:cNvSpPr/>
          <p:nvPr/>
        </p:nvSpPr>
        <p:spPr>
          <a:xfrm>
            <a:off x="1554480" y="3794760"/>
            <a:ext cx="21278100" cy="2286000"/>
          </a:xfrm>
          <a:prstGeom prst="rect">
            <a:avLst/>
          </a:prstGeom>
          <a:solidFill>
            <a:srgbClr val="7BC14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0" name="Google Shape;200;p20"/>
          <p:cNvGrpSpPr/>
          <p:nvPr/>
        </p:nvGrpSpPr>
        <p:grpSpPr>
          <a:xfrm>
            <a:off x="2103120" y="3794760"/>
            <a:ext cx="20180700" cy="2286000"/>
            <a:chOff x="0" y="0"/>
            <a:chExt cx="20180700" cy="2286000"/>
          </a:xfrm>
        </p:grpSpPr>
        <p:sp>
          <p:nvSpPr>
            <p:cNvPr id="201" name="Google Shape;201;p20"/>
            <p:cNvSpPr/>
            <p:nvPr/>
          </p:nvSpPr>
          <p:spPr>
            <a:xfrm>
              <a:off x="0" y="0"/>
              <a:ext cx="201807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0"/>
            <p:cNvSpPr txBox="1"/>
            <p:nvPr/>
          </p:nvSpPr>
          <p:spPr>
            <a:xfrm>
              <a:off x="0" y="0"/>
              <a:ext cx="201807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Sorting and Restricting Large Datasets</a:t>
              </a:r>
              <a:endParaRPr b="1" sz="5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3" name="Google Shape;203;p20"/>
          <p:cNvGrpSpPr/>
          <p:nvPr/>
        </p:nvGrpSpPr>
        <p:grpSpPr>
          <a:xfrm>
            <a:off x="1554480" y="6537960"/>
            <a:ext cx="8961000" cy="731400"/>
            <a:chOff x="0" y="0"/>
            <a:chExt cx="8961000" cy="731400"/>
          </a:xfrm>
        </p:grpSpPr>
        <p:sp>
          <p:nvSpPr>
            <p:cNvPr id="204" name="Google Shape;204;p20"/>
            <p:cNvSpPr/>
            <p:nvPr/>
          </p:nvSpPr>
          <p:spPr>
            <a:xfrm>
              <a:off x="0" y="0"/>
              <a:ext cx="8961000" cy="731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0"/>
            <p:cNvSpPr txBox="1"/>
            <p:nvPr/>
          </p:nvSpPr>
          <p:spPr>
            <a:xfrm>
              <a:off x="0" y="0"/>
              <a:ext cx="8961000" cy="73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4600">
                  <a:solidFill>
                    <a:srgbClr val="7BC148"/>
                  </a:solidFill>
                  <a:latin typeface="Arial"/>
                  <a:ea typeface="Arial"/>
                  <a:cs typeface="Arial"/>
                  <a:sym typeface="Arial"/>
                </a:rPr>
                <a:t>ORDER BY sorting</a:t>
              </a:r>
              <a:endParaRPr b="1" sz="4600">
                <a:solidFill>
                  <a:srgbClr val="7BC14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6" name="Google Shape;206;p20"/>
          <p:cNvGrpSpPr/>
          <p:nvPr/>
        </p:nvGrpSpPr>
        <p:grpSpPr>
          <a:xfrm>
            <a:off x="1554480" y="7360920"/>
            <a:ext cx="8961000" cy="4762500"/>
            <a:chOff x="0" y="0"/>
            <a:chExt cx="8961000" cy="4762500"/>
          </a:xfrm>
        </p:grpSpPr>
        <p:sp>
          <p:nvSpPr>
            <p:cNvPr id="207" name="Google Shape;207;p20"/>
            <p:cNvSpPr/>
            <p:nvPr/>
          </p:nvSpPr>
          <p:spPr>
            <a:xfrm>
              <a:off x="0" y="0"/>
              <a:ext cx="8961000" cy="476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20"/>
            <p:cNvSpPr txBox="1"/>
            <p:nvPr/>
          </p:nvSpPr>
          <p:spPr>
            <a:xfrm>
              <a:off x="0" y="0"/>
              <a:ext cx="8961000" cy="476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4953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4200"/>
                <a:buFont typeface="Arial"/>
                <a:buChar char="●"/>
              </a:pPr>
              <a:r>
                <a:rPr b="0" lang="en" sz="42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Sorts the final results of your query.</a:t>
              </a:r>
              <a:endParaRPr b="0" sz="42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495300" lvl="0" marL="457200" rtl="0" algn="l">
                <a:spcBef>
                  <a:spcPts val="1800"/>
                </a:spcBef>
                <a:spcAft>
                  <a:spcPts val="0"/>
                </a:spcAft>
                <a:buClr>
                  <a:srgbClr val="1A1A1A"/>
                </a:buClr>
                <a:buSzPts val="4200"/>
                <a:buFont typeface="Arial"/>
                <a:buChar char="●"/>
              </a:pPr>
              <a:r>
                <a:rPr b="0" lang="en" sz="42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By default, data is sorted in ascending order.</a:t>
              </a:r>
              <a:endParaRPr b="0" sz="42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495300" lvl="0" marL="457200" rtl="0" algn="l">
                <a:spcBef>
                  <a:spcPts val="1800"/>
                </a:spcBef>
                <a:spcAft>
                  <a:spcPts val="1800"/>
                </a:spcAft>
                <a:buClr>
                  <a:srgbClr val="1A1A1A"/>
                </a:buClr>
                <a:buSzPts val="4200"/>
                <a:buFont typeface="Arial"/>
                <a:buChar char="●"/>
              </a:pPr>
              <a:r>
                <a:rPr b="0" lang="en" sz="42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Specify </a:t>
              </a:r>
              <a:r>
                <a:rPr b="1" lang="en" sz="4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rPr>
                <a:t>DESC</a:t>
              </a:r>
              <a:r>
                <a:rPr b="0" lang="en" sz="42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 for descending order if reverse sorting is required.</a:t>
              </a:r>
              <a:endParaRPr b="0" sz="42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9" name="Google Shape;209;p20"/>
          <p:cNvGrpSpPr/>
          <p:nvPr/>
        </p:nvGrpSpPr>
        <p:grpSpPr>
          <a:xfrm>
            <a:off x="11521440" y="6537960"/>
            <a:ext cx="11668200" cy="731400"/>
            <a:chOff x="0" y="0"/>
            <a:chExt cx="11668200" cy="731400"/>
          </a:xfrm>
        </p:grpSpPr>
        <p:sp>
          <p:nvSpPr>
            <p:cNvPr id="210" name="Google Shape;210;p20"/>
            <p:cNvSpPr/>
            <p:nvPr/>
          </p:nvSpPr>
          <p:spPr>
            <a:xfrm>
              <a:off x="0" y="0"/>
              <a:ext cx="11668200" cy="731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0"/>
            <p:cNvSpPr txBox="1"/>
            <p:nvPr/>
          </p:nvSpPr>
          <p:spPr>
            <a:xfrm>
              <a:off x="0" y="0"/>
              <a:ext cx="11668200" cy="731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4600" u="none" strike="noStrike">
                  <a:solidFill>
                    <a:srgbClr val="7BC148"/>
                  </a:solidFill>
                  <a:latin typeface="Arial"/>
                  <a:ea typeface="Arial"/>
                  <a:cs typeface="Arial"/>
                  <a:sym typeface="Arial"/>
                </a:rPr>
                <a:t>LIMIT performance tips</a:t>
              </a:r>
              <a:endParaRPr b="1" i="0" sz="4600" u="none" strike="noStrike">
                <a:solidFill>
                  <a:srgbClr val="7BC14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2" name="Google Shape;212;p20"/>
          <p:cNvGrpSpPr/>
          <p:nvPr/>
        </p:nvGrpSpPr>
        <p:grpSpPr>
          <a:xfrm>
            <a:off x="11521440" y="7360920"/>
            <a:ext cx="11668200" cy="4762500"/>
            <a:chOff x="0" y="0"/>
            <a:chExt cx="11668200" cy="4762500"/>
          </a:xfrm>
        </p:grpSpPr>
        <p:sp>
          <p:nvSpPr>
            <p:cNvPr id="213" name="Google Shape;213;p20"/>
            <p:cNvSpPr/>
            <p:nvPr/>
          </p:nvSpPr>
          <p:spPr>
            <a:xfrm>
              <a:off x="0" y="0"/>
              <a:ext cx="11668200" cy="476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0"/>
            <p:cNvSpPr txBox="1"/>
            <p:nvPr/>
          </p:nvSpPr>
          <p:spPr>
            <a:xfrm>
              <a:off x="0" y="0"/>
              <a:ext cx="11668200" cy="476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4699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3800"/>
                <a:buFont typeface="Arial"/>
                <a:buChar char="●"/>
              </a:pPr>
              <a:r>
                <a:rPr b="0" i="0" lang="en" sz="3800" u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Restricts total rows returned; essential safeguard for huge OMOP tables (e.g., </a:t>
              </a:r>
              <a:r>
                <a:rPr b="1" i="0" lang="en" sz="3800" u="none" strike="noStrike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rPr>
                <a:t>condition_occurrence</a:t>
              </a:r>
              <a:r>
                <a:rPr b="0" i="0" lang="en" sz="3800" u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 with millions of rows).</a:t>
              </a:r>
              <a:endParaRPr b="0" i="0" sz="3800" u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46990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1A1A1A"/>
                </a:buClr>
                <a:buSzPts val="3800"/>
                <a:buFont typeface="Arial"/>
                <a:buChar char="●"/>
              </a:pPr>
              <a:r>
                <a:rPr b="0" i="0" lang="en" sz="3800" u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Quickly previews data structure and sample rows without processing full tables:</a:t>
              </a:r>
              <a:endParaRPr b="0" i="0" sz="3800" u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1500"/>
                </a:spcAft>
                <a:buNone/>
              </a:pPr>
              <a:r>
                <a:rPr b="1" i="0" lang="en" sz="2800" u="none" strike="noStrike">
                  <a:solidFill>
                    <a:srgbClr val="44546A"/>
                  </a:solidFill>
                  <a:highlight>
                    <a:srgbClr val="F4F9EE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SELECT * FROM cdm.condition_occurrence LIMIT 5;</a:t>
              </a:r>
              <a:endParaRPr b="0" i="0" sz="2800" u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15" name="Google Shape;215;p20"/>
          <p:cNvCxnSpPr/>
          <p:nvPr/>
        </p:nvCxnSpPr>
        <p:spPr>
          <a:xfrm>
            <a:off x="1554480" y="12600432"/>
            <a:ext cx="21278100" cy="0"/>
          </a:xfrm>
          <a:prstGeom prst="straightConnector1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16" name="Google Shape;216;p20"/>
          <p:cNvGrpSpPr/>
          <p:nvPr/>
        </p:nvGrpSpPr>
        <p:grpSpPr>
          <a:xfrm>
            <a:off x="1554480" y="12755880"/>
            <a:ext cx="12801600" cy="640200"/>
            <a:chOff x="0" y="0"/>
            <a:chExt cx="12801600" cy="640200"/>
          </a:xfrm>
        </p:grpSpPr>
        <p:sp>
          <p:nvSpPr>
            <p:cNvPr id="217" name="Google Shape;217;p20"/>
            <p:cNvSpPr/>
            <p:nvPr/>
          </p:nvSpPr>
          <p:spPr>
            <a:xfrm>
              <a:off x="0" y="0"/>
              <a:ext cx="12801600" cy="640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0"/>
            <p:cNvSpPr txBox="1"/>
            <p:nvPr/>
          </p:nvSpPr>
          <p:spPr>
            <a:xfrm>
              <a:off x="0" y="0"/>
              <a:ext cx="128016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600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Transforming lives in Africa through research</a:t>
              </a:r>
              <a:endParaRPr b="0" sz="260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1"/>
          <p:cNvSpPr/>
          <p:nvPr/>
        </p:nvSpPr>
        <p:spPr>
          <a:xfrm>
            <a:off x="0" y="0"/>
            <a:ext cx="24387000" cy="155400"/>
          </a:xfrm>
          <a:prstGeom prst="rect">
            <a:avLst/>
          </a:prstGeom>
          <a:solidFill>
            <a:srgbClr val="7BC14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4" name="Google Shape;22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854160" y="384048"/>
            <a:ext cx="1417200" cy="1417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5" name="Google Shape;225;p21"/>
          <p:cNvGrpSpPr/>
          <p:nvPr/>
        </p:nvGrpSpPr>
        <p:grpSpPr>
          <a:xfrm>
            <a:off x="1554480" y="762000"/>
            <a:ext cx="21305580" cy="3566280"/>
            <a:chOff x="0" y="0"/>
            <a:chExt cx="21305580" cy="3566280"/>
          </a:xfrm>
        </p:grpSpPr>
        <p:sp>
          <p:nvSpPr>
            <p:cNvPr id="226" name="Google Shape;226;p21"/>
            <p:cNvSpPr txBox="1"/>
            <p:nvPr/>
          </p:nvSpPr>
          <p:spPr>
            <a:xfrm>
              <a:off x="0" y="0"/>
              <a:ext cx="197511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945">
                  <a:solidFill>
                    <a:srgbClr val="7BC148"/>
                  </a:solidFill>
                  <a:latin typeface="Arial"/>
                  <a:ea typeface="Arial"/>
                  <a:cs typeface="Arial"/>
                  <a:sym typeface="Arial"/>
                </a:rPr>
                <a:t>Statements 5 &amp; 6</a:t>
              </a:r>
              <a:endParaRPr b="1" sz="2945">
                <a:solidFill>
                  <a:srgbClr val="7BC14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21"/>
            <p:cNvSpPr txBox="1"/>
            <p:nvPr/>
          </p:nvSpPr>
          <p:spPr>
            <a:xfrm>
              <a:off x="1554480" y="868680"/>
              <a:ext cx="19751100" cy="2697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7200" u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Statements 5 &amp; 6 · COUNT &amp; DISTINCT: Row Aggregation &amp; Unique Values</a:t>
              </a:r>
              <a:endParaRPr b="1" i="0" sz="7200" u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8" name="Google Shape;228;p21"/>
          <p:cNvGrpSpPr/>
          <p:nvPr/>
        </p:nvGrpSpPr>
        <p:grpSpPr>
          <a:xfrm>
            <a:off x="1554480" y="3619500"/>
            <a:ext cx="10396800" cy="4000500"/>
            <a:chOff x="0" y="0"/>
            <a:chExt cx="10396800" cy="4000500"/>
          </a:xfrm>
        </p:grpSpPr>
        <p:sp>
          <p:nvSpPr>
            <p:cNvPr id="229" name="Google Shape;229;p21"/>
            <p:cNvSpPr/>
            <p:nvPr/>
          </p:nvSpPr>
          <p:spPr>
            <a:xfrm>
              <a:off x="0" y="0"/>
              <a:ext cx="10396800" cy="4000500"/>
            </a:xfrm>
            <a:prstGeom prst="rect">
              <a:avLst/>
            </a:prstGeom>
            <a:solidFill>
              <a:srgbClr val="F4F9E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21"/>
            <p:cNvSpPr/>
            <p:nvPr/>
          </p:nvSpPr>
          <p:spPr>
            <a:xfrm>
              <a:off x="0" y="0"/>
              <a:ext cx="10396800" cy="857400"/>
            </a:xfrm>
            <a:prstGeom prst="rect">
              <a:avLst/>
            </a:prstGeom>
            <a:solidFill>
              <a:srgbClr val="7BC14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21"/>
            <p:cNvSpPr txBox="1"/>
            <p:nvPr/>
          </p:nvSpPr>
          <p:spPr>
            <a:xfrm>
              <a:off x="381000" y="0"/>
              <a:ext cx="96348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4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COUNT(*)</a:t>
              </a:r>
              <a:endParaRPr b="1" sz="4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21"/>
            <p:cNvSpPr txBox="1"/>
            <p:nvPr/>
          </p:nvSpPr>
          <p:spPr>
            <a:xfrm>
              <a:off x="381000" y="1143000"/>
              <a:ext cx="96348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4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Counts all matching rows in your query, regardless of what data they contain.</a:t>
              </a:r>
              <a:endParaRPr b="0" sz="34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3" name="Google Shape;233;p21"/>
          <p:cNvGrpSpPr/>
          <p:nvPr/>
        </p:nvGrpSpPr>
        <p:grpSpPr>
          <a:xfrm>
            <a:off x="12435840" y="3619500"/>
            <a:ext cx="10396800" cy="4000500"/>
            <a:chOff x="0" y="0"/>
            <a:chExt cx="10396800" cy="4000500"/>
          </a:xfrm>
        </p:grpSpPr>
        <p:sp>
          <p:nvSpPr>
            <p:cNvPr id="234" name="Google Shape;234;p21"/>
            <p:cNvSpPr/>
            <p:nvPr/>
          </p:nvSpPr>
          <p:spPr>
            <a:xfrm>
              <a:off x="0" y="0"/>
              <a:ext cx="10396800" cy="4000500"/>
            </a:xfrm>
            <a:prstGeom prst="rect">
              <a:avLst/>
            </a:prstGeom>
            <a:solidFill>
              <a:srgbClr val="F4F9E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1"/>
            <p:cNvSpPr/>
            <p:nvPr/>
          </p:nvSpPr>
          <p:spPr>
            <a:xfrm>
              <a:off x="0" y="0"/>
              <a:ext cx="10396800" cy="857400"/>
            </a:xfrm>
            <a:prstGeom prst="rect">
              <a:avLst/>
            </a:prstGeom>
            <a:solidFill>
              <a:srgbClr val="7BC14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1"/>
            <p:cNvSpPr txBox="1"/>
            <p:nvPr/>
          </p:nvSpPr>
          <p:spPr>
            <a:xfrm>
              <a:off x="381000" y="0"/>
              <a:ext cx="96348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4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COUNT(column)</a:t>
              </a:r>
              <a:endParaRPr b="1" sz="4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21"/>
            <p:cNvSpPr txBox="1"/>
            <p:nvPr/>
          </p:nvSpPr>
          <p:spPr>
            <a:xfrm>
              <a:off x="381000" y="1143000"/>
              <a:ext cx="96348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4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Specifically counts only the rows where that particular column has a non-null value.</a:t>
              </a:r>
              <a:endParaRPr b="0" sz="34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8" name="Google Shape;238;p21"/>
          <p:cNvGrpSpPr/>
          <p:nvPr/>
        </p:nvGrpSpPr>
        <p:grpSpPr>
          <a:xfrm>
            <a:off x="1554480" y="7905750"/>
            <a:ext cx="10396800" cy="4191000"/>
            <a:chOff x="0" y="0"/>
            <a:chExt cx="10396800" cy="4191000"/>
          </a:xfrm>
        </p:grpSpPr>
        <p:sp>
          <p:nvSpPr>
            <p:cNvPr id="239" name="Google Shape;239;p21"/>
            <p:cNvSpPr/>
            <p:nvPr/>
          </p:nvSpPr>
          <p:spPr>
            <a:xfrm>
              <a:off x="0" y="0"/>
              <a:ext cx="10396800" cy="4191000"/>
            </a:xfrm>
            <a:prstGeom prst="rect">
              <a:avLst/>
            </a:prstGeom>
            <a:solidFill>
              <a:srgbClr val="F4F9E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1"/>
            <p:cNvSpPr/>
            <p:nvPr/>
          </p:nvSpPr>
          <p:spPr>
            <a:xfrm>
              <a:off x="0" y="0"/>
              <a:ext cx="10396800" cy="857400"/>
            </a:xfrm>
            <a:prstGeom prst="rect">
              <a:avLst/>
            </a:prstGeom>
            <a:solidFill>
              <a:srgbClr val="7BC14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1"/>
            <p:cNvSpPr txBox="1"/>
            <p:nvPr/>
          </p:nvSpPr>
          <p:spPr>
            <a:xfrm>
              <a:off x="381000" y="0"/>
              <a:ext cx="96348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4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DISTINCT</a:t>
              </a:r>
              <a:endParaRPr b="1" sz="4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21"/>
            <p:cNvSpPr txBox="1"/>
            <p:nvPr/>
          </p:nvSpPr>
          <p:spPr>
            <a:xfrm>
              <a:off x="381000" y="1095375"/>
              <a:ext cx="9634800" cy="28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4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Removes duplicate values from your results, returning only unique instances.</a:t>
              </a:r>
              <a:endParaRPr b="0" sz="34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3000">
                  <a:solidFill>
                    <a:srgbClr val="44546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SELECT DISTINCT gender_concept_id FROM cdm.person;</a:t>
              </a:r>
              <a:endParaRPr b="1" sz="3000">
                <a:solidFill>
                  <a:srgbClr val="44546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43" name="Google Shape;243;p21"/>
          <p:cNvGrpSpPr/>
          <p:nvPr/>
        </p:nvGrpSpPr>
        <p:grpSpPr>
          <a:xfrm>
            <a:off x="12435840" y="7905750"/>
            <a:ext cx="10396800" cy="4191000"/>
            <a:chOff x="0" y="0"/>
            <a:chExt cx="10396800" cy="4191000"/>
          </a:xfrm>
        </p:grpSpPr>
        <p:sp>
          <p:nvSpPr>
            <p:cNvPr id="244" name="Google Shape;244;p21"/>
            <p:cNvSpPr/>
            <p:nvPr/>
          </p:nvSpPr>
          <p:spPr>
            <a:xfrm>
              <a:off x="0" y="0"/>
              <a:ext cx="10396800" cy="4191000"/>
            </a:xfrm>
            <a:prstGeom prst="rect">
              <a:avLst/>
            </a:prstGeom>
            <a:solidFill>
              <a:srgbClr val="F4F9E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1"/>
            <p:cNvSpPr/>
            <p:nvPr/>
          </p:nvSpPr>
          <p:spPr>
            <a:xfrm>
              <a:off x="0" y="0"/>
              <a:ext cx="10396800" cy="857400"/>
            </a:xfrm>
            <a:prstGeom prst="rect">
              <a:avLst/>
            </a:prstGeom>
            <a:solidFill>
              <a:srgbClr val="7BC14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1"/>
            <p:cNvSpPr txBox="1"/>
            <p:nvPr/>
          </p:nvSpPr>
          <p:spPr>
            <a:xfrm>
              <a:off x="381000" y="0"/>
              <a:ext cx="96348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4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COUNT(DISTINCT)</a:t>
              </a:r>
              <a:endParaRPr b="1" sz="4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21"/>
            <p:cNvSpPr txBox="1"/>
            <p:nvPr/>
          </p:nvSpPr>
          <p:spPr>
            <a:xfrm>
              <a:off x="381000" y="1095375"/>
              <a:ext cx="9634800" cy="2809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3400" u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Combines functions to calculate the exact number of unique values within the dataset.</a:t>
              </a:r>
              <a:endParaRPr b="0" i="0" sz="3400" u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1500"/>
                </a:spcAft>
                <a:buNone/>
              </a:pPr>
              <a:r>
                <a:rPr b="1" i="0" lang="en" sz="3000" u="none" strike="noStrike">
                  <a:solidFill>
                    <a:srgbClr val="44546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SELECT COUNT(DISTINCT gender_concept_id)...</a:t>
              </a:r>
              <a:endParaRPr b="0" i="0" sz="3000" u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48" name="Google Shape;248;p21"/>
          <p:cNvCxnSpPr/>
          <p:nvPr/>
        </p:nvCxnSpPr>
        <p:spPr>
          <a:xfrm>
            <a:off x="1554480" y="12600432"/>
            <a:ext cx="21278100" cy="0"/>
          </a:xfrm>
          <a:prstGeom prst="straightConnector1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9" name="Google Shape;249;p21"/>
          <p:cNvSpPr txBox="1"/>
          <p:nvPr/>
        </p:nvSpPr>
        <p:spPr>
          <a:xfrm>
            <a:off x="1554480" y="12755880"/>
            <a:ext cx="12801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Transforming lives in Africa through research</a:t>
            </a:r>
            <a:endParaRPr b="0" sz="2600">
              <a:solidFill>
                <a:srgbClr val="6B6B6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2"/>
          <p:cNvSpPr/>
          <p:nvPr/>
        </p:nvSpPr>
        <p:spPr>
          <a:xfrm>
            <a:off x="0" y="0"/>
            <a:ext cx="24387000" cy="155400"/>
          </a:xfrm>
          <a:prstGeom prst="rect">
            <a:avLst/>
          </a:prstGeom>
          <a:solidFill>
            <a:srgbClr val="7BC14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5" name="Google Shape;25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854160" y="384048"/>
            <a:ext cx="1417200" cy="141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2"/>
          <p:cNvSpPr txBox="1"/>
          <p:nvPr/>
        </p:nvSpPr>
        <p:spPr>
          <a:xfrm>
            <a:off x="1554480" y="868680"/>
            <a:ext cx="197511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4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Statements 7 &amp; 9 · GROUP BY &amp; Aliases (AS)</a:t>
            </a:r>
            <a:endParaRPr b="1" sz="840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7" name="Google Shape;257;p22"/>
          <p:cNvGrpSpPr/>
          <p:nvPr/>
        </p:nvGrpSpPr>
        <p:grpSpPr>
          <a:xfrm>
            <a:off x="1554480" y="3619500"/>
            <a:ext cx="10396800" cy="8572500"/>
            <a:chOff x="0" y="0"/>
            <a:chExt cx="10396800" cy="8572500"/>
          </a:xfrm>
        </p:grpSpPr>
        <p:sp>
          <p:nvSpPr>
            <p:cNvPr id="258" name="Google Shape;258;p22"/>
            <p:cNvSpPr/>
            <p:nvPr/>
          </p:nvSpPr>
          <p:spPr>
            <a:xfrm>
              <a:off x="0" y="0"/>
              <a:ext cx="10396800" cy="8572500"/>
            </a:xfrm>
            <a:prstGeom prst="rect">
              <a:avLst/>
            </a:prstGeom>
            <a:solidFill>
              <a:srgbClr val="F4F9E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2"/>
            <p:cNvSpPr txBox="1"/>
            <p:nvPr/>
          </p:nvSpPr>
          <p:spPr>
            <a:xfrm>
              <a:off x="548640" y="457200"/>
              <a:ext cx="9299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4600">
                  <a:solidFill>
                    <a:srgbClr val="7BC148"/>
                  </a:solidFill>
                  <a:latin typeface="Arial"/>
                  <a:ea typeface="Arial"/>
                  <a:cs typeface="Arial"/>
                  <a:sym typeface="Arial"/>
                </a:rPr>
                <a:t>GROUP BY: Summarizing Data</a:t>
              </a:r>
              <a:endParaRPr b="1" sz="4600">
                <a:solidFill>
                  <a:srgbClr val="7BC14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22"/>
            <p:cNvSpPr txBox="1"/>
            <p:nvPr/>
          </p:nvSpPr>
          <p:spPr>
            <a:xfrm>
              <a:off x="548640" y="1409700"/>
              <a:ext cx="9299400" cy="666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40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Functions similarly to a spreadsheet </a:t>
              </a:r>
              <a:r>
                <a:rPr b="1" lang="en" sz="40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pivot table</a:t>
              </a:r>
              <a:r>
                <a:rPr b="0" lang="en" sz="40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 by aggregating rows based on shared values.</a:t>
              </a:r>
              <a:endParaRPr b="0" sz="40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482600" lvl="0" marL="457200" rtl="0" algn="l">
                <a:spcBef>
                  <a:spcPts val="1800"/>
                </a:spcBef>
                <a:spcAft>
                  <a:spcPts val="0"/>
                </a:spcAft>
                <a:buClr>
                  <a:srgbClr val="1A1A1A"/>
                </a:buClr>
                <a:buSzPts val="4000"/>
                <a:buFont typeface="Arial"/>
                <a:buChar char="●"/>
              </a:pPr>
              <a:r>
                <a:rPr b="1" lang="en" sz="40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Categorical Grouping:</a:t>
              </a:r>
              <a:r>
                <a:rPr b="0" lang="en" sz="40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 Groups dataset rows by specific columns (e.g., GROUP BY gender_concept_id).</a:t>
              </a:r>
              <a:endParaRPr b="0" sz="40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482600" lvl="0" marL="457200" rtl="0" algn="l">
                <a:spcBef>
                  <a:spcPts val="1800"/>
                </a:spcBef>
                <a:spcAft>
                  <a:spcPts val="1800"/>
                </a:spcAft>
                <a:buClr>
                  <a:srgbClr val="1A1A1A"/>
                </a:buClr>
                <a:buSzPts val="4000"/>
                <a:buFont typeface="Arial"/>
                <a:buChar char="●"/>
              </a:pPr>
              <a:r>
                <a:rPr b="1" lang="en" sz="40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Aggregate Calculations:</a:t>
              </a:r>
              <a:r>
                <a:rPr b="0" lang="en" sz="40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 Enables summary metrics like COUNT(), SUM(), or AVG() for each distinct category.</a:t>
              </a:r>
              <a:endParaRPr b="0" sz="40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1" name="Google Shape;261;p22"/>
          <p:cNvGrpSpPr/>
          <p:nvPr/>
        </p:nvGrpSpPr>
        <p:grpSpPr>
          <a:xfrm>
            <a:off x="12435840" y="3619500"/>
            <a:ext cx="10396800" cy="8572500"/>
            <a:chOff x="0" y="0"/>
            <a:chExt cx="10396800" cy="8572500"/>
          </a:xfrm>
        </p:grpSpPr>
        <p:sp>
          <p:nvSpPr>
            <p:cNvPr id="262" name="Google Shape;262;p22"/>
            <p:cNvSpPr/>
            <p:nvPr/>
          </p:nvSpPr>
          <p:spPr>
            <a:xfrm>
              <a:off x="0" y="0"/>
              <a:ext cx="10396800" cy="8572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2"/>
            <p:cNvSpPr/>
            <p:nvPr/>
          </p:nvSpPr>
          <p:spPr>
            <a:xfrm>
              <a:off x="0" y="0"/>
              <a:ext cx="10396800" cy="114300"/>
            </a:xfrm>
            <a:prstGeom prst="rect">
              <a:avLst/>
            </a:prstGeom>
            <a:solidFill>
              <a:srgbClr val="44546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2"/>
            <p:cNvSpPr txBox="1"/>
            <p:nvPr/>
          </p:nvSpPr>
          <p:spPr>
            <a:xfrm>
              <a:off x="548640" y="457200"/>
              <a:ext cx="9299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91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rPr>
                <a:t>AS Keyword: Column &amp; Table Aliases</a:t>
              </a:r>
              <a:endParaRPr b="1" sz="391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22"/>
            <p:cNvSpPr txBox="1"/>
            <p:nvPr/>
          </p:nvSpPr>
          <p:spPr>
            <a:xfrm>
              <a:off x="548640" y="1409700"/>
              <a:ext cx="9299400" cy="666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4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Essential as queries become complex, providing friendly, temporary names to enhance readability.</a:t>
              </a:r>
              <a:endParaRPr b="0" sz="34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444500" lvl="0" marL="457200" rtl="0" algn="l">
                <a:spcBef>
                  <a:spcPts val="1800"/>
                </a:spcBef>
                <a:spcAft>
                  <a:spcPts val="0"/>
                </a:spcAft>
                <a:buClr>
                  <a:srgbClr val="1A1A1A"/>
                </a:buClr>
                <a:buSzPts val="3400"/>
                <a:buFont typeface="Arial"/>
                <a:buChar char="●"/>
              </a:pPr>
              <a:r>
                <a:rPr b="1" lang="en" sz="34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Column Aliases:</a:t>
              </a:r>
              <a:r>
                <a:rPr b="0" lang="en" sz="34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 Renames output attributes for clarity and cleaner presentation (e.g., person_id AS patient_id).</a:t>
              </a:r>
              <a:endParaRPr b="0" sz="34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444500" lvl="0" marL="457200" rtl="0" algn="l">
                <a:spcBef>
                  <a:spcPts val="1800"/>
                </a:spcBef>
                <a:spcAft>
                  <a:spcPts val="0"/>
                </a:spcAft>
                <a:buClr>
                  <a:srgbClr val="1A1A1A"/>
                </a:buClr>
                <a:buSzPts val="3400"/>
                <a:buFont typeface="Arial"/>
                <a:buChar char="●"/>
              </a:pPr>
              <a:r>
                <a:rPr b="1" lang="en" sz="34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Table Aliases:</a:t>
              </a:r>
              <a:r>
                <a:rPr b="0" lang="en" sz="34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 Assigns short nicknames to tables to streamline syntax and reduce repetitive typing (e.g., cdm.person AS p).</a:t>
              </a:r>
              <a:endParaRPr b="0" sz="34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444500" lvl="0" marL="457200" rtl="0" algn="l">
                <a:spcBef>
                  <a:spcPts val="1800"/>
                </a:spcBef>
                <a:spcAft>
                  <a:spcPts val="1800"/>
                </a:spcAft>
                <a:buClr>
                  <a:srgbClr val="1A1A1A"/>
                </a:buClr>
                <a:buSzPts val="3400"/>
                <a:buFont typeface="Arial"/>
                <a:buChar char="●"/>
              </a:pPr>
              <a:r>
                <a:rPr b="1" lang="en" sz="34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Maintainability:</a:t>
              </a:r>
              <a:r>
                <a:rPr b="0" lang="en" sz="34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 Keeps SQL scripts readable and significantly easier to debug.</a:t>
              </a:r>
              <a:endParaRPr b="0" sz="34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66" name="Google Shape;266;p22"/>
          <p:cNvCxnSpPr/>
          <p:nvPr/>
        </p:nvCxnSpPr>
        <p:spPr>
          <a:xfrm>
            <a:off x="1554480" y="12600432"/>
            <a:ext cx="21278100" cy="0"/>
          </a:xfrm>
          <a:prstGeom prst="straightConnector1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7" name="Google Shape;267;p22"/>
          <p:cNvSpPr txBox="1"/>
          <p:nvPr/>
        </p:nvSpPr>
        <p:spPr>
          <a:xfrm>
            <a:off x="1554480" y="12755880"/>
            <a:ext cx="12801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Transforming lives in Africa through research</a:t>
            </a:r>
            <a:endParaRPr b="0" sz="2600">
              <a:solidFill>
                <a:srgbClr val="6B6B6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23"/>
          <p:cNvPicPr preferRelativeResize="0"/>
          <p:nvPr/>
        </p:nvPicPr>
        <p:blipFill rotWithShape="1">
          <a:blip r:embed="rId3">
            <a:alphaModFix/>
          </a:blip>
          <a:srcRect b="0" l="20" r="2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3"/>
          <p:cNvSpPr/>
          <p:nvPr/>
        </p:nvSpPr>
        <p:spPr>
          <a:xfrm>
            <a:off x="0" y="0"/>
            <a:ext cx="24387000" cy="155400"/>
          </a:xfrm>
          <a:prstGeom prst="rect">
            <a:avLst/>
          </a:prstGeom>
          <a:solidFill>
            <a:srgbClr val="7BC14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854160" y="384048"/>
            <a:ext cx="1417200" cy="141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3"/>
          <p:cNvSpPr txBox="1"/>
          <p:nvPr/>
        </p:nvSpPr>
        <p:spPr>
          <a:xfrm>
            <a:off x="1554480" y="868680"/>
            <a:ext cx="19751100" cy="24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HAVING: Filtering Grouped Data vs Row Filtering</a:t>
            </a:r>
            <a:endParaRPr b="1" sz="720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1554480" y="3619500"/>
            <a:ext cx="10396800" cy="7429500"/>
          </a:xfrm>
          <a:prstGeom prst="rect">
            <a:avLst/>
          </a:prstGeom>
          <a:solidFill>
            <a:srgbClr val="F4F9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3"/>
          <p:cNvSpPr txBox="1"/>
          <p:nvPr/>
        </p:nvSpPr>
        <p:spPr>
          <a:xfrm>
            <a:off x="2103120" y="3905250"/>
            <a:ext cx="9327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55">
                <a:solidFill>
                  <a:srgbClr val="7BC148"/>
                </a:solidFill>
                <a:latin typeface="Arial"/>
                <a:ea typeface="Arial"/>
                <a:cs typeface="Arial"/>
                <a:sym typeface="Arial"/>
              </a:rPr>
              <a:t>WHERE Clause</a:t>
            </a:r>
            <a:endParaRPr b="1" sz="4255">
              <a:solidFill>
                <a:srgbClr val="7BC1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3"/>
          <p:cNvSpPr txBox="1"/>
          <p:nvPr/>
        </p:nvSpPr>
        <p:spPr>
          <a:xfrm>
            <a:off x="2103120" y="4714875"/>
            <a:ext cx="9327000" cy="60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69900" lvl="0" marL="45720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800"/>
              <a:buFont typeface="Arial"/>
              <a:buChar char="●"/>
            </a:pPr>
            <a:r>
              <a:rPr b="0" lang="en" sz="38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Filters individual rows </a:t>
            </a:r>
            <a:r>
              <a:rPr b="1" lang="en" sz="38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BEFORE</a:t>
            </a:r>
            <a:r>
              <a:rPr b="0" lang="en" sz="38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any grouping occurs.</a:t>
            </a:r>
            <a:endParaRPr b="0" sz="380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69900" lvl="0" marL="457200" rtl="0" algn="l">
              <a:spcBef>
                <a:spcPts val="1200"/>
              </a:spcBef>
              <a:spcAft>
                <a:spcPts val="0"/>
              </a:spcAft>
              <a:buClr>
                <a:srgbClr val="1A1A1A"/>
              </a:buClr>
              <a:buSzPts val="3800"/>
              <a:buFont typeface="Arial"/>
              <a:buChar char="●"/>
            </a:pPr>
            <a:r>
              <a:rPr b="0" lang="en" sz="38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Think of it as a </a:t>
            </a:r>
            <a:r>
              <a:rPr b="1" lang="en" sz="38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"bouncer at the door"</a:t>
            </a:r>
            <a:r>
              <a:rPr b="0" lang="en" sz="38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—it stops unwanted rows from ever entering the aggregation process.</a:t>
            </a:r>
            <a:endParaRPr b="0" sz="380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69900" lvl="0" marL="457200" rtl="0" algn="l">
              <a:spcBef>
                <a:spcPts val="1200"/>
              </a:spcBef>
              <a:spcAft>
                <a:spcPts val="1200"/>
              </a:spcAft>
              <a:buClr>
                <a:srgbClr val="1A1A1A"/>
              </a:buClr>
              <a:buSzPts val="3800"/>
              <a:buFont typeface="Arial"/>
              <a:buChar char="●"/>
            </a:pPr>
            <a:r>
              <a:rPr b="0" lang="en" sz="38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Cannot use aggregate functions (like COUNT) inside a WHERE clause.</a:t>
            </a:r>
            <a:endParaRPr b="0" sz="380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9" name="Google Shape;279;p23"/>
          <p:cNvGrpSpPr/>
          <p:nvPr/>
        </p:nvGrpSpPr>
        <p:grpSpPr>
          <a:xfrm>
            <a:off x="12984480" y="3905250"/>
            <a:ext cx="9509700" cy="7143600"/>
            <a:chOff x="548640" y="285750"/>
            <a:chExt cx="9509700" cy="7143600"/>
          </a:xfrm>
        </p:grpSpPr>
        <p:sp>
          <p:nvSpPr>
            <p:cNvPr id="280" name="Google Shape;280;p23"/>
            <p:cNvSpPr txBox="1"/>
            <p:nvPr/>
          </p:nvSpPr>
          <p:spPr>
            <a:xfrm>
              <a:off x="548640" y="285750"/>
              <a:ext cx="93270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4255" u="none" strike="noStrike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rPr>
                <a:t>HAVING Clause</a:t>
              </a:r>
              <a:endParaRPr b="1" i="0" sz="4255" u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23"/>
            <p:cNvSpPr txBox="1"/>
            <p:nvPr/>
          </p:nvSpPr>
          <p:spPr>
            <a:xfrm>
              <a:off x="548640" y="1095375"/>
              <a:ext cx="9327000" cy="400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4699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3800"/>
                <a:buFont typeface="Arial"/>
                <a:buChar char="●"/>
              </a:pPr>
              <a:r>
                <a:rPr b="0" i="0" lang="en" sz="3800" u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Filters groups </a:t>
              </a:r>
              <a:r>
                <a:rPr b="1" i="0" lang="en" sz="3800" u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AFTER</a:t>
              </a:r>
              <a:r>
                <a:rPr b="0" i="0" lang="en" sz="3800" u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 the grouping has already occurred.</a:t>
              </a:r>
              <a:endParaRPr b="0" i="0" sz="3800" u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469900" lvl="0" marL="457200" rtl="0" algn="l">
                <a:spcBef>
                  <a:spcPts val="1200"/>
                </a:spcBef>
                <a:spcAft>
                  <a:spcPts val="1200"/>
                </a:spcAft>
                <a:buClr>
                  <a:srgbClr val="1A1A1A"/>
                </a:buClr>
                <a:buSzPts val="3800"/>
                <a:buFont typeface="Arial"/>
                <a:buChar char="●"/>
              </a:pPr>
              <a:r>
                <a:rPr b="0" i="0" lang="en" sz="3800" u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Think of it as a </a:t>
              </a:r>
              <a:r>
                <a:rPr b="1" i="0" lang="en" sz="3800" u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"judge at the end"</a:t>
              </a:r>
              <a:r>
                <a:rPr b="0" i="0" lang="en" sz="3800" u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—it evaluates final summarized groups and discards non-matching ones.</a:t>
              </a:r>
              <a:endParaRPr b="0" i="0" sz="3800" u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23"/>
            <p:cNvSpPr/>
            <p:nvPr/>
          </p:nvSpPr>
          <p:spPr>
            <a:xfrm>
              <a:off x="548640" y="5429250"/>
              <a:ext cx="9509700" cy="2000100"/>
            </a:xfrm>
            <a:prstGeom prst="roundRect">
              <a:avLst>
                <a:gd fmla="val 3809" name="adj"/>
              </a:avLst>
            </a:prstGeom>
            <a:solidFill>
              <a:srgbClr val="EAEF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3"/>
            <p:cNvSpPr txBox="1"/>
            <p:nvPr/>
          </p:nvSpPr>
          <p:spPr>
            <a:xfrm>
              <a:off x="834390" y="5619750"/>
              <a:ext cx="8938200" cy="1619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960" u="none" strike="noStrike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rPr>
                <a:t>Example Scenario:</a:t>
              </a:r>
              <a:endParaRPr b="1" i="0" sz="2960" u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i="0" lang="en" sz="2960" u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To find groups with &gt; 100 records, you must use:</a:t>
              </a:r>
              <a:endParaRPr b="1" i="0" sz="2960" u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i="0" lang="en" sz="3145" u="none" strike="noStrike">
                  <a:solidFill>
                    <a:srgbClr val="7BC14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HAVING COUNT(*) &gt; 100</a:t>
              </a:r>
              <a:endParaRPr b="1" i="0" sz="2960" u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84" name="Google Shape;284;p23"/>
          <p:cNvCxnSpPr/>
          <p:nvPr/>
        </p:nvCxnSpPr>
        <p:spPr>
          <a:xfrm>
            <a:off x="1554480" y="12600432"/>
            <a:ext cx="21278100" cy="0"/>
          </a:xfrm>
          <a:prstGeom prst="straightConnector1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5" name="Google Shape;285;p23"/>
          <p:cNvSpPr txBox="1"/>
          <p:nvPr/>
        </p:nvSpPr>
        <p:spPr>
          <a:xfrm>
            <a:off x="1554480" y="12755880"/>
            <a:ext cx="12801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Transforming lives in Africa through research</a:t>
            </a:r>
            <a:endParaRPr b="0" sz="2600">
              <a:solidFill>
                <a:srgbClr val="6B6B6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24"/>
          <p:cNvPicPr preferRelativeResize="0"/>
          <p:nvPr/>
        </p:nvPicPr>
        <p:blipFill rotWithShape="1">
          <a:blip r:embed="rId3">
            <a:alphaModFix/>
          </a:blip>
          <a:srcRect b="0" l="20" r="2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4"/>
          <p:cNvSpPr/>
          <p:nvPr/>
        </p:nvSpPr>
        <p:spPr>
          <a:xfrm>
            <a:off x="0" y="0"/>
            <a:ext cx="24387000" cy="155400"/>
          </a:xfrm>
          <a:prstGeom prst="rect">
            <a:avLst/>
          </a:prstGeom>
          <a:solidFill>
            <a:srgbClr val="7BC14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2" name="Google Shape;29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854160" y="384048"/>
            <a:ext cx="1417200" cy="141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4"/>
          <p:cNvSpPr txBox="1"/>
          <p:nvPr/>
        </p:nvSpPr>
        <p:spPr>
          <a:xfrm>
            <a:off x="1554480" y="868680"/>
            <a:ext cx="19751100" cy="23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6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Statement 10 · JOIN: Connecting OMOP Person and Concept Tables</a:t>
            </a:r>
            <a:endParaRPr b="1" sz="760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4" name="Google Shape;294;p24"/>
          <p:cNvGrpSpPr/>
          <p:nvPr/>
        </p:nvGrpSpPr>
        <p:grpSpPr>
          <a:xfrm>
            <a:off x="1554480" y="3333750"/>
            <a:ext cx="21278100" cy="1714500"/>
            <a:chOff x="0" y="0"/>
            <a:chExt cx="21278100" cy="1714500"/>
          </a:xfrm>
        </p:grpSpPr>
        <p:sp>
          <p:nvSpPr>
            <p:cNvPr id="295" name="Google Shape;295;p24"/>
            <p:cNvSpPr/>
            <p:nvPr/>
          </p:nvSpPr>
          <p:spPr>
            <a:xfrm>
              <a:off x="0" y="0"/>
              <a:ext cx="21278100" cy="1714500"/>
            </a:xfrm>
            <a:prstGeom prst="rect">
              <a:avLst/>
            </a:prstGeom>
            <a:solidFill>
              <a:srgbClr val="7BC14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4"/>
            <p:cNvSpPr txBox="1"/>
            <p:nvPr/>
          </p:nvSpPr>
          <p:spPr>
            <a:xfrm>
              <a:off x="476250" y="0"/>
              <a:ext cx="203256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408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The JOIN statement is used to connect different tables together based on a related column, which is fundamental to navigating the OMOP Common Data Model.</a:t>
              </a:r>
              <a:endParaRPr b="1" sz="40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7" name="Google Shape;297;p24"/>
          <p:cNvGrpSpPr/>
          <p:nvPr/>
        </p:nvGrpSpPr>
        <p:grpSpPr>
          <a:xfrm>
            <a:off x="1554480" y="5334000"/>
            <a:ext cx="21278100" cy="1809600"/>
            <a:chOff x="0" y="0"/>
            <a:chExt cx="21278100" cy="1809600"/>
          </a:xfrm>
        </p:grpSpPr>
        <p:sp>
          <p:nvSpPr>
            <p:cNvPr id="298" name="Google Shape;298;p24"/>
            <p:cNvSpPr/>
            <p:nvPr/>
          </p:nvSpPr>
          <p:spPr>
            <a:xfrm>
              <a:off x="0" y="0"/>
              <a:ext cx="21278100" cy="1809600"/>
            </a:xfrm>
            <a:prstGeom prst="rect">
              <a:avLst/>
            </a:prstGeom>
            <a:solidFill>
              <a:srgbClr val="F4F9EE"/>
            </a:solidFill>
            <a:ln cap="flat" cmpd="sng" w="19050">
              <a:solidFill>
                <a:srgbClr val="B9D9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4"/>
            <p:cNvSpPr txBox="1"/>
            <p:nvPr/>
          </p:nvSpPr>
          <p:spPr>
            <a:xfrm>
              <a:off x="381000" y="238125"/>
              <a:ext cx="205161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2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rPr>
                <a:t>OMOP Relationship Example:</a:t>
              </a:r>
              <a:endParaRPr b="1" sz="242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242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For example, you can join the </a:t>
              </a:r>
              <a:r>
                <a:rPr b="1" lang="en" sz="2420">
                  <a:solidFill>
                    <a:srgbClr val="7BC148"/>
                  </a:solidFill>
                  <a:latin typeface="Arial"/>
                  <a:ea typeface="Arial"/>
                  <a:cs typeface="Arial"/>
                  <a:sym typeface="Arial"/>
                </a:rPr>
                <a:t>person</a:t>
              </a:r>
              <a:r>
                <a:rPr b="0" lang="en" sz="242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 table (which contains numeric codes like </a:t>
              </a:r>
              <a:r>
                <a:rPr b="1" lang="en" sz="242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gender_concept_id 8507</a:t>
              </a:r>
              <a:r>
                <a:rPr b="0" lang="en" sz="242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) to the </a:t>
              </a:r>
              <a:r>
                <a:rPr b="1" lang="en" sz="2420">
                  <a:solidFill>
                    <a:srgbClr val="7BC148"/>
                  </a:solidFill>
                  <a:latin typeface="Arial"/>
                  <a:ea typeface="Arial"/>
                  <a:cs typeface="Arial"/>
                  <a:sym typeface="Arial"/>
                </a:rPr>
                <a:t>concept</a:t>
              </a:r>
              <a:r>
                <a:rPr b="0" lang="en" sz="242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 table (which contains the human-readable </a:t>
              </a:r>
              <a:r>
                <a:rPr b="1" lang="en" sz="242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concept_name 'Male'</a:t>
              </a:r>
              <a:r>
                <a:rPr b="0" lang="en" sz="242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).</a:t>
              </a:r>
              <a:endParaRPr b="0" sz="242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0" name="Google Shape;300;p24"/>
          <p:cNvGrpSpPr/>
          <p:nvPr/>
        </p:nvGrpSpPr>
        <p:grpSpPr>
          <a:xfrm>
            <a:off x="1554480" y="7429500"/>
            <a:ext cx="10287000" cy="4857750"/>
            <a:chOff x="0" y="0"/>
            <a:chExt cx="10287000" cy="4857750"/>
          </a:xfrm>
        </p:grpSpPr>
        <p:sp>
          <p:nvSpPr>
            <p:cNvPr id="301" name="Google Shape;301;p24"/>
            <p:cNvSpPr/>
            <p:nvPr/>
          </p:nvSpPr>
          <p:spPr>
            <a:xfrm>
              <a:off x="0" y="0"/>
              <a:ext cx="10287000" cy="857400"/>
            </a:xfrm>
            <a:prstGeom prst="rect">
              <a:avLst/>
            </a:prstGeom>
            <a:solidFill>
              <a:srgbClr val="7BC14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4"/>
            <p:cNvSpPr txBox="1"/>
            <p:nvPr/>
          </p:nvSpPr>
          <p:spPr>
            <a:xfrm>
              <a:off x="285750" y="0"/>
              <a:ext cx="9715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4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INNER JOIN</a:t>
              </a:r>
              <a:endParaRPr b="1" sz="4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24"/>
            <p:cNvSpPr/>
            <p:nvPr/>
          </p:nvSpPr>
          <p:spPr>
            <a:xfrm>
              <a:off x="0" y="857250"/>
              <a:ext cx="10287000" cy="4000500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7BC14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4"/>
            <p:cNvSpPr txBox="1"/>
            <p:nvPr/>
          </p:nvSpPr>
          <p:spPr>
            <a:xfrm>
              <a:off x="381000" y="1143000"/>
              <a:ext cx="95250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4200">
                  <a:solidFill>
                    <a:srgbClr val="7BC148"/>
                  </a:solidFill>
                  <a:latin typeface="Arial"/>
                  <a:ea typeface="Arial"/>
                  <a:cs typeface="Arial"/>
                  <a:sym typeface="Arial"/>
                </a:rPr>
                <a:t>Most Common Join Type</a:t>
              </a:r>
              <a:endParaRPr b="1" sz="4200">
                <a:solidFill>
                  <a:srgbClr val="7BC14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0" lang="en" sz="38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An </a:t>
              </a:r>
              <a:r>
                <a:rPr b="1" lang="en" sz="38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INNER JOIN</a:t>
              </a:r>
              <a:r>
                <a:rPr b="0" lang="en" sz="38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 is the most common; it only returns rows where there are matches in both of the connected tables.</a:t>
              </a:r>
              <a:endParaRPr b="0" sz="38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5" name="Google Shape;305;p24"/>
          <p:cNvGrpSpPr/>
          <p:nvPr/>
        </p:nvGrpSpPr>
        <p:grpSpPr>
          <a:xfrm>
            <a:off x="12545568" y="7429500"/>
            <a:ext cx="10287000" cy="4857750"/>
            <a:chOff x="0" y="0"/>
            <a:chExt cx="10287000" cy="4857750"/>
          </a:xfrm>
        </p:grpSpPr>
        <p:sp>
          <p:nvSpPr>
            <p:cNvPr id="306" name="Google Shape;306;p24"/>
            <p:cNvSpPr/>
            <p:nvPr/>
          </p:nvSpPr>
          <p:spPr>
            <a:xfrm>
              <a:off x="0" y="0"/>
              <a:ext cx="10287000" cy="857400"/>
            </a:xfrm>
            <a:prstGeom prst="rect">
              <a:avLst/>
            </a:prstGeom>
            <a:solidFill>
              <a:srgbClr val="44546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4"/>
            <p:cNvSpPr txBox="1"/>
            <p:nvPr/>
          </p:nvSpPr>
          <p:spPr>
            <a:xfrm>
              <a:off x="285750" y="0"/>
              <a:ext cx="9715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4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LEFT JOIN</a:t>
              </a:r>
              <a:endParaRPr b="1" sz="4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24"/>
            <p:cNvSpPr/>
            <p:nvPr/>
          </p:nvSpPr>
          <p:spPr>
            <a:xfrm>
              <a:off x="0" y="857250"/>
              <a:ext cx="10287000" cy="4000500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44546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4"/>
            <p:cNvSpPr txBox="1"/>
            <p:nvPr/>
          </p:nvSpPr>
          <p:spPr>
            <a:xfrm>
              <a:off x="381000" y="1143000"/>
              <a:ext cx="95250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57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rPr>
                <a:t>Preserves Primary Table Rows</a:t>
              </a:r>
              <a:endParaRPr b="1" sz="357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" sz="306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A </a:t>
              </a:r>
              <a:r>
                <a:rPr b="1" lang="en" sz="306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LEFT JOIN</a:t>
              </a:r>
              <a:r>
                <a:rPr b="0" lang="en" sz="306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 operates differently; it keeps all the rows from the left (or first) table, regardless of whether a match is found.</a:t>
              </a:r>
              <a:endParaRPr b="0" sz="306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3060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If no match exists in the right table, the database simply fills in the missing columns with </a:t>
              </a:r>
              <a:r>
                <a:rPr b="1" lang="en" sz="306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r>
                <a:rPr b="0" lang="en" sz="3060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 values.</a:t>
              </a:r>
              <a:endParaRPr b="0" sz="306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10" name="Google Shape;310;p24"/>
          <p:cNvCxnSpPr/>
          <p:nvPr/>
        </p:nvCxnSpPr>
        <p:spPr>
          <a:xfrm>
            <a:off x="1554480" y="12600432"/>
            <a:ext cx="21278100" cy="0"/>
          </a:xfrm>
          <a:prstGeom prst="straightConnector1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1" name="Google Shape;311;p24"/>
          <p:cNvSpPr txBox="1"/>
          <p:nvPr/>
        </p:nvSpPr>
        <p:spPr>
          <a:xfrm>
            <a:off x="1554480" y="12755880"/>
            <a:ext cx="12801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Transforming lives in Africa through research</a:t>
            </a:r>
            <a:endParaRPr b="0" sz="2600">
              <a:solidFill>
                <a:srgbClr val="6B6B6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5"/>
          <p:cNvSpPr/>
          <p:nvPr/>
        </p:nvSpPr>
        <p:spPr>
          <a:xfrm>
            <a:off x="0" y="0"/>
            <a:ext cx="24387000" cy="155400"/>
          </a:xfrm>
          <a:prstGeom prst="rect">
            <a:avLst/>
          </a:prstGeom>
          <a:solidFill>
            <a:srgbClr val="7BC14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7" name="Google Shape;31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854160" y="384048"/>
            <a:ext cx="1417200" cy="141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5"/>
          <p:cNvSpPr txBox="1"/>
          <p:nvPr/>
        </p:nvSpPr>
        <p:spPr>
          <a:xfrm>
            <a:off x="1554480" y="666750"/>
            <a:ext cx="197511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6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Putting It All Together: Step-by-Step Real OMOP Query Analysis</a:t>
            </a:r>
            <a:endParaRPr b="1" sz="496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5"/>
          <p:cNvSpPr txBox="1"/>
          <p:nvPr/>
        </p:nvSpPr>
        <p:spPr>
          <a:xfrm>
            <a:off x="1554480" y="2286000"/>
            <a:ext cx="20955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3145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Breakdown of a 7-step SQL query identifying the "top 10 most common conditions for female patients born after 1985".</a:t>
            </a:r>
            <a:endParaRPr b="0" i="1" sz="3145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0" name="Google Shape;320;p25"/>
          <p:cNvGrpSpPr/>
          <p:nvPr/>
        </p:nvGrpSpPr>
        <p:grpSpPr>
          <a:xfrm>
            <a:off x="1554480" y="3524250"/>
            <a:ext cx="10096650" cy="1619100"/>
            <a:chOff x="0" y="0"/>
            <a:chExt cx="10096650" cy="1619100"/>
          </a:xfrm>
        </p:grpSpPr>
        <p:sp>
          <p:nvSpPr>
            <p:cNvPr id="321" name="Google Shape;321;p25"/>
            <p:cNvSpPr/>
            <p:nvPr/>
          </p:nvSpPr>
          <p:spPr>
            <a:xfrm>
              <a:off x="0" y="0"/>
              <a:ext cx="1143000" cy="1143000"/>
            </a:xfrm>
            <a:prstGeom prst="rect">
              <a:avLst/>
            </a:prstGeom>
            <a:solidFill>
              <a:srgbClr val="44546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25"/>
            <p:cNvSpPr txBox="1"/>
            <p:nvPr/>
          </p:nvSpPr>
          <p:spPr>
            <a:xfrm>
              <a:off x="0" y="0"/>
              <a:ext cx="1143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4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1" sz="4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25"/>
            <p:cNvSpPr txBox="1"/>
            <p:nvPr/>
          </p:nvSpPr>
          <p:spPr>
            <a:xfrm>
              <a:off x="1428750" y="0"/>
              <a:ext cx="86679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7BC148"/>
                  </a:solidFill>
                  <a:latin typeface="Arial"/>
                  <a:ea typeface="Arial"/>
                  <a:cs typeface="Arial"/>
                  <a:sym typeface="Arial"/>
                </a:rPr>
                <a:t>1. FROM</a:t>
              </a:r>
              <a:endParaRPr b="1" sz="3600">
                <a:solidFill>
                  <a:srgbClr val="7BC14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30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Start by identifying the primary table (</a:t>
              </a:r>
              <a:r>
                <a:rPr b="1" lang="en" sz="30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rPr>
                <a:t>condition_occurrence</a:t>
              </a:r>
              <a:r>
                <a:rPr b="0" lang="en" sz="30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).</a:t>
              </a:r>
              <a:endParaRPr b="0" sz="30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4" name="Google Shape;324;p25"/>
          <p:cNvGrpSpPr/>
          <p:nvPr/>
        </p:nvGrpSpPr>
        <p:grpSpPr>
          <a:xfrm>
            <a:off x="1554480" y="5619750"/>
            <a:ext cx="10096650" cy="1619100"/>
            <a:chOff x="0" y="0"/>
            <a:chExt cx="10096650" cy="1619100"/>
          </a:xfrm>
        </p:grpSpPr>
        <p:sp>
          <p:nvSpPr>
            <p:cNvPr id="325" name="Google Shape;325;p25"/>
            <p:cNvSpPr/>
            <p:nvPr/>
          </p:nvSpPr>
          <p:spPr>
            <a:xfrm>
              <a:off x="0" y="0"/>
              <a:ext cx="1143000" cy="1143000"/>
            </a:xfrm>
            <a:prstGeom prst="rect">
              <a:avLst/>
            </a:prstGeom>
            <a:solidFill>
              <a:srgbClr val="44546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5"/>
            <p:cNvSpPr txBox="1"/>
            <p:nvPr/>
          </p:nvSpPr>
          <p:spPr>
            <a:xfrm>
              <a:off x="0" y="0"/>
              <a:ext cx="1143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4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1" sz="4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25"/>
            <p:cNvSpPr txBox="1"/>
            <p:nvPr/>
          </p:nvSpPr>
          <p:spPr>
            <a:xfrm>
              <a:off x="1428750" y="0"/>
              <a:ext cx="86679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7BC148"/>
                  </a:solidFill>
                  <a:latin typeface="Arial"/>
                  <a:ea typeface="Arial"/>
                  <a:cs typeface="Arial"/>
                  <a:sym typeface="Arial"/>
                </a:rPr>
                <a:t>2. JOIN</a:t>
              </a:r>
              <a:endParaRPr b="1" sz="3600">
                <a:solidFill>
                  <a:srgbClr val="7BC14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30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Connect to the </a:t>
              </a:r>
              <a:r>
                <a:rPr b="1" lang="en" sz="30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rPr>
                <a:t>person</a:t>
              </a:r>
              <a:r>
                <a:rPr b="0" lang="en" sz="30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 table for demographics, and the </a:t>
              </a:r>
              <a:r>
                <a:rPr b="1" lang="en" sz="30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rPr>
                <a:t>concept</a:t>
              </a:r>
              <a:r>
                <a:rPr b="0" lang="en" sz="30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 table to get condition names.</a:t>
              </a:r>
              <a:endParaRPr b="0" sz="30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8" name="Google Shape;328;p25"/>
          <p:cNvGrpSpPr/>
          <p:nvPr/>
        </p:nvGrpSpPr>
        <p:grpSpPr>
          <a:xfrm>
            <a:off x="1554480" y="7715250"/>
            <a:ext cx="10096650" cy="1619100"/>
            <a:chOff x="0" y="0"/>
            <a:chExt cx="10096650" cy="1619100"/>
          </a:xfrm>
        </p:grpSpPr>
        <p:sp>
          <p:nvSpPr>
            <p:cNvPr id="329" name="Google Shape;329;p25"/>
            <p:cNvSpPr/>
            <p:nvPr/>
          </p:nvSpPr>
          <p:spPr>
            <a:xfrm>
              <a:off x="0" y="0"/>
              <a:ext cx="1143000" cy="1143000"/>
            </a:xfrm>
            <a:prstGeom prst="rect">
              <a:avLst/>
            </a:prstGeom>
            <a:solidFill>
              <a:srgbClr val="44546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5"/>
            <p:cNvSpPr txBox="1"/>
            <p:nvPr/>
          </p:nvSpPr>
          <p:spPr>
            <a:xfrm>
              <a:off x="0" y="0"/>
              <a:ext cx="1143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4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1" sz="4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25"/>
            <p:cNvSpPr txBox="1"/>
            <p:nvPr/>
          </p:nvSpPr>
          <p:spPr>
            <a:xfrm>
              <a:off x="1428750" y="0"/>
              <a:ext cx="86679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7BC148"/>
                  </a:solidFill>
                  <a:latin typeface="Arial"/>
                  <a:ea typeface="Arial"/>
                  <a:cs typeface="Arial"/>
                  <a:sym typeface="Arial"/>
                </a:rPr>
                <a:t>3. WHERE</a:t>
              </a:r>
              <a:endParaRPr b="1" sz="3600">
                <a:solidFill>
                  <a:srgbClr val="7BC14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30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Filter individual rows for female patients (</a:t>
              </a:r>
              <a:r>
                <a:rPr b="1" lang="en" sz="30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rPr>
                <a:t>gender_concept_id</a:t>
              </a:r>
              <a:r>
                <a:rPr b="0" lang="en" sz="30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) and those born after 1985.</a:t>
              </a:r>
              <a:endParaRPr b="0" sz="30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2" name="Google Shape;332;p25"/>
          <p:cNvGrpSpPr/>
          <p:nvPr/>
        </p:nvGrpSpPr>
        <p:grpSpPr>
          <a:xfrm>
            <a:off x="1554480" y="9810750"/>
            <a:ext cx="10096650" cy="1619100"/>
            <a:chOff x="0" y="0"/>
            <a:chExt cx="10096650" cy="1619100"/>
          </a:xfrm>
        </p:grpSpPr>
        <p:sp>
          <p:nvSpPr>
            <p:cNvPr id="333" name="Google Shape;333;p25"/>
            <p:cNvSpPr/>
            <p:nvPr/>
          </p:nvSpPr>
          <p:spPr>
            <a:xfrm>
              <a:off x="0" y="0"/>
              <a:ext cx="1143000" cy="1143000"/>
            </a:xfrm>
            <a:prstGeom prst="rect">
              <a:avLst/>
            </a:prstGeom>
            <a:solidFill>
              <a:srgbClr val="44546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5"/>
            <p:cNvSpPr txBox="1"/>
            <p:nvPr/>
          </p:nvSpPr>
          <p:spPr>
            <a:xfrm>
              <a:off x="0" y="0"/>
              <a:ext cx="1143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4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4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25"/>
            <p:cNvSpPr txBox="1"/>
            <p:nvPr/>
          </p:nvSpPr>
          <p:spPr>
            <a:xfrm>
              <a:off x="1428750" y="0"/>
              <a:ext cx="86679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7BC148"/>
                  </a:solidFill>
                  <a:latin typeface="Arial"/>
                  <a:ea typeface="Arial"/>
                  <a:cs typeface="Arial"/>
                  <a:sym typeface="Arial"/>
                </a:rPr>
                <a:t>4. GROUP BY</a:t>
              </a:r>
              <a:endParaRPr b="1" sz="3600">
                <a:solidFill>
                  <a:srgbClr val="7BC14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30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Group the remaining records by the condition concept name.</a:t>
              </a:r>
              <a:endParaRPr b="0" sz="30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6" name="Google Shape;336;p25"/>
          <p:cNvGrpSpPr/>
          <p:nvPr/>
        </p:nvGrpSpPr>
        <p:grpSpPr>
          <a:xfrm>
            <a:off x="12573000" y="3524250"/>
            <a:ext cx="10096650" cy="1619100"/>
            <a:chOff x="0" y="0"/>
            <a:chExt cx="10096650" cy="1619100"/>
          </a:xfrm>
        </p:grpSpPr>
        <p:sp>
          <p:nvSpPr>
            <p:cNvPr id="337" name="Google Shape;337;p25"/>
            <p:cNvSpPr/>
            <p:nvPr/>
          </p:nvSpPr>
          <p:spPr>
            <a:xfrm>
              <a:off x="0" y="0"/>
              <a:ext cx="1143000" cy="1143000"/>
            </a:xfrm>
            <a:prstGeom prst="rect">
              <a:avLst/>
            </a:prstGeom>
            <a:solidFill>
              <a:srgbClr val="44546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5"/>
            <p:cNvSpPr txBox="1"/>
            <p:nvPr/>
          </p:nvSpPr>
          <p:spPr>
            <a:xfrm>
              <a:off x="0" y="0"/>
              <a:ext cx="1143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4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 b="1" sz="4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25"/>
            <p:cNvSpPr txBox="1"/>
            <p:nvPr/>
          </p:nvSpPr>
          <p:spPr>
            <a:xfrm>
              <a:off x="1428750" y="0"/>
              <a:ext cx="86679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7BC148"/>
                  </a:solidFill>
                  <a:latin typeface="Arial"/>
                  <a:ea typeface="Arial"/>
                  <a:cs typeface="Arial"/>
                  <a:sym typeface="Arial"/>
                </a:rPr>
                <a:t>5. SELECT / COUNT</a:t>
              </a:r>
              <a:endParaRPr b="1" sz="3600">
                <a:solidFill>
                  <a:srgbClr val="7BC14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30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Calculate the total count of occurrences for each grouped condition.</a:t>
              </a:r>
              <a:endParaRPr b="0" sz="30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0" name="Google Shape;340;p25"/>
          <p:cNvGrpSpPr/>
          <p:nvPr/>
        </p:nvGrpSpPr>
        <p:grpSpPr>
          <a:xfrm>
            <a:off x="12573000" y="5619750"/>
            <a:ext cx="10096650" cy="1619100"/>
            <a:chOff x="0" y="0"/>
            <a:chExt cx="10096650" cy="1619100"/>
          </a:xfrm>
        </p:grpSpPr>
        <p:sp>
          <p:nvSpPr>
            <p:cNvPr id="341" name="Google Shape;341;p25"/>
            <p:cNvSpPr/>
            <p:nvPr/>
          </p:nvSpPr>
          <p:spPr>
            <a:xfrm>
              <a:off x="0" y="0"/>
              <a:ext cx="1143000" cy="1143000"/>
            </a:xfrm>
            <a:prstGeom prst="rect">
              <a:avLst/>
            </a:prstGeom>
            <a:solidFill>
              <a:srgbClr val="44546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5"/>
            <p:cNvSpPr txBox="1"/>
            <p:nvPr/>
          </p:nvSpPr>
          <p:spPr>
            <a:xfrm>
              <a:off x="0" y="0"/>
              <a:ext cx="1143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4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06</a:t>
              </a:r>
              <a:endParaRPr b="1" sz="4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25"/>
            <p:cNvSpPr txBox="1"/>
            <p:nvPr/>
          </p:nvSpPr>
          <p:spPr>
            <a:xfrm>
              <a:off x="1428750" y="0"/>
              <a:ext cx="86679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7BC148"/>
                  </a:solidFill>
                  <a:latin typeface="Arial"/>
                  <a:ea typeface="Arial"/>
                  <a:cs typeface="Arial"/>
                  <a:sym typeface="Arial"/>
                </a:rPr>
                <a:t>6. ORDER BY</a:t>
              </a:r>
              <a:endParaRPr b="1" sz="3600">
                <a:solidFill>
                  <a:srgbClr val="7BC14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30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Sort the aggregated results in descending order based on the count.</a:t>
              </a:r>
              <a:endParaRPr b="0" sz="30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4" name="Google Shape;344;p25"/>
          <p:cNvGrpSpPr/>
          <p:nvPr/>
        </p:nvGrpSpPr>
        <p:grpSpPr>
          <a:xfrm>
            <a:off x="12573000" y="7715250"/>
            <a:ext cx="10096650" cy="1619100"/>
            <a:chOff x="0" y="0"/>
            <a:chExt cx="10096650" cy="1619100"/>
          </a:xfrm>
        </p:grpSpPr>
        <p:sp>
          <p:nvSpPr>
            <p:cNvPr id="345" name="Google Shape;345;p25"/>
            <p:cNvSpPr/>
            <p:nvPr/>
          </p:nvSpPr>
          <p:spPr>
            <a:xfrm>
              <a:off x="0" y="0"/>
              <a:ext cx="1143000" cy="1143000"/>
            </a:xfrm>
            <a:prstGeom prst="rect">
              <a:avLst/>
            </a:prstGeom>
            <a:solidFill>
              <a:srgbClr val="44546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5"/>
            <p:cNvSpPr txBox="1"/>
            <p:nvPr/>
          </p:nvSpPr>
          <p:spPr>
            <a:xfrm>
              <a:off x="0" y="0"/>
              <a:ext cx="1143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4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07</a:t>
              </a:r>
              <a:endParaRPr b="1" sz="4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25"/>
            <p:cNvSpPr txBox="1"/>
            <p:nvPr/>
          </p:nvSpPr>
          <p:spPr>
            <a:xfrm>
              <a:off x="1428750" y="0"/>
              <a:ext cx="86679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7BC148"/>
                  </a:solidFill>
                  <a:latin typeface="Arial"/>
                  <a:ea typeface="Arial"/>
                  <a:cs typeface="Arial"/>
                  <a:sym typeface="Arial"/>
                </a:rPr>
                <a:t>7. LIMIT</a:t>
              </a:r>
              <a:endParaRPr b="1" sz="3600">
                <a:solidFill>
                  <a:srgbClr val="7BC14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30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Restrict the final output to only the top 10 rows.</a:t>
              </a:r>
              <a:endParaRPr b="0" sz="30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8" name="Google Shape;348;p25"/>
          <p:cNvGrpSpPr/>
          <p:nvPr/>
        </p:nvGrpSpPr>
        <p:grpSpPr>
          <a:xfrm>
            <a:off x="12573000" y="9810750"/>
            <a:ext cx="10096500" cy="1285800"/>
            <a:chOff x="0" y="0"/>
            <a:chExt cx="10096500" cy="1285800"/>
          </a:xfrm>
        </p:grpSpPr>
        <p:sp>
          <p:nvSpPr>
            <p:cNvPr id="349" name="Google Shape;349;p25"/>
            <p:cNvSpPr/>
            <p:nvPr/>
          </p:nvSpPr>
          <p:spPr>
            <a:xfrm>
              <a:off x="0" y="0"/>
              <a:ext cx="10096500" cy="1285800"/>
            </a:xfrm>
            <a:prstGeom prst="rect">
              <a:avLst/>
            </a:prstGeom>
            <a:solidFill>
              <a:srgbClr val="F4F9E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5"/>
            <p:cNvSpPr/>
            <p:nvPr/>
          </p:nvSpPr>
          <p:spPr>
            <a:xfrm>
              <a:off x="0" y="0"/>
              <a:ext cx="95400" cy="1285800"/>
            </a:xfrm>
            <a:prstGeom prst="rect">
              <a:avLst/>
            </a:prstGeom>
            <a:solidFill>
              <a:srgbClr val="7BC14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5"/>
            <p:cNvSpPr txBox="1"/>
            <p:nvPr/>
          </p:nvSpPr>
          <p:spPr>
            <a:xfrm>
              <a:off x="285750" y="171450"/>
              <a:ext cx="9525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1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rPr>
                <a:t>EXECUTION GOAL</a:t>
              </a:r>
              <a:endParaRPr b="1" sz="21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96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Extract precise, cohort-level disease prevalence using standardized OMOP concepts.</a:t>
              </a:r>
              <a:endParaRPr b="0" sz="196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52" name="Google Shape;352;p25"/>
          <p:cNvCxnSpPr/>
          <p:nvPr/>
        </p:nvCxnSpPr>
        <p:spPr>
          <a:xfrm>
            <a:off x="1554480" y="12600432"/>
            <a:ext cx="21278100" cy="0"/>
          </a:xfrm>
          <a:prstGeom prst="straightConnector1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3" name="Google Shape;353;p25"/>
          <p:cNvSpPr txBox="1"/>
          <p:nvPr/>
        </p:nvSpPr>
        <p:spPr>
          <a:xfrm>
            <a:off x="1554480" y="12755880"/>
            <a:ext cx="12801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Transforming lives in Africa through research</a:t>
            </a:r>
            <a:endParaRPr b="0" sz="2600">
              <a:solidFill>
                <a:srgbClr val="6B6B6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854160" y="384048"/>
            <a:ext cx="1417200" cy="141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26"/>
          <p:cNvPicPr preferRelativeResize="0"/>
          <p:nvPr/>
        </p:nvPicPr>
        <p:blipFill rotWithShape="1">
          <a:blip r:embed="rId4">
            <a:alphaModFix/>
          </a:blip>
          <a:srcRect b="0" l="20" r="2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26"/>
          <p:cNvSpPr/>
          <p:nvPr/>
        </p:nvSpPr>
        <p:spPr>
          <a:xfrm>
            <a:off x="0" y="0"/>
            <a:ext cx="24387000" cy="155400"/>
          </a:xfrm>
          <a:prstGeom prst="rect">
            <a:avLst/>
          </a:prstGeom>
          <a:solidFill>
            <a:srgbClr val="7BC14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6"/>
          <p:cNvSpPr txBox="1"/>
          <p:nvPr/>
        </p:nvSpPr>
        <p:spPr>
          <a:xfrm>
            <a:off x="1554480" y="571500"/>
            <a:ext cx="19751100" cy="9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5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SQL Execution Order: Written vs Processing Sequence</a:t>
            </a:r>
            <a:endParaRPr b="1" sz="555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6"/>
          <p:cNvSpPr txBox="1"/>
          <p:nvPr/>
        </p:nvSpPr>
        <p:spPr>
          <a:xfrm>
            <a:off x="1554480" y="1524000"/>
            <a:ext cx="212781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There is a significant difference between the order in which you write a SQL query and how the database processes it.</a:t>
            </a:r>
            <a:endParaRPr b="0" sz="28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3" name="Google Shape;363;p26"/>
          <p:cNvGrpSpPr/>
          <p:nvPr/>
        </p:nvGrpSpPr>
        <p:grpSpPr>
          <a:xfrm>
            <a:off x="1554480" y="2238375"/>
            <a:ext cx="8382000" cy="8048775"/>
            <a:chOff x="0" y="0"/>
            <a:chExt cx="8382000" cy="8048775"/>
          </a:xfrm>
        </p:grpSpPr>
        <p:sp>
          <p:nvSpPr>
            <p:cNvPr id="364" name="Google Shape;364;p26"/>
            <p:cNvSpPr/>
            <p:nvPr/>
          </p:nvSpPr>
          <p:spPr>
            <a:xfrm>
              <a:off x="0" y="0"/>
              <a:ext cx="8382000" cy="619200"/>
            </a:xfrm>
            <a:prstGeom prst="roundRect">
              <a:avLst>
                <a:gd fmla="val 12307" name="adj"/>
              </a:avLst>
            </a:prstGeom>
            <a:solidFill>
              <a:srgbClr val="44546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26"/>
            <p:cNvSpPr txBox="1"/>
            <p:nvPr/>
          </p:nvSpPr>
          <p:spPr>
            <a:xfrm>
              <a:off x="0" y="0"/>
              <a:ext cx="8382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1. Written Order (Syntax)</a:t>
              </a:r>
              <a:endParaRPr b="1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26"/>
            <p:cNvSpPr/>
            <p:nvPr/>
          </p:nvSpPr>
          <p:spPr>
            <a:xfrm>
              <a:off x="0" y="714375"/>
              <a:ext cx="8382000" cy="7334400"/>
            </a:xfrm>
            <a:prstGeom prst="roundRect">
              <a:avLst>
                <a:gd fmla="val 1038" name="adj"/>
              </a:avLst>
            </a:prstGeom>
            <a:solidFill>
              <a:srgbClr val="FFFFFF"/>
            </a:solidFill>
            <a:ln cap="flat" cmpd="sng" w="190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6"/>
            <p:cNvSpPr/>
            <p:nvPr/>
          </p:nvSpPr>
          <p:spPr>
            <a:xfrm>
              <a:off x="285750" y="904875"/>
              <a:ext cx="7810500" cy="714300"/>
            </a:xfrm>
            <a:prstGeom prst="roundRect">
              <a:avLst>
                <a:gd fmla="val 8000" name="adj"/>
              </a:avLst>
            </a:prstGeom>
            <a:solidFill>
              <a:srgbClr val="7BC14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26"/>
            <p:cNvSpPr txBox="1"/>
            <p:nvPr/>
          </p:nvSpPr>
          <p:spPr>
            <a:xfrm>
              <a:off x="285750" y="904875"/>
              <a:ext cx="7810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1. SELECT</a:t>
              </a:r>
              <a:endParaRPr b="1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26"/>
            <p:cNvSpPr/>
            <p:nvPr/>
          </p:nvSpPr>
          <p:spPr>
            <a:xfrm>
              <a:off x="285750" y="1714500"/>
              <a:ext cx="7810500" cy="714300"/>
            </a:xfrm>
            <a:prstGeom prst="roundRect">
              <a:avLst>
                <a:gd fmla="val 8000" name="adj"/>
              </a:avLst>
            </a:prstGeom>
            <a:solidFill>
              <a:srgbClr val="F4F9EE"/>
            </a:solidFill>
            <a:ln cap="flat" cmpd="sng" w="14300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6"/>
            <p:cNvSpPr txBox="1"/>
            <p:nvPr/>
          </p:nvSpPr>
          <p:spPr>
            <a:xfrm>
              <a:off x="285750" y="1714500"/>
              <a:ext cx="7810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rPr>
                <a:t>2. FROM</a:t>
              </a:r>
              <a:endParaRPr b="1" sz="28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26"/>
            <p:cNvSpPr/>
            <p:nvPr/>
          </p:nvSpPr>
          <p:spPr>
            <a:xfrm>
              <a:off x="285750" y="2524125"/>
              <a:ext cx="7810500" cy="714300"/>
            </a:xfrm>
            <a:prstGeom prst="roundRect">
              <a:avLst>
                <a:gd fmla="val 8000" name="adj"/>
              </a:avLst>
            </a:prstGeom>
            <a:solidFill>
              <a:srgbClr val="F4F9EE"/>
            </a:solidFill>
            <a:ln cap="flat" cmpd="sng" w="14300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26"/>
            <p:cNvSpPr txBox="1"/>
            <p:nvPr/>
          </p:nvSpPr>
          <p:spPr>
            <a:xfrm>
              <a:off x="285750" y="2524125"/>
              <a:ext cx="7810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rPr>
                <a:t>3. JOIN</a:t>
              </a:r>
              <a:endParaRPr b="1" sz="28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26"/>
            <p:cNvSpPr/>
            <p:nvPr/>
          </p:nvSpPr>
          <p:spPr>
            <a:xfrm>
              <a:off x="285750" y="3333750"/>
              <a:ext cx="7810500" cy="714300"/>
            </a:xfrm>
            <a:prstGeom prst="roundRect">
              <a:avLst>
                <a:gd fmla="val 8000" name="adj"/>
              </a:avLst>
            </a:prstGeom>
            <a:solidFill>
              <a:srgbClr val="F4F9EE"/>
            </a:solidFill>
            <a:ln cap="flat" cmpd="sng" w="14300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6"/>
            <p:cNvSpPr txBox="1"/>
            <p:nvPr/>
          </p:nvSpPr>
          <p:spPr>
            <a:xfrm>
              <a:off x="285750" y="3333750"/>
              <a:ext cx="7810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rPr>
                <a:t>4. WHERE</a:t>
              </a:r>
              <a:endParaRPr b="1" sz="28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26"/>
            <p:cNvSpPr/>
            <p:nvPr/>
          </p:nvSpPr>
          <p:spPr>
            <a:xfrm>
              <a:off x="285750" y="4143375"/>
              <a:ext cx="7810500" cy="714300"/>
            </a:xfrm>
            <a:prstGeom prst="roundRect">
              <a:avLst>
                <a:gd fmla="val 8000" name="adj"/>
              </a:avLst>
            </a:prstGeom>
            <a:solidFill>
              <a:srgbClr val="F4F9EE"/>
            </a:solidFill>
            <a:ln cap="flat" cmpd="sng" w="14300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6"/>
            <p:cNvSpPr txBox="1"/>
            <p:nvPr/>
          </p:nvSpPr>
          <p:spPr>
            <a:xfrm>
              <a:off x="285750" y="4143375"/>
              <a:ext cx="7810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rPr>
                <a:t>5. GROUP BY</a:t>
              </a:r>
              <a:endParaRPr b="1" sz="28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26"/>
            <p:cNvSpPr/>
            <p:nvPr/>
          </p:nvSpPr>
          <p:spPr>
            <a:xfrm>
              <a:off x="285750" y="4953000"/>
              <a:ext cx="7810500" cy="714300"/>
            </a:xfrm>
            <a:prstGeom prst="roundRect">
              <a:avLst>
                <a:gd fmla="val 8000" name="adj"/>
              </a:avLst>
            </a:prstGeom>
            <a:solidFill>
              <a:srgbClr val="F4F9EE"/>
            </a:solidFill>
            <a:ln cap="flat" cmpd="sng" w="14300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6"/>
            <p:cNvSpPr txBox="1"/>
            <p:nvPr/>
          </p:nvSpPr>
          <p:spPr>
            <a:xfrm>
              <a:off x="285750" y="4953000"/>
              <a:ext cx="7810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rPr>
                <a:t>6. HAVING</a:t>
              </a:r>
              <a:endParaRPr b="1" sz="28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26"/>
            <p:cNvSpPr/>
            <p:nvPr/>
          </p:nvSpPr>
          <p:spPr>
            <a:xfrm>
              <a:off x="285750" y="5762625"/>
              <a:ext cx="7810500" cy="714300"/>
            </a:xfrm>
            <a:prstGeom prst="roundRect">
              <a:avLst>
                <a:gd fmla="val 8000" name="adj"/>
              </a:avLst>
            </a:prstGeom>
            <a:solidFill>
              <a:srgbClr val="F4F9EE"/>
            </a:solidFill>
            <a:ln cap="flat" cmpd="sng" w="14300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26"/>
            <p:cNvSpPr txBox="1"/>
            <p:nvPr/>
          </p:nvSpPr>
          <p:spPr>
            <a:xfrm>
              <a:off x="285750" y="5762625"/>
              <a:ext cx="7810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rPr>
                <a:t>7. ORDER BY</a:t>
              </a:r>
              <a:endParaRPr b="1" sz="28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26"/>
            <p:cNvSpPr/>
            <p:nvPr/>
          </p:nvSpPr>
          <p:spPr>
            <a:xfrm>
              <a:off x="285750" y="6572250"/>
              <a:ext cx="7810500" cy="714300"/>
            </a:xfrm>
            <a:prstGeom prst="roundRect">
              <a:avLst>
                <a:gd fmla="val 8000" name="adj"/>
              </a:avLst>
            </a:prstGeom>
            <a:solidFill>
              <a:srgbClr val="F4F9EE"/>
            </a:solidFill>
            <a:ln cap="flat" cmpd="sng" w="14300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26"/>
            <p:cNvSpPr txBox="1"/>
            <p:nvPr/>
          </p:nvSpPr>
          <p:spPr>
            <a:xfrm>
              <a:off x="285750" y="6572250"/>
              <a:ext cx="7810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rPr>
                <a:t>8. LIMIT</a:t>
              </a:r>
              <a:endParaRPr b="1" sz="28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3" name="Google Shape;383;p26"/>
          <p:cNvGrpSpPr/>
          <p:nvPr/>
        </p:nvGrpSpPr>
        <p:grpSpPr>
          <a:xfrm>
            <a:off x="10641330" y="2238375"/>
            <a:ext cx="12192000" cy="8048775"/>
            <a:chOff x="0" y="0"/>
            <a:chExt cx="12192000" cy="8048775"/>
          </a:xfrm>
        </p:grpSpPr>
        <p:sp>
          <p:nvSpPr>
            <p:cNvPr id="384" name="Google Shape;384;p26"/>
            <p:cNvSpPr/>
            <p:nvPr/>
          </p:nvSpPr>
          <p:spPr>
            <a:xfrm>
              <a:off x="0" y="0"/>
              <a:ext cx="12192000" cy="619200"/>
            </a:xfrm>
            <a:prstGeom prst="roundRect">
              <a:avLst>
                <a:gd fmla="val 12307" name="adj"/>
              </a:avLst>
            </a:prstGeom>
            <a:solidFill>
              <a:srgbClr val="7BC14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26"/>
            <p:cNvSpPr txBox="1"/>
            <p:nvPr/>
          </p:nvSpPr>
          <p:spPr>
            <a:xfrm>
              <a:off x="0" y="0"/>
              <a:ext cx="12192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2. Database Processing Sequence (Execution Flow)</a:t>
              </a:r>
              <a:endParaRPr b="1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26"/>
            <p:cNvSpPr/>
            <p:nvPr/>
          </p:nvSpPr>
          <p:spPr>
            <a:xfrm>
              <a:off x="0" y="714375"/>
              <a:ext cx="12192000" cy="7334400"/>
            </a:xfrm>
            <a:prstGeom prst="roundRect">
              <a:avLst>
                <a:gd fmla="val 1038" name="adj"/>
              </a:avLst>
            </a:prstGeom>
            <a:solidFill>
              <a:srgbClr val="FFFFFF"/>
            </a:solidFill>
            <a:ln cap="flat" cmpd="sng" w="19050">
              <a:solidFill>
                <a:srgbClr val="7BC14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26"/>
            <p:cNvSpPr/>
            <p:nvPr/>
          </p:nvSpPr>
          <p:spPr>
            <a:xfrm>
              <a:off x="285750" y="904875"/>
              <a:ext cx="11620500" cy="714300"/>
            </a:xfrm>
            <a:prstGeom prst="roundRect">
              <a:avLst>
                <a:gd fmla="val 8000" name="adj"/>
              </a:avLst>
            </a:prstGeom>
            <a:solidFill>
              <a:srgbClr val="F4F9EE"/>
            </a:solidFill>
            <a:ln cap="flat" cmpd="sng" w="14300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26"/>
            <p:cNvSpPr/>
            <p:nvPr/>
          </p:nvSpPr>
          <p:spPr>
            <a:xfrm>
              <a:off x="400050" y="1000125"/>
              <a:ext cx="571500" cy="523800"/>
            </a:xfrm>
            <a:prstGeom prst="roundRect">
              <a:avLst>
                <a:gd fmla="val 10909" name="adj"/>
              </a:avLst>
            </a:prstGeom>
            <a:solidFill>
              <a:srgbClr val="44546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26"/>
            <p:cNvSpPr txBox="1"/>
            <p:nvPr/>
          </p:nvSpPr>
          <p:spPr>
            <a:xfrm>
              <a:off x="400050" y="1000125"/>
              <a:ext cx="571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26"/>
            <p:cNvSpPr/>
            <p:nvPr/>
          </p:nvSpPr>
          <p:spPr>
            <a:xfrm>
              <a:off x="1066800" y="1000125"/>
              <a:ext cx="2190900" cy="523800"/>
            </a:xfrm>
            <a:prstGeom prst="roundRect">
              <a:avLst>
                <a:gd fmla="val 10909" name="adj"/>
              </a:avLst>
            </a:prstGeom>
            <a:solidFill>
              <a:srgbClr val="44546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6"/>
            <p:cNvSpPr txBox="1"/>
            <p:nvPr/>
          </p:nvSpPr>
          <p:spPr>
            <a:xfrm>
              <a:off x="1066800" y="1000125"/>
              <a:ext cx="21909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FROM</a:t>
              </a:r>
              <a:endParaRPr b="1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26"/>
            <p:cNvSpPr txBox="1"/>
            <p:nvPr/>
          </p:nvSpPr>
          <p:spPr>
            <a:xfrm>
              <a:off x="3429000" y="904875"/>
              <a:ext cx="8286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6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Find the data source</a:t>
              </a:r>
              <a:endParaRPr b="0" sz="26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26"/>
            <p:cNvSpPr/>
            <p:nvPr/>
          </p:nvSpPr>
          <p:spPr>
            <a:xfrm>
              <a:off x="285750" y="1714500"/>
              <a:ext cx="11620500" cy="714300"/>
            </a:xfrm>
            <a:prstGeom prst="roundRect">
              <a:avLst>
                <a:gd fmla="val 8000" name="adj"/>
              </a:avLst>
            </a:prstGeom>
            <a:solidFill>
              <a:srgbClr val="F4F9EE"/>
            </a:solidFill>
            <a:ln cap="flat" cmpd="sng" w="14300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6"/>
            <p:cNvSpPr/>
            <p:nvPr/>
          </p:nvSpPr>
          <p:spPr>
            <a:xfrm>
              <a:off x="400050" y="1809750"/>
              <a:ext cx="571500" cy="523800"/>
            </a:xfrm>
            <a:prstGeom prst="roundRect">
              <a:avLst>
                <a:gd fmla="val 10909" name="adj"/>
              </a:avLst>
            </a:prstGeom>
            <a:solidFill>
              <a:srgbClr val="44546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26"/>
            <p:cNvSpPr txBox="1"/>
            <p:nvPr/>
          </p:nvSpPr>
          <p:spPr>
            <a:xfrm>
              <a:off x="400050" y="1809750"/>
              <a:ext cx="571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26"/>
            <p:cNvSpPr/>
            <p:nvPr/>
          </p:nvSpPr>
          <p:spPr>
            <a:xfrm>
              <a:off x="1066800" y="1809750"/>
              <a:ext cx="2190900" cy="523800"/>
            </a:xfrm>
            <a:prstGeom prst="roundRect">
              <a:avLst>
                <a:gd fmla="val 10909" name="adj"/>
              </a:avLst>
            </a:prstGeom>
            <a:solidFill>
              <a:srgbClr val="44546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6"/>
            <p:cNvSpPr txBox="1"/>
            <p:nvPr/>
          </p:nvSpPr>
          <p:spPr>
            <a:xfrm>
              <a:off x="1066800" y="1809750"/>
              <a:ext cx="21909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JOIN</a:t>
              </a:r>
              <a:endParaRPr b="1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26"/>
            <p:cNvSpPr txBox="1"/>
            <p:nvPr/>
          </p:nvSpPr>
          <p:spPr>
            <a:xfrm>
              <a:off x="3429000" y="1714500"/>
              <a:ext cx="8286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6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Combine tables</a:t>
              </a:r>
              <a:endParaRPr b="0" sz="26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26"/>
            <p:cNvSpPr/>
            <p:nvPr/>
          </p:nvSpPr>
          <p:spPr>
            <a:xfrm>
              <a:off x="285750" y="2524125"/>
              <a:ext cx="11620500" cy="714300"/>
            </a:xfrm>
            <a:prstGeom prst="roundRect">
              <a:avLst>
                <a:gd fmla="val 8000" name="adj"/>
              </a:avLst>
            </a:prstGeom>
            <a:solidFill>
              <a:srgbClr val="F4F9EE"/>
            </a:solidFill>
            <a:ln cap="flat" cmpd="sng" w="14300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26"/>
            <p:cNvSpPr/>
            <p:nvPr/>
          </p:nvSpPr>
          <p:spPr>
            <a:xfrm>
              <a:off x="400050" y="2619375"/>
              <a:ext cx="571500" cy="523800"/>
            </a:xfrm>
            <a:prstGeom prst="roundRect">
              <a:avLst>
                <a:gd fmla="val 10909" name="adj"/>
              </a:avLst>
            </a:prstGeom>
            <a:solidFill>
              <a:srgbClr val="44546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26"/>
            <p:cNvSpPr txBox="1"/>
            <p:nvPr/>
          </p:nvSpPr>
          <p:spPr>
            <a:xfrm>
              <a:off x="400050" y="2619375"/>
              <a:ext cx="571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26"/>
            <p:cNvSpPr/>
            <p:nvPr/>
          </p:nvSpPr>
          <p:spPr>
            <a:xfrm>
              <a:off x="1066800" y="2619375"/>
              <a:ext cx="2190900" cy="523800"/>
            </a:xfrm>
            <a:prstGeom prst="roundRect">
              <a:avLst>
                <a:gd fmla="val 10909" name="adj"/>
              </a:avLst>
            </a:prstGeom>
            <a:solidFill>
              <a:srgbClr val="44546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6"/>
            <p:cNvSpPr txBox="1"/>
            <p:nvPr/>
          </p:nvSpPr>
          <p:spPr>
            <a:xfrm>
              <a:off x="1066800" y="2619375"/>
              <a:ext cx="21909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WHERE</a:t>
              </a:r>
              <a:endParaRPr b="1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26"/>
            <p:cNvSpPr txBox="1"/>
            <p:nvPr/>
          </p:nvSpPr>
          <p:spPr>
            <a:xfrm>
              <a:off x="3429000" y="2524125"/>
              <a:ext cx="8286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6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Filter raw rows</a:t>
              </a:r>
              <a:endParaRPr b="0" sz="26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26"/>
            <p:cNvSpPr/>
            <p:nvPr/>
          </p:nvSpPr>
          <p:spPr>
            <a:xfrm>
              <a:off x="285750" y="3333750"/>
              <a:ext cx="11620500" cy="714300"/>
            </a:xfrm>
            <a:prstGeom prst="roundRect">
              <a:avLst>
                <a:gd fmla="val 8000" name="adj"/>
              </a:avLst>
            </a:prstGeom>
            <a:solidFill>
              <a:srgbClr val="F4F9EE"/>
            </a:solidFill>
            <a:ln cap="flat" cmpd="sng" w="14300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26"/>
            <p:cNvSpPr/>
            <p:nvPr/>
          </p:nvSpPr>
          <p:spPr>
            <a:xfrm>
              <a:off x="400050" y="3429000"/>
              <a:ext cx="571500" cy="523800"/>
            </a:xfrm>
            <a:prstGeom prst="roundRect">
              <a:avLst>
                <a:gd fmla="val 10909" name="adj"/>
              </a:avLst>
            </a:prstGeom>
            <a:solidFill>
              <a:srgbClr val="44546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26"/>
            <p:cNvSpPr txBox="1"/>
            <p:nvPr/>
          </p:nvSpPr>
          <p:spPr>
            <a:xfrm>
              <a:off x="400050" y="3429000"/>
              <a:ext cx="571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26"/>
            <p:cNvSpPr/>
            <p:nvPr/>
          </p:nvSpPr>
          <p:spPr>
            <a:xfrm>
              <a:off x="1066800" y="3429000"/>
              <a:ext cx="2190900" cy="523800"/>
            </a:xfrm>
            <a:prstGeom prst="roundRect">
              <a:avLst>
                <a:gd fmla="val 10909" name="adj"/>
              </a:avLst>
            </a:prstGeom>
            <a:solidFill>
              <a:srgbClr val="44546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26"/>
            <p:cNvSpPr txBox="1"/>
            <p:nvPr/>
          </p:nvSpPr>
          <p:spPr>
            <a:xfrm>
              <a:off x="1066800" y="3429000"/>
              <a:ext cx="21909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GROUP BY</a:t>
              </a:r>
              <a:endParaRPr b="1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26"/>
            <p:cNvSpPr txBox="1"/>
            <p:nvPr/>
          </p:nvSpPr>
          <p:spPr>
            <a:xfrm>
              <a:off x="3429000" y="3333750"/>
              <a:ext cx="8286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6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Aggregate data</a:t>
              </a:r>
              <a:endParaRPr b="0" sz="26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26"/>
            <p:cNvSpPr/>
            <p:nvPr/>
          </p:nvSpPr>
          <p:spPr>
            <a:xfrm>
              <a:off x="285750" y="4143375"/>
              <a:ext cx="11620500" cy="714300"/>
            </a:xfrm>
            <a:prstGeom prst="roundRect">
              <a:avLst>
                <a:gd fmla="val 8000" name="adj"/>
              </a:avLst>
            </a:prstGeom>
            <a:solidFill>
              <a:srgbClr val="F4F9EE"/>
            </a:solidFill>
            <a:ln cap="flat" cmpd="sng" w="14300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26"/>
            <p:cNvSpPr/>
            <p:nvPr/>
          </p:nvSpPr>
          <p:spPr>
            <a:xfrm>
              <a:off x="400050" y="4238625"/>
              <a:ext cx="571500" cy="523800"/>
            </a:xfrm>
            <a:prstGeom prst="roundRect">
              <a:avLst>
                <a:gd fmla="val 10909" name="adj"/>
              </a:avLst>
            </a:prstGeom>
            <a:solidFill>
              <a:srgbClr val="44546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26"/>
            <p:cNvSpPr txBox="1"/>
            <p:nvPr/>
          </p:nvSpPr>
          <p:spPr>
            <a:xfrm>
              <a:off x="400050" y="4238625"/>
              <a:ext cx="571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26"/>
            <p:cNvSpPr/>
            <p:nvPr/>
          </p:nvSpPr>
          <p:spPr>
            <a:xfrm>
              <a:off x="1066800" y="4238625"/>
              <a:ext cx="2190900" cy="523800"/>
            </a:xfrm>
            <a:prstGeom prst="roundRect">
              <a:avLst>
                <a:gd fmla="val 10909" name="adj"/>
              </a:avLst>
            </a:prstGeom>
            <a:solidFill>
              <a:srgbClr val="44546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26"/>
            <p:cNvSpPr txBox="1"/>
            <p:nvPr/>
          </p:nvSpPr>
          <p:spPr>
            <a:xfrm>
              <a:off x="1066800" y="4238625"/>
              <a:ext cx="21909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HAVING</a:t>
              </a:r>
              <a:endParaRPr b="1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26"/>
            <p:cNvSpPr txBox="1"/>
            <p:nvPr/>
          </p:nvSpPr>
          <p:spPr>
            <a:xfrm>
              <a:off x="3429000" y="4143375"/>
              <a:ext cx="8286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6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Filter aggregated groups</a:t>
              </a:r>
              <a:endParaRPr b="0" sz="26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26"/>
            <p:cNvSpPr/>
            <p:nvPr/>
          </p:nvSpPr>
          <p:spPr>
            <a:xfrm>
              <a:off x="285750" y="4953000"/>
              <a:ext cx="11620500" cy="714300"/>
            </a:xfrm>
            <a:prstGeom prst="roundRect">
              <a:avLst>
                <a:gd fmla="val 8000" name="adj"/>
              </a:avLst>
            </a:prstGeom>
            <a:solidFill>
              <a:srgbClr val="F4F9EE"/>
            </a:solidFill>
            <a:ln cap="flat" cmpd="sng" w="19050">
              <a:solidFill>
                <a:srgbClr val="7BC14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26"/>
            <p:cNvSpPr/>
            <p:nvPr/>
          </p:nvSpPr>
          <p:spPr>
            <a:xfrm>
              <a:off x="400050" y="5048250"/>
              <a:ext cx="571500" cy="523800"/>
            </a:xfrm>
            <a:prstGeom prst="roundRect">
              <a:avLst>
                <a:gd fmla="val 10909" name="adj"/>
              </a:avLst>
            </a:prstGeom>
            <a:solidFill>
              <a:srgbClr val="7BC14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26"/>
            <p:cNvSpPr txBox="1"/>
            <p:nvPr/>
          </p:nvSpPr>
          <p:spPr>
            <a:xfrm>
              <a:off x="400050" y="5048250"/>
              <a:ext cx="571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26"/>
            <p:cNvSpPr/>
            <p:nvPr/>
          </p:nvSpPr>
          <p:spPr>
            <a:xfrm>
              <a:off x="1066800" y="5048250"/>
              <a:ext cx="2190900" cy="523800"/>
            </a:xfrm>
            <a:prstGeom prst="roundRect">
              <a:avLst>
                <a:gd fmla="val 10909" name="adj"/>
              </a:avLst>
            </a:prstGeom>
            <a:solidFill>
              <a:srgbClr val="7BC14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26"/>
            <p:cNvSpPr txBox="1"/>
            <p:nvPr/>
          </p:nvSpPr>
          <p:spPr>
            <a:xfrm>
              <a:off x="1066800" y="5048250"/>
              <a:ext cx="21909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SELECT</a:t>
              </a:r>
              <a:endParaRPr b="1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26"/>
            <p:cNvSpPr txBox="1"/>
            <p:nvPr/>
          </p:nvSpPr>
          <p:spPr>
            <a:xfrm>
              <a:off x="3429000" y="4953000"/>
              <a:ext cx="8286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600">
                  <a:solidFill>
                    <a:srgbClr val="7BC148"/>
                  </a:solidFill>
                  <a:latin typeface="Arial"/>
                  <a:ea typeface="Arial"/>
                  <a:cs typeface="Arial"/>
                  <a:sym typeface="Arial"/>
                </a:rPr>
                <a:t>Choose the specific columns to display</a:t>
              </a:r>
              <a:endParaRPr b="0" sz="26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26"/>
            <p:cNvSpPr/>
            <p:nvPr/>
          </p:nvSpPr>
          <p:spPr>
            <a:xfrm>
              <a:off x="285750" y="5762625"/>
              <a:ext cx="11620500" cy="714300"/>
            </a:xfrm>
            <a:prstGeom prst="roundRect">
              <a:avLst>
                <a:gd fmla="val 8000" name="adj"/>
              </a:avLst>
            </a:prstGeom>
            <a:solidFill>
              <a:srgbClr val="F4F9EE"/>
            </a:solidFill>
            <a:ln cap="flat" cmpd="sng" w="14300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26"/>
            <p:cNvSpPr/>
            <p:nvPr/>
          </p:nvSpPr>
          <p:spPr>
            <a:xfrm>
              <a:off x="400050" y="5857875"/>
              <a:ext cx="571500" cy="523800"/>
            </a:xfrm>
            <a:prstGeom prst="roundRect">
              <a:avLst>
                <a:gd fmla="val 10909" name="adj"/>
              </a:avLst>
            </a:prstGeom>
            <a:solidFill>
              <a:srgbClr val="44546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26"/>
            <p:cNvSpPr txBox="1"/>
            <p:nvPr/>
          </p:nvSpPr>
          <p:spPr>
            <a:xfrm>
              <a:off x="400050" y="5857875"/>
              <a:ext cx="571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1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26"/>
            <p:cNvSpPr/>
            <p:nvPr/>
          </p:nvSpPr>
          <p:spPr>
            <a:xfrm>
              <a:off x="1066800" y="5857875"/>
              <a:ext cx="2190900" cy="523800"/>
            </a:xfrm>
            <a:prstGeom prst="roundRect">
              <a:avLst>
                <a:gd fmla="val 10909" name="adj"/>
              </a:avLst>
            </a:prstGeom>
            <a:solidFill>
              <a:srgbClr val="44546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26"/>
            <p:cNvSpPr txBox="1"/>
            <p:nvPr/>
          </p:nvSpPr>
          <p:spPr>
            <a:xfrm>
              <a:off x="1066800" y="5857875"/>
              <a:ext cx="21909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ORDER BY</a:t>
              </a:r>
              <a:endParaRPr b="1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26"/>
            <p:cNvSpPr txBox="1"/>
            <p:nvPr/>
          </p:nvSpPr>
          <p:spPr>
            <a:xfrm>
              <a:off x="3429000" y="5762625"/>
              <a:ext cx="8286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6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Sort the final output</a:t>
              </a:r>
              <a:endParaRPr b="0" sz="26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26"/>
            <p:cNvSpPr/>
            <p:nvPr/>
          </p:nvSpPr>
          <p:spPr>
            <a:xfrm>
              <a:off x="285750" y="6572250"/>
              <a:ext cx="11620500" cy="714300"/>
            </a:xfrm>
            <a:prstGeom prst="roundRect">
              <a:avLst>
                <a:gd fmla="val 8000" name="adj"/>
              </a:avLst>
            </a:prstGeom>
            <a:solidFill>
              <a:srgbClr val="F4F9EE"/>
            </a:solidFill>
            <a:ln cap="flat" cmpd="sng" w="14300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26"/>
            <p:cNvSpPr/>
            <p:nvPr/>
          </p:nvSpPr>
          <p:spPr>
            <a:xfrm>
              <a:off x="400050" y="6667500"/>
              <a:ext cx="571500" cy="523800"/>
            </a:xfrm>
            <a:prstGeom prst="roundRect">
              <a:avLst>
                <a:gd fmla="val 10909" name="adj"/>
              </a:avLst>
            </a:prstGeom>
            <a:solidFill>
              <a:srgbClr val="44546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26"/>
            <p:cNvSpPr txBox="1"/>
            <p:nvPr/>
          </p:nvSpPr>
          <p:spPr>
            <a:xfrm>
              <a:off x="400050" y="6667500"/>
              <a:ext cx="571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1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26"/>
            <p:cNvSpPr/>
            <p:nvPr/>
          </p:nvSpPr>
          <p:spPr>
            <a:xfrm>
              <a:off x="1066800" y="6667500"/>
              <a:ext cx="2190900" cy="523800"/>
            </a:xfrm>
            <a:prstGeom prst="roundRect">
              <a:avLst>
                <a:gd fmla="val 10909" name="adj"/>
              </a:avLst>
            </a:prstGeom>
            <a:solidFill>
              <a:srgbClr val="44546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26"/>
            <p:cNvSpPr txBox="1"/>
            <p:nvPr/>
          </p:nvSpPr>
          <p:spPr>
            <a:xfrm>
              <a:off x="1066800" y="6667500"/>
              <a:ext cx="21909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LIMIT</a:t>
              </a:r>
              <a:endParaRPr b="1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26"/>
            <p:cNvSpPr txBox="1"/>
            <p:nvPr/>
          </p:nvSpPr>
          <p:spPr>
            <a:xfrm>
              <a:off x="3429000" y="6572250"/>
              <a:ext cx="8286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6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Restrict the row count</a:t>
              </a:r>
              <a:endParaRPr b="0" sz="26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5" name="Google Shape;435;p26"/>
          <p:cNvGrpSpPr/>
          <p:nvPr/>
        </p:nvGrpSpPr>
        <p:grpSpPr>
          <a:xfrm>
            <a:off x="1554480" y="10525125"/>
            <a:ext cx="21278100" cy="1762200"/>
            <a:chOff x="0" y="0"/>
            <a:chExt cx="21278100" cy="1762200"/>
          </a:xfrm>
        </p:grpSpPr>
        <p:sp>
          <p:nvSpPr>
            <p:cNvPr id="436" name="Google Shape;436;p26"/>
            <p:cNvSpPr/>
            <p:nvPr/>
          </p:nvSpPr>
          <p:spPr>
            <a:xfrm>
              <a:off x="0" y="0"/>
              <a:ext cx="21278100" cy="1762200"/>
            </a:xfrm>
            <a:prstGeom prst="roundRect">
              <a:avLst>
                <a:gd fmla="val 4324" name="adj"/>
              </a:avLst>
            </a:prstGeom>
            <a:solidFill>
              <a:srgbClr val="F4F9EE"/>
            </a:solidFill>
            <a:ln cap="flat" cmpd="sng" w="19050">
              <a:solidFill>
                <a:srgbClr val="7BC14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26"/>
            <p:cNvSpPr txBox="1"/>
            <p:nvPr/>
          </p:nvSpPr>
          <p:spPr>
            <a:xfrm>
              <a:off x="285750" y="142875"/>
              <a:ext cx="20706600" cy="14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600">
                  <a:solidFill>
                    <a:srgbClr val="7BC148"/>
                  </a:solidFill>
                  <a:latin typeface="Arial"/>
                  <a:ea typeface="Arial"/>
                  <a:cs typeface="Arial"/>
                  <a:sym typeface="Arial"/>
                </a:rPr>
                <a:t>Key Takeaway:</a:t>
              </a:r>
              <a:r>
                <a:rPr b="0" lang="en" sz="26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 Understanding this sequence explains why you </a:t>
              </a:r>
              <a:r>
                <a:rPr b="1" lang="en" sz="26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cannot</a:t>
              </a:r>
              <a:r>
                <a:rPr b="0" lang="en" sz="26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 use a column alias defined in the </a:t>
              </a:r>
              <a:r>
                <a:rPr b="1" lang="en" sz="2600">
                  <a:solidFill>
                    <a:srgbClr val="7BC148"/>
                  </a:solidFill>
                  <a:latin typeface="Arial"/>
                  <a:ea typeface="Arial"/>
                  <a:cs typeface="Arial"/>
                  <a:sym typeface="Arial"/>
                </a:rPr>
                <a:t>SELECT</a:t>
              </a:r>
              <a:r>
                <a:rPr b="0" lang="en" sz="26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 clause within your </a:t>
              </a:r>
              <a:r>
                <a:rPr b="1" lang="en" sz="26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rPr>
                <a:t>WHERE</a:t>
              </a:r>
              <a:r>
                <a:rPr b="0" lang="en" sz="26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 clause — </a:t>
              </a:r>
              <a:r>
                <a:rPr b="1" lang="en" sz="26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SELECT</a:t>
              </a:r>
              <a:r>
                <a:rPr b="0" lang="en" sz="26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 (Step 6) is evaluated long after </a:t>
              </a:r>
              <a:r>
                <a:rPr b="1" lang="en" sz="26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WHERE</a:t>
              </a:r>
              <a:r>
                <a:rPr b="0" lang="en" sz="26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 (Step 3).</a:t>
              </a:r>
              <a:endParaRPr b="0" sz="26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38" name="Google Shape;438;p26"/>
          <p:cNvCxnSpPr/>
          <p:nvPr/>
        </p:nvCxnSpPr>
        <p:spPr>
          <a:xfrm>
            <a:off x="1554480" y="12600432"/>
            <a:ext cx="21278100" cy="0"/>
          </a:xfrm>
          <a:prstGeom prst="straightConnector1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9" name="Google Shape;439;p26"/>
          <p:cNvSpPr txBox="1"/>
          <p:nvPr/>
        </p:nvSpPr>
        <p:spPr>
          <a:xfrm>
            <a:off x="1554480" y="12755880"/>
            <a:ext cx="12801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Transforming lives in Africa through research</a:t>
            </a:r>
            <a:endParaRPr b="0" sz="2600">
              <a:solidFill>
                <a:srgbClr val="6B6B6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Google Shape;444;p27"/>
          <p:cNvPicPr preferRelativeResize="0"/>
          <p:nvPr/>
        </p:nvPicPr>
        <p:blipFill rotWithShape="1">
          <a:blip r:embed="rId3">
            <a:alphaModFix/>
          </a:blip>
          <a:srcRect b="0" l="20" r="2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27"/>
          <p:cNvSpPr/>
          <p:nvPr/>
        </p:nvSpPr>
        <p:spPr>
          <a:xfrm>
            <a:off x="0" y="0"/>
            <a:ext cx="24387000" cy="155400"/>
          </a:xfrm>
          <a:prstGeom prst="rect">
            <a:avLst/>
          </a:prstGeom>
          <a:solidFill>
            <a:srgbClr val="7BC14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6" name="Google Shape;44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854160" y="384048"/>
            <a:ext cx="1417200" cy="141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27"/>
          <p:cNvSpPr txBox="1"/>
          <p:nvPr/>
        </p:nvSpPr>
        <p:spPr>
          <a:xfrm>
            <a:off x="1554480" y="714375"/>
            <a:ext cx="197511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12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Top 5 Common SQL Mistakes to Avoid</a:t>
            </a:r>
            <a:endParaRPr b="1" sz="612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27"/>
          <p:cNvSpPr txBox="1"/>
          <p:nvPr/>
        </p:nvSpPr>
        <p:spPr>
          <a:xfrm>
            <a:off x="1554480" y="1762125"/>
            <a:ext cx="197511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As you begin writing queries, be mindful to avoid these five frequent errors:</a:t>
            </a:r>
            <a:endParaRPr b="0" sz="3200">
              <a:solidFill>
                <a:srgbClr val="6B6B6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9" name="Google Shape;449;p27"/>
          <p:cNvGrpSpPr/>
          <p:nvPr/>
        </p:nvGrpSpPr>
        <p:grpSpPr>
          <a:xfrm>
            <a:off x="1554480" y="2524125"/>
            <a:ext cx="20907525" cy="1095300"/>
            <a:chOff x="0" y="0"/>
            <a:chExt cx="20907525" cy="1095300"/>
          </a:xfrm>
        </p:grpSpPr>
        <p:sp>
          <p:nvSpPr>
            <p:cNvPr id="450" name="Google Shape;450;p27"/>
            <p:cNvSpPr/>
            <p:nvPr/>
          </p:nvSpPr>
          <p:spPr>
            <a:xfrm>
              <a:off x="0" y="0"/>
              <a:ext cx="1095300" cy="1095300"/>
            </a:xfrm>
            <a:prstGeom prst="rect">
              <a:avLst/>
            </a:prstGeom>
            <a:solidFill>
              <a:srgbClr val="44546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27"/>
            <p:cNvSpPr txBox="1"/>
            <p:nvPr/>
          </p:nvSpPr>
          <p:spPr>
            <a:xfrm>
              <a:off x="0" y="0"/>
              <a:ext cx="10953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4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1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27"/>
            <p:cNvSpPr txBox="1"/>
            <p:nvPr/>
          </p:nvSpPr>
          <p:spPr>
            <a:xfrm>
              <a:off x="1381125" y="0"/>
              <a:ext cx="195264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rPr>
                <a:t>Forgetting to join the concept table</a:t>
              </a:r>
              <a:endParaRPr b="1" sz="32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28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This leaves you with meaningless numeric IDs instead of readable text.</a:t>
              </a:r>
              <a:endParaRPr b="0" sz="28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3" name="Google Shape;453;p27"/>
          <p:cNvGrpSpPr/>
          <p:nvPr/>
        </p:nvGrpSpPr>
        <p:grpSpPr>
          <a:xfrm>
            <a:off x="1554480" y="4429125"/>
            <a:ext cx="20907525" cy="1095300"/>
            <a:chOff x="0" y="0"/>
            <a:chExt cx="20907525" cy="1095300"/>
          </a:xfrm>
        </p:grpSpPr>
        <p:sp>
          <p:nvSpPr>
            <p:cNvPr id="454" name="Google Shape;454;p27"/>
            <p:cNvSpPr/>
            <p:nvPr/>
          </p:nvSpPr>
          <p:spPr>
            <a:xfrm>
              <a:off x="0" y="0"/>
              <a:ext cx="1095300" cy="1095300"/>
            </a:xfrm>
            <a:prstGeom prst="rect">
              <a:avLst/>
            </a:prstGeom>
            <a:solidFill>
              <a:srgbClr val="44546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27"/>
            <p:cNvSpPr txBox="1"/>
            <p:nvPr/>
          </p:nvSpPr>
          <p:spPr>
            <a:xfrm>
              <a:off x="0" y="0"/>
              <a:ext cx="1095300" cy="10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400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1" i="0" sz="40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27"/>
            <p:cNvSpPr txBox="1"/>
            <p:nvPr/>
          </p:nvSpPr>
          <p:spPr>
            <a:xfrm>
              <a:off x="1381125" y="0"/>
              <a:ext cx="19526400" cy="10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3200" u="none" strike="noStrike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rPr>
                <a:t>Using = NULL instead of IS NULL</a:t>
              </a:r>
              <a:endParaRPr b="1" i="0" sz="3200" u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0" i="0" lang="en" sz="2800" u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This will cause your filters to silently fail and drop missing data.</a:t>
              </a:r>
              <a:endParaRPr b="1" i="0" sz="2800" u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7" name="Google Shape;457;p27"/>
          <p:cNvGrpSpPr/>
          <p:nvPr/>
        </p:nvGrpSpPr>
        <p:grpSpPr>
          <a:xfrm>
            <a:off x="1554480" y="6334125"/>
            <a:ext cx="20907525" cy="1095300"/>
            <a:chOff x="0" y="0"/>
            <a:chExt cx="20907525" cy="1095300"/>
          </a:xfrm>
        </p:grpSpPr>
        <p:sp>
          <p:nvSpPr>
            <p:cNvPr id="458" name="Google Shape;458;p27"/>
            <p:cNvSpPr/>
            <p:nvPr/>
          </p:nvSpPr>
          <p:spPr>
            <a:xfrm>
              <a:off x="0" y="0"/>
              <a:ext cx="1095300" cy="1095300"/>
            </a:xfrm>
            <a:prstGeom prst="rect">
              <a:avLst/>
            </a:prstGeom>
            <a:solidFill>
              <a:srgbClr val="44546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27"/>
            <p:cNvSpPr txBox="1"/>
            <p:nvPr/>
          </p:nvSpPr>
          <p:spPr>
            <a:xfrm>
              <a:off x="0" y="0"/>
              <a:ext cx="1095300" cy="10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400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1" i="0" sz="40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27"/>
            <p:cNvSpPr txBox="1"/>
            <p:nvPr/>
          </p:nvSpPr>
          <p:spPr>
            <a:xfrm>
              <a:off x="1381125" y="0"/>
              <a:ext cx="19526400" cy="10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3200" u="none" strike="noStrike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rPr>
                <a:t>Running SELECT * without a LIMIT on large tables</a:t>
              </a:r>
              <a:endParaRPr b="1" i="0" sz="3200" u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0" i="0" lang="en" sz="2800" u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This can freeze your session and strain database resources when querying millions of rows.</a:t>
              </a:r>
              <a:endParaRPr b="1" i="0" sz="2800" u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1" name="Google Shape;461;p27"/>
          <p:cNvGrpSpPr/>
          <p:nvPr/>
        </p:nvGrpSpPr>
        <p:grpSpPr>
          <a:xfrm>
            <a:off x="1554480" y="8239125"/>
            <a:ext cx="20907525" cy="1095300"/>
            <a:chOff x="0" y="0"/>
            <a:chExt cx="20907525" cy="1095300"/>
          </a:xfrm>
        </p:grpSpPr>
        <p:sp>
          <p:nvSpPr>
            <p:cNvPr id="462" name="Google Shape;462;p27"/>
            <p:cNvSpPr/>
            <p:nvPr/>
          </p:nvSpPr>
          <p:spPr>
            <a:xfrm>
              <a:off x="0" y="0"/>
              <a:ext cx="1095300" cy="1095300"/>
            </a:xfrm>
            <a:prstGeom prst="rect">
              <a:avLst/>
            </a:prstGeom>
            <a:solidFill>
              <a:srgbClr val="44546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27"/>
            <p:cNvSpPr txBox="1"/>
            <p:nvPr/>
          </p:nvSpPr>
          <p:spPr>
            <a:xfrm>
              <a:off x="0" y="0"/>
              <a:ext cx="1095300" cy="10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400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i="0" sz="40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27"/>
            <p:cNvSpPr txBox="1"/>
            <p:nvPr/>
          </p:nvSpPr>
          <p:spPr>
            <a:xfrm>
              <a:off x="1381125" y="0"/>
              <a:ext cx="19526400" cy="10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3200" u="none" strike="noStrike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rPr>
                <a:t>Forgetting the GROUP BY clause when using COUNT</a:t>
              </a:r>
              <a:endParaRPr b="1" i="0" sz="3200" u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0" i="0" lang="en" sz="2800" u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This will cause the database to throw an immediate syntax error.</a:t>
              </a:r>
              <a:endParaRPr b="1" i="0" sz="2800" u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5" name="Google Shape;465;p27"/>
          <p:cNvGrpSpPr/>
          <p:nvPr/>
        </p:nvGrpSpPr>
        <p:grpSpPr>
          <a:xfrm>
            <a:off x="1554480" y="10144125"/>
            <a:ext cx="20907525" cy="1095300"/>
            <a:chOff x="0" y="0"/>
            <a:chExt cx="20907525" cy="1095300"/>
          </a:xfrm>
        </p:grpSpPr>
        <p:sp>
          <p:nvSpPr>
            <p:cNvPr id="466" name="Google Shape;466;p27"/>
            <p:cNvSpPr/>
            <p:nvPr/>
          </p:nvSpPr>
          <p:spPr>
            <a:xfrm>
              <a:off x="0" y="0"/>
              <a:ext cx="1095300" cy="1095300"/>
            </a:xfrm>
            <a:prstGeom prst="rect">
              <a:avLst/>
            </a:prstGeom>
            <a:solidFill>
              <a:srgbClr val="44546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27"/>
            <p:cNvSpPr txBox="1"/>
            <p:nvPr/>
          </p:nvSpPr>
          <p:spPr>
            <a:xfrm>
              <a:off x="0" y="0"/>
              <a:ext cx="1095300" cy="10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400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 b="1" i="0" sz="40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27"/>
            <p:cNvSpPr txBox="1"/>
            <p:nvPr/>
          </p:nvSpPr>
          <p:spPr>
            <a:xfrm>
              <a:off x="1381125" y="0"/>
              <a:ext cx="19526400" cy="10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3200" u="none" strike="noStrike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rPr>
                <a:t>Mixing up WHERE and HAVING</a:t>
              </a:r>
              <a:endParaRPr b="1" i="0" sz="3200" u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0" i="0" lang="en" sz="2800" u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Remember that WHERE filters individual rows before aggregation, while HAVING filters groups after aggregation.</a:t>
              </a:r>
              <a:endParaRPr b="1" i="0" sz="2800" u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9" name="Google Shape;469;p27"/>
          <p:cNvCxnSpPr/>
          <p:nvPr/>
        </p:nvCxnSpPr>
        <p:spPr>
          <a:xfrm>
            <a:off x="1554480" y="12600432"/>
            <a:ext cx="21278100" cy="0"/>
          </a:xfrm>
          <a:prstGeom prst="straightConnector1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0" name="Google Shape;470;p27"/>
          <p:cNvSpPr txBox="1"/>
          <p:nvPr/>
        </p:nvSpPr>
        <p:spPr>
          <a:xfrm>
            <a:off x="1554480" y="12755880"/>
            <a:ext cx="12801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Transforming lives in Africa through research</a:t>
            </a:r>
            <a:endParaRPr b="0" sz="2600">
              <a:solidFill>
                <a:srgbClr val="6B6B6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8"/>
          <p:cNvSpPr/>
          <p:nvPr/>
        </p:nvSpPr>
        <p:spPr>
          <a:xfrm>
            <a:off x="0" y="0"/>
            <a:ext cx="24387000" cy="155400"/>
          </a:xfrm>
          <a:prstGeom prst="rect">
            <a:avLst/>
          </a:prstGeom>
          <a:solidFill>
            <a:srgbClr val="7BC14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6" name="Google Shape;47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854160" y="384048"/>
            <a:ext cx="1417200" cy="141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28"/>
          <p:cNvSpPr txBox="1"/>
          <p:nvPr/>
        </p:nvSpPr>
        <p:spPr>
          <a:xfrm>
            <a:off x="1554480" y="868680"/>
            <a:ext cx="197511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4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Practice Exercises and Next Steps</a:t>
            </a:r>
            <a:endParaRPr b="1" sz="840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28"/>
          <p:cNvSpPr/>
          <p:nvPr/>
        </p:nvSpPr>
        <p:spPr>
          <a:xfrm>
            <a:off x="1554480" y="3931920"/>
            <a:ext cx="10396800" cy="8096400"/>
          </a:xfrm>
          <a:prstGeom prst="rect">
            <a:avLst/>
          </a:prstGeom>
          <a:solidFill>
            <a:srgbClr val="F4F9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28"/>
          <p:cNvSpPr txBox="1"/>
          <p:nvPr/>
        </p:nvSpPr>
        <p:spPr>
          <a:xfrm>
            <a:off x="2000250" y="4238625"/>
            <a:ext cx="95061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30">
                <a:solidFill>
                  <a:srgbClr val="7BC148"/>
                </a:solidFill>
                <a:latin typeface="Arial"/>
                <a:ea typeface="Arial"/>
                <a:cs typeface="Arial"/>
                <a:sym typeface="Arial"/>
              </a:rPr>
              <a:t>Practice Exercises</a:t>
            </a:r>
            <a:endParaRPr b="1" sz="4030">
              <a:solidFill>
                <a:srgbClr val="7BC1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28"/>
          <p:cNvSpPr txBox="1"/>
          <p:nvPr/>
        </p:nvSpPr>
        <p:spPr>
          <a:xfrm>
            <a:off x="2000250" y="5095875"/>
            <a:ext cx="9506100" cy="6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9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To solidify your understanding, please complete the following practice exercises:</a:t>
            </a:r>
            <a:endParaRPr b="1" sz="289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2115" lvl="0" marL="457200" rtl="0" algn="l">
              <a:spcBef>
                <a:spcPts val="1800"/>
              </a:spcBef>
              <a:spcAft>
                <a:spcPts val="0"/>
              </a:spcAft>
              <a:buClr>
                <a:srgbClr val="1A1A1A"/>
              </a:buClr>
              <a:buSzPts val="2890"/>
              <a:buFont typeface="Arial"/>
              <a:buChar char="●"/>
            </a:pPr>
            <a:r>
              <a:rPr b="1" lang="en" sz="289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Exercise 1:</a:t>
            </a:r>
            <a:r>
              <a:rPr b="0" lang="en" sz="289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Count the total number of records in the visit_occurrence table.</a:t>
            </a:r>
            <a:endParaRPr b="0" sz="289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2115" lvl="0" marL="457200" rtl="0" algn="l">
              <a:spcBef>
                <a:spcPts val="1500"/>
              </a:spcBef>
              <a:spcAft>
                <a:spcPts val="0"/>
              </a:spcAft>
              <a:buClr>
                <a:srgbClr val="1A1A1A"/>
              </a:buClr>
              <a:buSzPts val="2890"/>
              <a:buFont typeface="Arial"/>
              <a:buChar char="●"/>
            </a:pPr>
            <a:r>
              <a:rPr b="1" lang="en" sz="289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Exercise 2:</a:t>
            </a:r>
            <a:r>
              <a:rPr b="0" lang="en" sz="289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Retrieve 5 sample rows from the drug_exposure table.</a:t>
            </a:r>
            <a:endParaRPr b="0" sz="289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2115" lvl="0" marL="457200" rtl="0" algn="l">
              <a:spcBef>
                <a:spcPts val="1500"/>
              </a:spcBef>
              <a:spcAft>
                <a:spcPts val="0"/>
              </a:spcAft>
              <a:buClr>
                <a:srgbClr val="1A1A1A"/>
              </a:buClr>
              <a:buSzPts val="2890"/>
              <a:buFont typeface="Arial"/>
              <a:buChar char="●"/>
            </a:pPr>
            <a:r>
              <a:rPr b="1" lang="en" sz="289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Exercise 3:</a:t>
            </a:r>
            <a:r>
              <a:rPr b="0" lang="en" sz="289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Calculate the number of patients born per decade.</a:t>
            </a:r>
            <a:endParaRPr b="0" sz="289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2115" lvl="0" marL="457200" rtl="0" algn="l">
              <a:spcBef>
                <a:spcPts val="1500"/>
              </a:spcBef>
              <a:spcAft>
                <a:spcPts val="0"/>
              </a:spcAft>
              <a:buClr>
                <a:srgbClr val="1A1A1A"/>
              </a:buClr>
              <a:buSzPts val="2890"/>
              <a:buFont typeface="Arial"/>
              <a:buChar char="●"/>
            </a:pPr>
            <a:r>
              <a:rPr b="1" lang="en" sz="289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Exercise 4:</a:t>
            </a:r>
            <a:r>
              <a:rPr b="0" lang="en" sz="289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Identify the top 5 most frequently prescribed drugs.</a:t>
            </a:r>
            <a:endParaRPr b="0" sz="289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2115" lvl="0" marL="457200" rtl="0" algn="l">
              <a:spcBef>
                <a:spcPts val="1500"/>
              </a:spcBef>
              <a:spcAft>
                <a:spcPts val="1500"/>
              </a:spcAft>
              <a:buClr>
                <a:srgbClr val="1A1A1A"/>
              </a:buClr>
              <a:buSzPts val="2890"/>
              <a:buFont typeface="Arial"/>
              <a:buChar char="●"/>
            </a:pPr>
            <a:r>
              <a:rPr b="1" lang="en" sz="289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Exercise 5:</a:t>
            </a:r>
            <a:r>
              <a:rPr b="0" lang="en" sz="289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Find patients who have both a condition record AND a measurement record.</a:t>
            </a:r>
            <a:endParaRPr b="0" sz="289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28"/>
          <p:cNvSpPr/>
          <p:nvPr/>
        </p:nvSpPr>
        <p:spPr>
          <a:xfrm>
            <a:off x="12435840" y="3931920"/>
            <a:ext cx="10396800" cy="8096400"/>
          </a:xfrm>
          <a:prstGeom prst="rect">
            <a:avLst/>
          </a:prstGeom>
          <a:solidFill>
            <a:srgbClr val="F4F9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8"/>
          <p:cNvSpPr txBox="1"/>
          <p:nvPr/>
        </p:nvSpPr>
        <p:spPr>
          <a:xfrm>
            <a:off x="12881610" y="4238625"/>
            <a:ext cx="95061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3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Next Module Preview</a:t>
            </a:r>
            <a:endParaRPr b="1" sz="403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28"/>
          <p:cNvSpPr txBox="1"/>
          <p:nvPr/>
        </p:nvSpPr>
        <p:spPr>
          <a:xfrm>
            <a:off x="12881610" y="5095875"/>
            <a:ext cx="9506100" cy="6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8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Once you have mastered these basics, our next training module will cover advanced topics, including:</a:t>
            </a:r>
            <a:endParaRPr b="0" sz="380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69900" lvl="0" marL="457200" rtl="0" algn="l">
              <a:spcBef>
                <a:spcPts val="2400"/>
              </a:spcBef>
              <a:spcAft>
                <a:spcPts val="0"/>
              </a:spcAft>
              <a:buClr>
                <a:srgbClr val="1A1A1A"/>
              </a:buClr>
              <a:buSzPts val="3800"/>
              <a:buFont typeface="Arial"/>
              <a:buChar char="●"/>
            </a:pPr>
            <a:r>
              <a:rPr b="1" lang="en" sz="3800">
                <a:solidFill>
                  <a:srgbClr val="7BC148"/>
                </a:solidFill>
                <a:latin typeface="Arial"/>
                <a:ea typeface="Arial"/>
                <a:cs typeface="Arial"/>
                <a:sym typeface="Arial"/>
              </a:rPr>
              <a:t>Subqueries</a:t>
            </a:r>
            <a:endParaRPr b="1" sz="3800">
              <a:solidFill>
                <a:srgbClr val="7BC1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69900" lvl="0" marL="457200" rtl="0" algn="l">
              <a:spcBef>
                <a:spcPts val="1800"/>
              </a:spcBef>
              <a:spcAft>
                <a:spcPts val="0"/>
              </a:spcAft>
              <a:buClr>
                <a:srgbClr val="1A1A1A"/>
              </a:buClr>
              <a:buSzPts val="3800"/>
              <a:buFont typeface="Arial"/>
              <a:buChar char="●"/>
            </a:pPr>
            <a:r>
              <a:rPr b="1" lang="en" sz="3800">
                <a:solidFill>
                  <a:srgbClr val="7BC148"/>
                </a:solidFill>
                <a:latin typeface="Arial"/>
                <a:ea typeface="Arial"/>
                <a:cs typeface="Arial"/>
                <a:sym typeface="Arial"/>
              </a:rPr>
              <a:t>Common Table Expressions (CTEs)</a:t>
            </a:r>
            <a:endParaRPr b="1" sz="3800">
              <a:solidFill>
                <a:srgbClr val="7BC1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69900" lvl="0" marL="457200" rtl="0" algn="l">
              <a:spcBef>
                <a:spcPts val="1800"/>
              </a:spcBef>
              <a:spcAft>
                <a:spcPts val="1800"/>
              </a:spcAft>
              <a:buClr>
                <a:srgbClr val="1A1A1A"/>
              </a:buClr>
              <a:buSzPts val="3800"/>
              <a:buFont typeface="Arial"/>
              <a:buChar char="●"/>
            </a:pPr>
            <a:r>
              <a:rPr b="1" lang="en" sz="3800">
                <a:solidFill>
                  <a:srgbClr val="7BC148"/>
                </a:solidFill>
                <a:latin typeface="Arial"/>
                <a:ea typeface="Arial"/>
                <a:cs typeface="Arial"/>
                <a:sym typeface="Arial"/>
              </a:rPr>
              <a:t>Window Functions</a:t>
            </a:r>
            <a:endParaRPr b="1" sz="3800">
              <a:solidFill>
                <a:srgbClr val="7BC1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4" name="Google Shape;484;p28"/>
          <p:cNvCxnSpPr/>
          <p:nvPr/>
        </p:nvCxnSpPr>
        <p:spPr>
          <a:xfrm>
            <a:off x="1554480" y="12600432"/>
            <a:ext cx="21278100" cy="0"/>
          </a:xfrm>
          <a:prstGeom prst="straightConnector1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5" name="Google Shape;485;p28"/>
          <p:cNvSpPr txBox="1"/>
          <p:nvPr/>
        </p:nvSpPr>
        <p:spPr>
          <a:xfrm>
            <a:off x="1554480" y="12755880"/>
            <a:ext cx="12801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Transforming lives in Africa through research</a:t>
            </a:r>
            <a:endParaRPr b="0" sz="2600">
              <a:solidFill>
                <a:srgbClr val="6B6B6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