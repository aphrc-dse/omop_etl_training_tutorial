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3716000" cx="2438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b5fbdf795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b5fbdf795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b5fbdf795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b5fbdf795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b5fbdf795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b5fbdf795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5fbdf795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5fbdf795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5fbdf795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5fbdf795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b5fbdf795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b5fbdf795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b5fbdf795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b5fbdf795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b5fbdf795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b5fbdf795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b5fbdf795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b5fbdf795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b5fbdf795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b5fbdf795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b5fbdf795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fb5fbdf795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b5fbdf795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b5fbdf795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b5fbdf795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fb5fbdf79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b5fbdf795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fb5fbdf795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b5fbdf795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fb5fbdf795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b5fbdf795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b5fbdf795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b5fbdf795_8_0)">
  <p:cSld name="Generated (g3fb5fbdf795_8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831222" y="1985533"/>
            <a:ext cx="22721600" cy="5473600"/>
          </a:xfrm>
          <a:prstGeom prst="rect">
            <a:avLst/>
          </a:prstGeom>
        </p:spPr>
        <p:txBody>
          <a:bodyPr anchorCtr="0" anchor="b" bIns="243800" lIns="243800" spcFirstLastPara="1" rIns="243800" wrap="square" tIns="243800">
            <a:normAutofit/>
          </a:bodyPr>
          <a:lstStyle>
            <a:lvl1pPr lvl="0" algn="ctr">
              <a:spcBef>
                <a:spcPts val="0"/>
              </a:spcBef>
              <a:spcAft>
                <a:spcPts val="0"/>
              </a:spcAft>
              <a:buSzPts val="13900"/>
              <a:buNone/>
              <a:defRPr sz="13900"/>
            </a:lvl1pPr>
            <a:lvl2pPr lvl="1" algn="ctr">
              <a:spcBef>
                <a:spcPts val="0"/>
              </a:spcBef>
              <a:spcAft>
                <a:spcPts val="0"/>
              </a:spcAft>
              <a:buSzPts val="13900"/>
              <a:buNone/>
              <a:defRPr sz="13900"/>
            </a:lvl2pPr>
            <a:lvl3pPr lvl="2" algn="ctr">
              <a:spcBef>
                <a:spcPts val="0"/>
              </a:spcBef>
              <a:spcAft>
                <a:spcPts val="0"/>
              </a:spcAft>
              <a:buSzPts val="13900"/>
              <a:buNone/>
              <a:defRPr sz="13900"/>
            </a:lvl3pPr>
            <a:lvl4pPr lvl="3" algn="ctr">
              <a:spcBef>
                <a:spcPts val="0"/>
              </a:spcBef>
              <a:spcAft>
                <a:spcPts val="0"/>
              </a:spcAft>
              <a:buSzPts val="13900"/>
              <a:buNone/>
              <a:defRPr sz="13900"/>
            </a:lvl4pPr>
            <a:lvl5pPr lvl="4" algn="ctr">
              <a:spcBef>
                <a:spcPts val="0"/>
              </a:spcBef>
              <a:spcAft>
                <a:spcPts val="0"/>
              </a:spcAft>
              <a:buSzPts val="13900"/>
              <a:buNone/>
              <a:defRPr sz="13900"/>
            </a:lvl5pPr>
            <a:lvl6pPr lvl="5" algn="ctr">
              <a:spcBef>
                <a:spcPts val="0"/>
              </a:spcBef>
              <a:spcAft>
                <a:spcPts val="0"/>
              </a:spcAft>
              <a:buSzPts val="13900"/>
              <a:buNone/>
              <a:defRPr sz="13900"/>
            </a:lvl6pPr>
            <a:lvl7pPr lvl="6" algn="ctr">
              <a:spcBef>
                <a:spcPts val="0"/>
              </a:spcBef>
              <a:spcAft>
                <a:spcPts val="0"/>
              </a:spcAft>
              <a:buSzPts val="13900"/>
              <a:buNone/>
              <a:defRPr sz="13900"/>
            </a:lvl7pPr>
            <a:lvl8pPr lvl="7" algn="ctr">
              <a:spcBef>
                <a:spcPts val="0"/>
              </a:spcBef>
              <a:spcAft>
                <a:spcPts val="0"/>
              </a:spcAft>
              <a:buSzPts val="13900"/>
              <a:buNone/>
              <a:defRPr sz="13900"/>
            </a:lvl8pPr>
            <a:lvl9pPr lvl="8" algn="ctr">
              <a:spcBef>
                <a:spcPts val="0"/>
              </a:spcBef>
              <a:spcAft>
                <a:spcPts val="0"/>
              </a:spcAft>
              <a:buSzPts val="13900"/>
              <a:buNone/>
              <a:defRPr sz="13900"/>
            </a:lvl9pPr>
          </a:lstStyle>
          <a:p/>
        </p:txBody>
      </p:sp>
      <p:sp>
        <p:nvSpPr>
          <p:cNvPr id="12" name="Google Shape;12;p3"/>
          <p:cNvSpPr txBox="1"/>
          <p:nvPr>
            <p:ph idx="1" type="subTitle"/>
          </p:nvPr>
        </p:nvSpPr>
        <p:spPr>
          <a:xfrm>
            <a:off x="831200" y="7557667"/>
            <a:ext cx="22721600" cy="2113600"/>
          </a:xfrm>
          <a:prstGeom prst="rect">
            <a:avLst/>
          </a:prstGeom>
        </p:spPr>
        <p:txBody>
          <a:bodyPr anchorCtr="0" anchor="t" bIns="243800" lIns="243800" spcFirstLastPara="1" rIns="243800" wrap="square" tIns="24380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p:txBody>
      </p:sp>
      <p:sp>
        <p:nvSpPr>
          <p:cNvPr id="13" name="Google Shape;13;p3"/>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831200" y="5735600"/>
            <a:ext cx="22721600" cy="2244800"/>
          </a:xfrm>
          <a:prstGeom prst="rect">
            <a:avLst/>
          </a:prstGeom>
        </p:spPr>
        <p:txBody>
          <a:bodyPr anchorCtr="0" anchor="ctr" bIns="243800" lIns="243800" spcFirstLastPara="1" rIns="243800" wrap="square" tIns="243800">
            <a:norm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p:txBody>
      </p:sp>
      <p:sp>
        <p:nvSpPr>
          <p:cNvPr id="16" name="Google Shape;16;p4"/>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831200" y="1186733"/>
            <a:ext cx="22721600" cy="1527200"/>
          </a:xfrm>
          <a:prstGeom prst="rect">
            <a:avLst/>
          </a:prstGeom>
        </p:spPr>
        <p:txBody>
          <a:bodyPr anchorCtr="0" anchor="t" bIns="243800" lIns="243800" spcFirstLastPara="1" rIns="243800" wrap="square" tIns="243800">
            <a:normAutofit/>
          </a:bodyPr>
          <a:lstStyle>
            <a:lvl1pPr lvl="0">
              <a:spcBef>
                <a:spcPts val="0"/>
              </a:spcBef>
              <a:spcAft>
                <a:spcPts val="0"/>
              </a:spcAft>
              <a:buSzPts val="7500"/>
              <a:buNone/>
              <a:defRPr/>
            </a:lvl1pPr>
            <a:lvl2pPr lvl="1">
              <a:spcBef>
                <a:spcPts val="0"/>
              </a:spcBef>
              <a:spcAft>
                <a:spcPts val="0"/>
              </a:spcAft>
              <a:buSzPts val="7500"/>
              <a:buNone/>
              <a:defRPr/>
            </a:lvl2pPr>
            <a:lvl3pPr lvl="2">
              <a:spcBef>
                <a:spcPts val="0"/>
              </a:spcBef>
              <a:spcAft>
                <a:spcPts val="0"/>
              </a:spcAft>
              <a:buSzPts val="7500"/>
              <a:buNone/>
              <a:defRPr/>
            </a:lvl3pPr>
            <a:lvl4pPr lvl="3">
              <a:spcBef>
                <a:spcPts val="0"/>
              </a:spcBef>
              <a:spcAft>
                <a:spcPts val="0"/>
              </a:spcAft>
              <a:buSzPts val="7500"/>
              <a:buNone/>
              <a:defRPr/>
            </a:lvl4pPr>
            <a:lvl5pPr lvl="4">
              <a:spcBef>
                <a:spcPts val="0"/>
              </a:spcBef>
              <a:spcAft>
                <a:spcPts val="0"/>
              </a:spcAft>
              <a:buSzPts val="7500"/>
              <a:buNone/>
              <a:defRPr/>
            </a:lvl5pPr>
            <a:lvl6pPr lvl="5">
              <a:spcBef>
                <a:spcPts val="0"/>
              </a:spcBef>
              <a:spcAft>
                <a:spcPts val="0"/>
              </a:spcAft>
              <a:buSzPts val="7500"/>
              <a:buNone/>
              <a:defRPr/>
            </a:lvl6pPr>
            <a:lvl7pPr lvl="6">
              <a:spcBef>
                <a:spcPts val="0"/>
              </a:spcBef>
              <a:spcAft>
                <a:spcPts val="0"/>
              </a:spcAft>
              <a:buSzPts val="7500"/>
              <a:buNone/>
              <a:defRPr/>
            </a:lvl7pPr>
            <a:lvl8pPr lvl="7">
              <a:spcBef>
                <a:spcPts val="0"/>
              </a:spcBef>
              <a:spcAft>
                <a:spcPts val="0"/>
              </a:spcAft>
              <a:buSzPts val="7500"/>
              <a:buNone/>
              <a:defRPr/>
            </a:lvl8pPr>
            <a:lvl9pPr lvl="8">
              <a:spcBef>
                <a:spcPts val="0"/>
              </a:spcBef>
              <a:spcAft>
                <a:spcPts val="0"/>
              </a:spcAft>
              <a:buSzPts val="7500"/>
              <a:buNone/>
              <a:defRPr/>
            </a:lvl9pPr>
          </a:lstStyle>
          <a:p/>
        </p:txBody>
      </p:sp>
      <p:sp>
        <p:nvSpPr>
          <p:cNvPr id="19" name="Google Shape;19;p5"/>
          <p:cNvSpPr txBox="1"/>
          <p:nvPr>
            <p:ph idx="1" type="body"/>
          </p:nvPr>
        </p:nvSpPr>
        <p:spPr>
          <a:xfrm>
            <a:off x="831200" y="3073267"/>
            <a:ext cx="22721600" cy="9110400"/>
          </a:xfrm>
          <a:prstGeom prst="rect">
            <a:avLst/>
          </a:prstGeom>
        </p:spPr>
        <p:txBody>
          <a:bodyPr anchorCtr="0" anchor="t" bIns="243800" lIns="243800" spcFirstLastPara="1" rIns="243800" wrap="square" tIns="243800">
            <a:normAutofit/>
          </a:bodyPr>
          <a:lstStyle>
            <a:lvl1pPr indent="-533400" lvl="0" marL="457200">
              <a:spcBef>
                <a:spcPts val="0"/>
              </a:spcBef>
              <a:spcAft>
                <a:spcPts val="0"/>
              </a:spcAft>
              <a:buSzPts val="4800"/>
              <a:buChar char="●"/>
              <a:defRPr/>
            </a:lvl1pPr>
            <a:lvl2pPr indent="-463550" lvl="1" marL="914400">
              <a:spcBef>
                <a:spcPts val="0"/>
              </a:spcBef>
              <a:spcAft>
                <a:spcPts val="0"/>
              </a:spcAft>
              <a:buSzPts val="3700"/>
              <a:buChar char="○"/>
              <a:defRPr/>
            </a:lvl2pPr>
            <a:lvl3pPr indent="-463550" lvl="2" marL="1371600">
              <a:spcBef>
                <a:spcPts val="0"/>
              </a:spcBef>
              <a:spcAft>
                <a:spcPts val="0"/>
              </a:spcAft>
              <a:buSzPts val="3700"/>
              <a:buChar char="■"/>
              <a:defRPr/>
            </a:lvl3pPr>
            <a:lvl4pPr indent="-463550" lvl="3" marL="1828800">
              <a:spcBef>
                <a:spcPts val="0"/>
              </a:spcBef>
              <a:spcAft>
                <a:spcPts val="0"/>
              </a:spcAft>
              <a:buSzPts val="3700"/>
              <a:buChar char="●"/>
              <a:defRPr/>
            </a:lvl4pPr>
            <a:lvl5pPr indent="-463550" lvl="4" marL="2286000">
              <a:spcBef>
                <a:spcPts val="0"/>
              </a:spcBef>
              <a:spcAft>
                <a:spcPts val="0"/>
              </a:spcAft>
              <a:buSzPts val="3700"/>
              <a:buChar char="○"/>
              <a:defRPr/>
            </a:lvl5pPr>
            <a:lvl6pPr indent="-463550" lvl="5" marL="2743200">
              <a:spcBef>
                <a:spcPts val="0"/>
              </a:spcBef>
              <a:spcAft>
                <a:spcPts val="0"/>
              </a:spcAft>
              <a:buSzPts val="3700"/>
              <a:buChar char="■"/>
              <a:defRPr/>
            </a:lvl6pPr>
            <a:lvl7pPr indent="-463550" lvl="6" marL="3200400">
              <a:spcBef>
                <a:spcPts val="0"/>
              </a:spcBef>
              <a:spcAft>
                <a:spcPts val="0"/>
              </a:spcAft>
              <a:buSzPts val="3700"/>
              <a:buChar char="●"/>
              <a:defRPr/>
            </a:lvl7pPr>
            <a:lvl8pPr indent="-463550" lvl="7" marL="3657600">
              <a:spcBef>
                <a:spcPts val="0"/>
              </a:spcBef>
              <a:spcAft>
                <a:spcPts val="0"/>
              </a:spcAft>
              <a:buSzPts val="3700"/>
              <a:buChar char="○"/>
              <a:defRPr/>
            </a:lvl8pPr>
            <a:lvl9pPr indent="-463550" lvl="8" marL="4114800">
              <a:spcBef>
                <a:spcPts val="0"/>
              </a:spcBef>
              <a:spcAft>
                <a:spcPts val="0"/>
              </a:spcAft>
              <a:buSzPts val="3700"/>
              <a:buChar char="■"/>
              <a:defRPr/>
            </a:lvl9pPr>
          </a:lstStyle>
          <a:p/>
        </p:txBody>
      </p:sp>
      <p:sp>
        <p:nvSpPr>
          <p:cNvPr id="20" name="Google Shape;20;p5"/>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831200" y="1186733"/>
            <a:ext cx="22721600" cy="1527200"/>
          </a:xfrm>
          <a:prstGeom prst="rect">
            <a:avLst/>
          </a:prstGeom>
        </p:spPr>
        <p:txBody>
          <a:bodyPr anchorCtr="0" anchor="t" bIns="243800" lIns="243800" spcFirstLastPara="1" rIns="243800" wrap="square" tIns="243800">
            <a:normAutofit/>
          </a:bodyPr>
          <a:lstStyle>
            <a:lvl1pPr lvl="0">
              <a:spcBef>
                <a:spcPts val="0"/>
              </a:spcBef>
              <a:spcAft>
                <a:spcPts val="0"/>
              </a:spcAft>
              <a:buSzPts val="7500"/>
              <a:buNone/>
              <a:defRPr/>
            </a:lvl1pPr>
            <a:lvl2pPr lvl="1">
              <a:spcBef>
                <a:spcPts val="0"/>
              </a:spcBef>
              <a:spcAft>
                <a:spcPts val="0"/>
              </a:spcAft>
              <a:buSzPts val="7500"/>
              <a:buNone/>
              <a:defRPr/>
            </a:lvl2pPr>
            <a:lvl3pPr lvl="2">
              <a:spcBef>
                <a:spcPts val="0"/>
              </a:spcBef>
              <a:spcAft>
                <a:spcPts val="0"/>
              </a:spcAft>
              <a:buSzPts val="7500"/>
              <a:buNone/>
              <a:defRPr/>
            </a:lvl3pPr>
            <a:lvl4pPr lvl="3">
              <a:spcBef>
                <a:spcPts val="0"/>
              </a:spcBef>
              <a:spcAft>
                <a:spcPts val="0"/>
              </a:spcAft>
              <a:buSzPts val="7500"/>
              <a:buNone/>
              <a:defRPr/>
            </a:lvl4pPr>
            <a:lvl5pPr lvl="4">
              <a:spcBef>
                <a:spcPts val="0"/>
              </a:spcBef>
              <a:spcAft>
                <a:spcPts val="0"/>
              </a:spcAft>
              <a:buSzPts val="7500"/>
              <a:buNone/>
              <a:defRPr/>
            </a:lvl5pPr>
            <a:lvl6pPr lvl="5">
              <a:spcBef>
                <a:spcPts val="0"/>
              </a:spcBef>
              <a:spcAft>
                <a:spcPts val="0"/>
              </a:spcAft>
              <a:buSzPts val="7500"/>
              <a:buNone/>
              <a:defRPr/>
            </a:lvl6pPr>
            <a:lvl7pPr lvl="6">
              <a:spcBef>
                <a:spcPts val="0"/>
              </a:spcBef>
              <a:spcAft>
                <a:spcPts val="0"/>
              </a:spcAft>
              <a:buSzPts val="7500"/>
              <a:buNone/>
              <a:defRPr/>
            </a:lvl7pPr>
            <a:lvl8pPr lvl="7">
              <a:spcBef>
                <a:spcPts val="0"/>
              </a:spcBef>
              <a:spcAft>
                <a:spcPts val="0"/>
              </a:spcAft>
              <a:buSzPts val="7500"/>
              <a:buNone/>
              <a:defRPr/>
            </a:lvl8pPr>
            <a:lvl9pPr lvl="8">
              <a:spcBef>
                <a:spcPts val="0"/>
              </a:spcBef>
              <a:spcAft>
                <a:spcPts val="0"/>
              </a:spcAft>
              <a:buSzPts val="7500"/>
              <a:buNone/>
              <a:defRPr/>
            </a:lvl9pPr>
          </a:lstStyle>
          <a:p/>
        </p:txBody>
      </p:sp>
      <p:sp>
        <p:nvSpPr>
          <p:cNvPr id="23" name="Google Shape;23;p6"/>
          <p:cNvSpPr txBox="1"/>
          <p:nvPr>
            <p:ph idx="1" type="body"/>
          </p:nvPr>
        </p:nvSpPr>
        <p:spPr>
          <a:xfrm>
            <a:off x="831200" y="3073267"/>
            <a:ext cx="10666400" cy="9110400"/>
          </a:xfrm>
          <a:prstGeom prst="rect">
            <a:avLst/>
          </a:prstGeom>
        </p:spPr>
        <p:txBody>
          <a:bodyPr anchorCtr="0" anchor="t" bIns="243800" lIns="243800" spcFirstLastPara="1" rIns="243800" wrap="square" tIns="243800">
            <a:normAutofit/>
          </a:bodyPr>
          <a:lstStyle>
            <a:lvl1pPr indent="-463550" lvl="0" marL="457200">
              <a:spcBef>
                <a:spcPts val="0"/>
              </a:spcBef>
              <a:spcAft>
                <a:spcPts val="0"/>
              </a:spcAft>
              <a:buSzPts val="3700"/>
              <a:buChar char="●"/>
              <a:defRPr sz="3700"/>
            </a:lvl1pPr>
            <a:lvl2pPr indent="-431800" lvl="1" marL="914400">
              <a:spcBef>
                <a:spcPts val="0"/>
              </a:spcBef>
              <a:spcAft>
                <a:spcPts val="0"/>
              </a:spcAft>
              <a:buSzPts val="3200"/>
              <a:buChar char="○"/>
              <a:defRPr sz="3200"/>
            </a:lvl2pPr>
            <a:lvl3pPr indent="-431800" lvl="2" marL="1371600">
              <a:spcBef>
                <a:spcPts val="0"/>
              </a:spcBef>
              <a:spcAft>
                <a:spcPts val="0"/>
              </a:spcAft>
              <a:buSzPts val="3200"/>
              <a:buChar char="■"/>
              <a:defRPr sz="3200"/>
            </a:lvl3pPr>
            <a:lvl4pPr indent="-431800" lvl="3" marL="1828800">
              <a:spcBef>
                <a:spcPts val="0"/>
              </a:spcBef>
              <a:spcAft>
                <a:spcPts val="0"/>
              </a:spcAft>
              <a:buSzPts val="3200"/>
              <a:buChar char="●"/>
              <a:defRPr sz="3200"/>
            </a:lvl4pPr>
            <a:lvl5pPr indent="-431800" lvl="4" marL="2286000">
              <a:spcBef>
                <a:spcPts val="0"/>
              </a:spcBef>
              <a:spcAft>
                <a:spcPts val="0"/>
              </a:spcAft>
              <a:buSzPts val="3200"/>
              <a:buChar char="○"/>
              <a:defRPr sz="3200"/>
            </a:lvl5pPr>
            <a:lvl6pPr indent="-431800" lvl="5" marL="2743200">
              <a:spcBef>
                <a:spcPts val="0"/>
              </a:spcBef>
              <a:spcAft>
                <a:spcPts val="0"/>
              </a:spcAft>
              <a:buSzPts val="3200"/>
              <a:buChar char="■"/>
              <a:defRPr sz="3200"/>
            </a:lvl6pPr>
            <a:lvl7pPr indent="-431800" lvl="6" marL="3200400">
              <a:spcBef>
                <a:spcPts val="0"/>
              </a:spcBef>
              <a:spcAft>
                <a:spcPts val="0"/>
              </a:spcAft>
              <a:buSzPts val="3200"/>
              <a:buChar char="●"/>
              <a:defRPr sz="3200"/>
            </a:lvl7pPr>
            <a:lvl8pPr indent="-431800" lvl="7" marL="3657600">
              <a:spcBef>
                <a:spcPts val="0"/>
              </a:spcBef>
              <a:spcAft>
                <a:spcPts val="0"/>
              </a:spcAft>
              <a:buSzPts val="3200"/>
              <a:buChar char="○"/>
              <a:defRPr sz="3200"/>
            </a:lvl8pPr>
            <a:lvl9pPr indent="-431800" lvl="8" marL="4114800">
              <a:spcBef>
                <a:spcPts val="0"/>
              </a:spcBef>
              <a:spcAft>
                <a:spcPts val="0"/>
              </a:spcAft>
              <a:buSzPts val="3200"/>
              <a:buChar char="■"/>
              <a:defRPr sz="3200"/>
            </a:lvl9pPr>
          </a:lstStyle>
          <a:p/>
        </p:txBody>
      </p:sp>
      <p:sp>
        <p:nvSpPr>
          <p:cNvPr id="24" name="Google Shape;24;p6"/>
          <p:cNvSpPr txBox="1"/>
          <p:nvPr>
            <p:ph idx="2" type="body"/>
          </p:nvPr>
        </p:nvSpPr>
        <p:spPr>
          <a:xfrm>
            <a:off x="12886400" y="3073267"/>
            <a:ext cx="10666400" cy="9110400"/>
          </a:xfrm>
          <a:prstGeom prst="rect">
            <a:avLst/>
          </a:prstGeom>
        </p:spPr>
        <p:txBody>
          <a:bodyPr anchorCtr="0" anchor="t" bIns="243800" lIns="243800" spcFirstLastPara="1" rIns="243800" wrap="square" tIns="243800">
            <a:normAutofit/>
          </a:bodyPr>
          <a:lstStyle>
            <a:lvl1pPr indent="-463550" lvl="0" marL="457200">
              <a:spcBef>
                <a:spcPts val="0"/>
              </a:spcBef>
              <a:spcAft>
                <a:spcPts val="0"/>
              </a:spcAft>
              <a:buSzPts val="3700"/>
              <a:buChar char="●"/>
              <a:defRPr sz="3700"/>
            </a:lvl1pPr>
            <a:lvl2pPr indent="-431800" lvl="1" marL="914400">
              <a:spcBef>
                <a:spcPts val="0"/>
              </a:spcBef>
              <a:spcAft>
                <a:spcPts val="0"/>
              </a:spcAft>
              <a:buSzPts val="3200"/>
              <a:buChar char="○"/>
              <a:defRPr sz="3200"/>
            </a:lvl2pPr>
            <a:lvl3pPr indent="-431800" lvl="2" marL="1371600">
              <a:spcBef>
                <a:spcPts val="0"/>
              </a:spcBef>
              <a:spcAft>
                <a:spcPts val="0"/>
              </a:spcAft>
              <a:buSzPts val="3200"/>
              <a:buChar char="■"/>
              <a:defRPr sz="3200"/>
            </a:lvl3pPr>
            <a:lvl4pPr indent="-431800" lvl="3" marL="1828800">
              <a:spcBef>
                <a:spcPts val="0"/>
              </a:spcBef>
              <a:spcAft>
                <a:spcPts val="0"/>
              </a:spcAft>
              <a:buSzPts val="3200"/>
              <a:buChar char="●"/>
              <a:defRPr sz="3200"/>
            </a:lvl4pPr>
            <a:lvl5pPr indent="-431800" lvl="4" marL="2286000">
              <a:spcBef>
                <a:spcPts val="0"/>
              </a:spcBef>
              <a:spcAft>
                <a:spcPts val="0"/>
              </a:spcAft>
              <a:buSzPts val="3200"/>
              <a:buChar char="○"/>
              <a:defRPr sz="3200"/>
            </a:lvl5pPr>
            <a:lvl6pPr indent="-431800" lvl="5" marL="2743200">
              <a:spcBef>
                <a:spcPts val="0"/>
              </a:spcBef>
              <a:spcAft>
                <a:spcPts val="0"/>
              </a:spcAft>
              <a:buSzPts val="3200"/>
              <a:buChar char="■"/>
              <a:defRPr sz="3200"/>
            </a:lvl6pPr>
            <a:lvl7pPr indent="-431800" lvl="6" marL="3200400">
              <a:spcBef>
                <a:spcPts val="0"/>
              </a:spcBef>
              <a:spcAft>
                <a:spcPts val="0"/>
              </a:spcAft>
              <a:buSzPts val="3200"/>
              <a:buChar char="●"/>
              <a:defRPr sz="3200"/>
            </a:lvl7pPr>
            <a:lvl8pPr indent="-431800" lvl="7" marL="3657600">
              <a:spcBef>
                <a:spcPts val="0"/>
              </a:spcBef>
              <a:spcAft>
                <a:spcPts val="0"/>
              </a:spcAft>
              <a:buSzPts val="3200"/>
              <a:buChar char="○"/>
              <a:defRPr sz="3200"/>
            </a:lvl8pPr>
            <a:lvl9pPr indent="-431800" lvl="8" marL="4114800">
              <a:spcBef>
                <a:spcPts val="0"/>
              </a:spcBef>
              <a:spcAft>
                <a:spcPts val="0"/>
              </a:spcAft>
              <a:buSzPts val="3200"/>
              <a:buChar char="■"/>
              <a:defRPr sz="3200"/>
            </a:lvl9pPr>
          </a:lstStyle>
          <a:p/>
        </p:txBody>
      </p:sp>
      <p:sp>
        <p:nvSpPr>
          <p:cNvPr id="25" name="Google Shape;25;p6"/>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831200" y="1186733"/>
            <a:ext cx="22721600" cy="1527200"/>
          </a:xfrm>
          <a:prstGeom prst="rect">
            <a:avLst/>
          </a:prstGeom>
        </p:spPr>
        <p:txBody>
          <a:bodyPr anchorCtr="0" anchor="t" bIns="243800" lIns="243800" spcFirstLastPara="1" rIns="243800" wrap="square" tIns="243800">
            <a:normAutofit/>
          </a:bodyPr>
          <a:lstStyle>
            <a:lvl1pPr lvl="0">
              <a:spcBef>
                <a:spcPts val="0"/>
              </a:spcBef>
              <a:spcAft>
                <a:spcPts val="0"/>
              </a:spcAft>
              <a:buSzPts val="7500"/>
              <a:buNone/>
              <a:defRPr/>
            </a:lvl1pPr>
            <a:lvl2pPr lvl="1">
              <a:spcBef>
                <a:spcPts val="0"/>
              </a:spcBef>
              <a:spcAft>
                <a:spcPts val="0"/>
              </a:spcAft>
              <a:buSzPts val="7500"/>
              <a:buNone/>
              <a:defRPr/>
            </a:lvl2pPr>
            <a:lvl3pPr lvl="2">
              <a:spcBef>
                <a:spcPts val="0"/>
              </a:spcBef>
              <a:spcAft>
                <a:spcPts val="0"/>
              </a:spcAft>
              <a:buSzPts val="7500"/>
              <a:buNone/>
              <a:defRPr/>
            </a:lvl3pPr>
            <a:lvl4pPr lvl="3">
              <a:spcBef>
                <a:spcPts val="0"/>
              </a:spcBef>
              <a:spcAft>
                <a:spcPts val="0"/>
              </a:spcAft>
              <a:buSzPts val="7500"/>
              <a:buNone/>
              <a:defRPr/>
            </a:lvl4pPr>
            <a:lvl5pPr lvl="4">
              <a:spcBef>
                <a:spcPts val="0"/>
              </a:spcBef>
              <a:spcAft>
                <a:spcPts val="0"/>
              </a:spcAft>
              <a:buSzPts val="7500"/>
              <a:buNone/>
              <a:defRPr/>
            </a:lvl5pPr>
            <a:lvl6pPr lvl="5">
              <a:spcBef>
                <a:spcPts val="0"/>
              </a:spcBef>
              <a:spcAft>
                <a:spcPts val="0"/>
              </a:spcAft>
              <a:buSzPts val="7500"/>
              <a:buNone/>
              <a:defRPr/>
            </a:lvl6pPr>
            <a:lvl7pPr lvl="6">
              <a:spcBef>
                <a:spcPts val="0"/>
              </a:spcBef>
              <a:spcAft>
                <a:spcPts val="0"/>
              </a:spcAft>
              <a:buSzPts val="7500"/>
              <a:buNone/>
              <a:defRPr/>
            </a:lvl7pPr>
            <a:lvl8pPr lvl="7">
              <a:spcBef>
                <a:spcPts val="0"/>
              </a:spcBef>
              <a:spcAft>
                <a:spcPts val="0"/>
              </a:spcAft>
              <a:buSzPts val="7500"/>
              <a:buNone/>
              <a:defRPr/>
            </a:lvl8pPr>
            <a:lvl9pPr lvl="8">
              <a:spcBef>
                <a:spcPts val="0"/>
              </a:spcBef>
              <a:spcAft>
                <a:spcPts val="0"/>
              </a:spcAft>
              <a:buSzPts val="7500"/>
              <a:buNone/>
              <a:defRPr/>
            </a:lvl9pPr>
          </a:lstStyle>
          <a:p/>
        </p:txBody>
      </p:sp>
      <p:sp>
        <p:nvSpPr>
          <p:cNvPr id="28" name="Google Shape;28;p7"/>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831200" y="1481600"/>
            <a:ext cx="7488000" cy="2015200"/>
          </a:xfrm>
          <a:prstGeom prst="rect">
            <a:avLst/>
          </a:prstGeom>
        </p:spPr>
        <p:txBody>
          <a:bodyPr anchorCtr="0" anchor="b" bIns="243800" lIns="243800" spcFirstLastPara="1" rIns="243800" wrap="square" tIns="2438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1" name="Google Shape;31;p8"/>
          <p:cNvSpPr txBox="1"/>
          <p:nvPr>
            <p:ph idx="1" type="body"/>
          </p:nvPr>
        </p:nvSpPr>
        <p:spPr>
          <a:xfrm>
            <a:off x="831200" y="3705600"/>
            <a:ext cx="7488000" cy="8478400"/>
          </a:xfrm>
          <a:prstGeom prst="rect">
            <a:avLst/>
          </a:prstGeom>
        </p:spPr>
        <p:txBody>
          <a:bodyPr anchorCtr="0" anchor="t" bIns="243800" lIns="243800" spcFirstLastPara="1" rIns="243800" wrap="square" tIns="243800">
            <a:normAutofit/>
          </a:bodyPr>
          <a:lstStyle>
            <a:lvl1pPr indent="-431800" lvl="0" marL="457200">
              <a:spcBef>
                <a:spcPts val="0"/>
              </a:spcBef>
              <a:spcAft>
                <a:spcPts val="0"/>
              </a:spcAft>
              <a:buSzPts val="3200"/>
              <a:buChar char="●"/>
              <a:defRPr sz="3200"/>
            </a:lvl1pPr>
            <a:lvl2pPr indent="-431800" lvl="1" marL="914400">
              <a:spcBef>
                <a:spcPts val="0"/>
              </a:spcBef>
              <a:spcAft>
                <a:spcPts val="0"/>
              </a:spcAft>
              <a:buSzPts val="3200"/>
              <a:buChar char="○"/>
              <a:defRPr sz="3200"/>
            </a:lvl2pPr>
            <a:lvl3pPr indent="-431800" lvl="2" marL="1371600">
              <a:spcBef>
                <a:spcPts val="0"/>
              </a:spcBef>
              <a:spcAft>
                <a:spcPts val="0"/>
              </a:spcAft>
              <a:buSzPts val="3200"/>
              <a:buChar char="■"/>
              <a:defRPr sz="3200"/>
            </a:lvl3pPr>
            <a:lvl4pPr indent="-431800" lvl="3" marL="1828800">
              <a:spcBef>
                <a:spcPts val="0"/>
              </a:spcBef>
              <a:spcAft>
                <a:spcPts val="0"/>
              </a:spcAft>
              <a:buSzPts val="3200"/>
              <a:buChar char="●"/>
              <a:defRPr sz="3200"/>
            </a:lvl4pPr>
            <a:lvl5pPr indent="-431800" lvl="4" marL="2286000">
              <a:spcBef>
                <a:spcPts val="0"/>
              </a:spcBef>
              <a:spcAft>
                <a:spcPts val="0"/>
              </a:spcAft>
              <a:buSzPts val="3200"/>
              <a:buChar char="○"/>
              <a:defRPr sz="3200"/>
            </a:lvl5pPr>
            <a:lvl6pPr indent="-431800" lvl="5" marL="2743200">
              <a:spcBef>
                <a:spcPts val="0"/>
              </a:spcBef>
              <a:spcAft>
                <a:spcPts val="0"/>
              </a:spcAft>
              <a:buSzPts val="3200"/>
              <a:buChar char="■"/>
              <a:defRPr sz="3200"/>
            </a:lvl6pPr>
            <a:lvl7pPr indent="-431800" lvl="6" marL="3200400">
              <a:spcBef>
                <a:spcPts val="0"/>
              </a:spcBef>
              <a:spcAft>
                <a:spcPts val="0"/>
              </a:spcAft>
              <a:buSzPts val="3200"/>
              <a:buChar char="●"/>
              <a:defRPr sz="3200"/>
            </a:lvl7pPr>
            <a:lvl8pPr indent="-431800" lvl="7" marL="3657600">
              <a:spcBef>
                <a:spcPts val="0"/>
              </a:spcBef>
              <a:spcAft>
                <a:spcPts val="0"/>
              </a:spcAft>
              <a:buSzPts val="3200"/>
              <a:buChar char="○"/>
              <a:defRPr sz="3200"/>
            </a:lvl8pPr>
            <a:lvl9pPr indent="-431800" lvl="8" marL="4114800">
              <a:spcBef>
                <a:spcPts val="0"/>
              </a:spcBef>
              <a:spcAft>
                <a:spcPts val="0"/>
              </a:spcAft>
              <a:buSzPts val="3200"/>
              <a:buChar char="■"/>
              <a:defRPr sz="3200"/>
            </a:lvl9pPr>
          </a:lstStyle>
          <a:p/>
        </p:txBody>
      </p:sp>
      <p:sp>
        <p:nvSpPr>
          <p:cNvPr id="32" name="Google Shape;32;p8"/>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1307333" y="1200400"/>
            <a:ext cx="16980801" cy="10908800"/>
          </a:xfrm>
          <a:prstGeom prst="rect">
            <a:avLst/>
          </a:prstGeom>
        </p:spPr>
        <p:txBody>
          <a:bodyPr anchorCtr="0" anchor="ctr" bIns="243800" lIns="243800" spcFirstLastPara="1" rIns="243800" wrap="square" tIns="2438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5" name="Google Shape;35;p9"/>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12192000" y="-333"/>
            <a:ext cx="12192000" cy="13716000"/>
          </a:xfrm>
          <a:prstGeom prst="rect">
            <a:avLst/>
          </a:prstGeom>
          <a:solidFill>
            <a:schemeClr val="lt2"/>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708000" y="3288467"/>
            <a:ext cx="10787200" cy="3952800"/>
          </a:xfrm>
          <a:prstGeom prst="rect">
            <a:avLst/>
          </a:prstGeom>
        </p:spPr>
        <p:txBody>
          <a:bodyPr anchorCtr="0" anchor="b" bIns="243800" lIns="243800" spcFirstLastPara="1" rIns="243800" wrap="square" tIns="243800">
            <a:normAutofit/>
          </a:bodyPr>
          <a:lstStyle>
            <a:lvl1pPr lvl="0" algn="ctr">
              <a:spcBef>
                <a:spcPts val="0"/>
              </a:spcBef>
              <a:spcAft>
                <a:spcPts val="0"/>
              </a:spcAft>
              <a:buSzPts val="11200"/>
              <a:buNone/>
              <a:defRPr sz="11200"/>
            </a:lvl1pPr>
            <a:lvl2pPr lvl="1" algn="ctr">
              <a:spcBef>
                <a:spcPts val="0"/>
              </a:spcBef>
              <a:spcAft>
                <a:spcPts val="0"/>
              </a:spcAft>
              <a:buSzPts val="11200"/>
              <a:buNone/>
              <a:defRPr sz="11200"/>
            </a:lvl2pPr>
            <a:lvl3pPr lvl="2" algn="ctr">
              <a:spcBef>
                <a:spcPts val="0"/>
              </a:spcBef>
              <a:spcAft>
                <a:spcPts val="0"/>
              </a:spcAft>
              <a:buSzPts val="11200"/>
              <a:buNone/>
              <a:defRPr sz="11200"/>
            </a:lvl3pPr>
            <a:lvl4pPr lvl="3" algn="ctr">
              <a:spcBef>
                <a:spcPts val="0"/>
              </a:spcBef>
              <a:spcAft>
                <a:spcPts val="0"/>
              </a:spcAft>
              <a:buSzPts val="11200"/>
              <a:buNone/>
              <a:defRPr sz="11200"/>
            </a:lvl4pPr>
            <a:lvl5pPr lvl="4" algn="ctr">
              <a:spcBef>
                <a:spcPts val="0"/>
              </a:spcBef>
              <a:spcAft>
                <a:spcPts val="0"/>
              </a:spcAft>
              <a:buSzPts val="11200"/>
              <a:buNone/>
              <a:defRPr sz="11200"/>
            </a:lvl5pPr>
            <a:lvl6pPr lvl="5" algn="ctr">
              <a:spcBef>
                <a:spcPts val="0"/>
              </a:spcBef>
              <a:spcAft>
                <a:spcPts val="0"/>
              </a:spcAft>
              <a:buSzPts val="11200"/>
              <a:buNone/>
              <a:defRPr sz="11200"/>
            </a:lvl6pPr>
            <a:lvl7pPr lvl="6" algn="ctr">
              <a:spcBef>
                <a:spcPts val="0"/>
              </a:spcBef>
              <a:spcAft>
                <a:spcPts val="0"/>
              </a:spcAft>
              <a:buSzPts val="11200"/>
              <a:buNone/>
              <a:defRPr sz="11200"/>
            </a:lvl7pPr>
            <a:lvl8pPr lvl="7" algn="ctr">
              <a:spcBef>
                <a:spcPts val="0"/>
              </a:spcBef>
              <a:spcAft>
                <a:spcPts val="0"/>
              </a:spcAft>
              <a:buSzPts val="11200"/>
              <a:buNone/>
              <a:defRPr sz="11200"/>
            </a:lvl8pPr>
            <a:lvl9pPr lvl="8" algn="ctr">
              <a:spcBef>
                <a:spcPts val="0"/>
              </a:spcBef>
              <a:spcAft>
                <a:spcPts val="0"/>
              </a:spcAft>
              <a:buSzPts val="11200"/>
              <a:buNone/>
              <a:defRPr sz="11200"/>
            </a:lvl9pPr>
          </a:lstStyle>
          <a:p/>
        </p:txBody>
      </p:sp>
      <p:sp>
        <p:nvSpPr>
          <p:cNvPr id="39" name="Google Shape;39;p10"/>
          <p:cNvSpPr txBox="1"/>
          <p:nvPr>
            <p:ph idx="1" type="subTitle"/>
          </p:nvPr>
        </p:nvSpPr>
        <p:spPr>
          <a:xfrm>
            <a:off x="708000" y="7474867"/>
            <a:ext cx="10787200" cy="3293600"/>
          </a:xfrm>
          <a:prstGeom prst="rect">
            <a:avLst/>
          </a:prstGeom>
        </p:spPr>
        <p:txBody>
          <a:bodyPr anchorCtr="0" anchor="t" bIns="243800" lIns="243800" spcFirstLastPara="1" rIns="243800" wrap="square" tIns="2438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0" name="Google Shape;40;p10"/>
          <p:cNvSpPr txBox="1"/>
          <p:nvPr>
            <p:ph idx="2" type="body"/>
          </p:nvPr>
        </p:nvSpPr>
        <p:spPr>
          <a:xfrm>
            <a:off x="13172000" y="1930867"/>
            <a:ext cx="10232000" cy="9853600"/>
          </a:xfrm>
          <a:prstGeom prst="rect">
            <a:avLst/>
          </a:prstGeom>
        </p:spPr>
        <p:txBody>
          <a:bodyPr anchorCtr="0" anchor="ctr" bIns="243800" lIns="243800" spcFirstLastPara="1" rIns="243800" wrap="square" tIns="243800">
            <a:normAutofit/>
          </a:bodyPr>
          <a:lstStyle>
            <a:lvl1pPr indent="-533400" lvl="0" marL="457200">
              <a:spcBef>
                <a:spcPts val="0"/>
              </a:spcBef>
              <a:spcAft>
                <a:spcPts val="0"/>
              </a:spcAft>
              <a:buSzPts val="4800"/>
              <a:buChar char="●"/>
              <a:defRPr/>
            </a:lvl1pPr>
            <a:lvl2pPr indent="-463550" lvl="1" marL="914400">
              <a:spcBef>
                <a:spcPts val="0"/>
              </a:spcBef>
              <a:spcAft>
                <a:spcPts val="0"/>
              </a:spcAft>
              <a:buSzPts val="3700"/>
              <a:buChar char="○"/>
              <a:defRPr/>
            </a:lvl2pPr>
            <a:lvl3pPr indent="-463550" lvl="2" marL="1371600">
              <a:spcBef>
                <a:spcPts val="0"/>
              </a:spcBef>
              <a:spcAft>
                <a:spcPts val="0"/>
              </a:spcAft>
              <a:buSzPts val="3700"/>
              <a:buChar char="■"/>
              <a:defRPr/>
            </a:lvl3pPr>
            <a:lvl4pPr indent="-463550" lvl="3" marL="1828800">
              <a:spcBef>
                <a:spcPts val="0"/>
              </a:spcBef>
              <a:spcAft>
                <a:spcPts val="0"/>
              </a:spcAft>
              <a:buSzPts val="3700"/>
              <a:buChar char="●"/>
              <a:defRPr/>
            </a:lvl4pPr>
            <a:lvl5pPr indent="-463550" lvl="4" marL="2286000">
              <a:spcBef>
                <a:spcPts val="0"/>
              </a:spcBef>
              <a:spcAft>
                <a:spcPts val="0"/>
              </a:spcAft>
              <a:buSzPts val="3700"/>
              <a:buChar char="○"/>
              <a:defRPr/>
            </a:lvl5pPr>
            <a:lvl6pPr indent="-463550" lvl="5" marL="2743200">
              <a:spcBef>
                <a:spcPts val="0"/>
              </a:spcBef>
              <a:spcAft>
                <a:spcPts val="0"/>
              </a:spcAft>
              <a:buSzPts val="3700"/>
              <a:buChar char="■"/>
              <a:defRPr/>
            </a:lvl6pPr>
            <a:lvl7pPr indent="-463550" lvl="6" marL="3200400">
              <a:spcBef>
                <a:spcPts val="0"/>
              </a:spcBef>
              <a:spcAft>
                <a:spcPts val="0"/>
              </a:spcAft>
              <a:buSzPts val="3700"/>
              <a:buChar char="●"/>
              <a:defRPr/>
            </a:lvl7pPr>
            <a:lvl8pPr indent="-463550" lvl="7" marL="3657600">
              <a:spcBef>
                <a:spcPts val="0"/>
              </a:spcBef>
              <a:spcAft>
                <a:spcPts val="0"/>
              </a:spcAft>
              <a:buSzPts val="3700"/>
              <a:buChar char="○"/>
              <a:defRPr/>
            </a:lvl8pPr>
            <a:lvl9pPr indent="-463550" lvl="8" marL="4114800">
              <a:spcBef>
                <a:spcPts val="0"/>
              </a:spcBef>
              <a:spcAft>
                <a:spcPts val="0"/>
              </a:spcAft>
              <a:buSzPts val="3700"/>
              <a:buChar char="■"/>
              <a:defRPr/>
            </a:lvl9pPr>
          </a:lstStyle>
          <a:p/>
        </p:txBody>
      </p:sp>
      <p:sp>
        <p:nvSpPr>
          <p:cNvPr id="41" name="Google Shape;41;p10"/>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831200" y="11281533"/>
            <a:ext cx="15996800" cy="1613600"/>
          </a:xfrm>
          <a:prstGeom prst="rect">
            <a:avLst/>
          </a:prstGeom>
        </p:spPr>
        <p:txBody>
          <a:bodyPr anchorCtr="0" anchor="ctr" bIns="243800" lIns="243800" spcFirstLastPara="1" rIns="243800" wrap="square" tIns="243800">
            <a:normAutofit/>
          </a:bodyPr>
          <a:lstStyle>
            <a:lvl1pPr indent="-228600" lvl="0" marL="457200">
              <a:lnSpc>
                <a:spcPct val="100000"/>
              </a:lnSpc>
              <a:spcBef>
                <a:spcPts val="0"/>
              </a:spcBef>
              <a:spcAft>
                <a:spcPts val="0"/>
              </a:spcAft>
              <a:buSzPts val="4800"/>
              <a:buNone/>
              <a:defRPr/>
            </a:lvl1pPr>
          </a:lstStyle>
          <a:p/>
        </p:txBody>
      </p:sp>
      <p:sp>
        <p:nvSpPr>
          <p:cNvPr id="44" name="Google Shape;44;p11"/>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831200" y="2949667"/>
            <a:ext cx="22721600" cy="5236000"/>
          </a:xfrm>
          <a:prstGeom prst="rect">
            <a:avLst/>
          </a:prstGeom>
        </p:spPr>
        <p:txBody>
          <a:bodyPr anchorCtr="0" anchor="b" bIns="243800" lIns="243800" spcFirstLastPara="1" rIns="243800" wrap="square" tIns="243800">
            <a:normAutofit/>
          </a:bodyPr>
          <a:lstStyle>
            <a:lvl1pPr lvl="0" algn="ctr">
              <a:spcBef>
                <a:spcPts val="0"/>
              </a:spcBef>
              <a:spcAft>
                <a:spcPts val="0"/>
              </a:spcAft>
              <a:buSzPts val="32000"/>
              <a:buNone/>
              <a:defRPr sz="32000"/>
            </a:lvl1pPr>
            <a:lvl2pPr lvl="1" algn="ctr">
              <a:spcBef>
                <a:spcPts val="0"/>
              </a:spcBef>
              <a:spcAft>
                <a:spcPts val="0"/>
              </a:spcAft>
              <a:buSzPts val="32000"/>
              <a:buNone/>
              <a:defRPr sz="32000"/>
            </a:lvl2pPr>
            <a:lvl3pPr lvl="2" algn="ctr">
              <a:spcBef>
                <a:spcPts val="0"/>
              </a:spcBef>
              <a:spcAft>
                <a:spcPts val="0"/>
              </a:spcAft>
              <a:buSzPts val="32000"/>
              <a:buNone/>
              <a:defRPr sz="32000"/>
            </a:lvl3pPr>
            <a:lvl4pPr lvl="3" algn="ctr">
              <a:spcBef>
                <a:spcPts val="0"/>
              </a:spcBef>
              <a:spcAft>
                <a:spcPts val="0"/>
              </a:spcAft>
              <a:buSzPts val="32000"/>
              <a:buNone/>
              <a:defRPr sz="32000"/>
            </a:lvl4pPr>
            <a:lvl5pPr lvl="4" algn="ctr">
              <a:spcBef>
                <a:spcPts val="0"/>
              </a:spcBef>
              <a:spcAft>
                <a:spcPts val="0"/>
              </a:spcAft>
              <a:buSzPts val="32000"/>
              <a:buNone/>
              <a:defRPr sz="32000"/>
            </a:lvl5pPr>
            <a:lvl6pPr lvl="5" algn="ctr">
              <a:spcBef>
                <a:spcPts val="0"/>
              </a:spcBef>
              <a:spcAft>
                <a:spcPts val="0"/>
              </a:spcAft>
              <a:buSzPts val="32000"/>
              <a:buNone/>
              <a:defRPr sz="32000"/>
            </a:lvl6pPr>
            <a:lvl7pPr lvl="6" algn="ctr">
              <a:spcBef>
                <a:spcPts val="0"/>
              </a:spcBef>
              <a:spcAft>
                <a:spcPts val="0"/>
              </a:spcAft>
              <a:buSzPts val="32000"/>
              <a:buNone/>
              <a:defRPr sz="32000"/>
            </a:lvl7pPr>
            <a:lvl8pPr lvl="7" algn="ctr">
              <a:spcBef>
                <a:spcPts val="0"/>
              </a:spcBef>
              <a:spcAft>
                <a:spcPts val="0"/>
              </a:spcAft>
              <a:buSzPts val="32000"/>
              <a:buNone/>
              <a:defRPr sz="32000"/>
            </a:lvl8pPr>
            <a:lvl9pPr lvl="8" algn="ctr">
              <a:spcBef>
                <a:spcPts val="0"/>
              </a:spcBef>
              <a:spcAft>
                <a:spcPts val="0"/>
              </a:spcAft>
              <a:buSzPts val="32000"/>
              <a:buNone/>
              <a:defRPr sz="32000"/>
            </a:lvl9pPr>
          </a:lstStyle>
          <a:p>
            <a:r>
              <a:t>xx%</a:t>
            </a:r>
          </a:p>
        </p:txBody>
      </p:sp>
      <p:sp>
        <p:nvSpPr>
          <p:cNvPr id="47" name="Google Shape;47;p12"/>
          <p:cNvSpPr txBox="1"/>
          <p:nvPr>
            <p:ph idx="1" type="body"/>
          </p:nvPr>
        </p:nvSpPr>
        <p:spPr>
          <a:xfrm>
            <a:off x="831200" y="8405933"/>
            <a:ext cx="22721600" cy="3468800"/>
          </a:xfrm>
          <a:prstGeom prst="rect">
            <a:avLst/>
          </a:prstGeom>
        </p:spPr>
        <p:txBody>
          <a:bodyPr anchorCtr="0" anchor="t" bIns="243800" lIns="243800" spcFirstLastPara="1" rIns="243800" wrap="square" tIns="243800">
            <a:normAutofit/>
          </a:bodyPr>
          <a:lstStyle>
            <a:lvl1pPr indent="-533400" lvl="0" marL="457200" algn="ctr">
              <a:spcBef>
                <a:spcPts val="0"/>
              </a:spcBef>
              <a:spcAft>
                <a:spcPts val="0"/>
              </a:spcAft>
              <a:buSzPts val="4800"/>
              <a:buChar char="●"/>
              <a:defRPr/>
            </a:lvl1pPr>
            <a:lvl2pPr indent="-463550" lvl="1" marL="914400" algn="ctr">
              <a:spcBef>
                <a:spcPts val="0"/>
              </a:spcBef>
              <a:spcAft>
                <a:spcPts val="0"/>
              </a:spcAft>
              <a:buSzPts val="3700"/>
              <a:buChar char="○"/>
              <a:defRPr/>
            </a:lvl2pPr>
            <a:lvl3pPr indent="-463550" lvl="2" marL="1371600" algn="ctr">
              <a:spcBef>
                <a:spcPts val="0"/>
              </a:spcBef>
              <a:spcAft>
                <a:spcPts val="0"/>
              </a:spcAft>
              <a:buSzPts val="3700"/>
              <a:buChar char="■"/>
              <a:defRPr/>
            </a:lvl3pPr>
            <a:lvl4pPr indent="-463550" lvl="3" marL="1828800" algn="ctr">
              <a:spcBef>
                <a:spcPts val="0"/>
              </a:spcBef>
              <a:spcAft>
                <a:spcPts val="0"/>
              </a:spcAft>
              <a:buSzPts val="3700"/>
              <a:buChar char="●"/>
              <a:defRPr/>
            </a:lvl4pPr>
            <a:lvl5pPr indent="-463550" lvl="4" marL="2286000" algn="ctr">
              <a:spcBef>
                <a:spcPts val="0"/>
              </a:spcBef>
              <a:spcAft>
                <a:spcPts val="0"/>
              </a:spcAft>
              <a:buSzPts val="3700"/>
              <a:buChar char="○"/>
              <a:defRPr/>
            </a:lvl5pPr>
            <a:lvl6pPr indent="-463550" lvl="5" marL="2743200" algn="ctr">
              <a:spcBef>
                <a:spcPts val="0"/>
              </a:spcBef>
              <a:spcAft>
                <a:spcPts val="0"/>
              </a:spcAft>
              <a:buSzPts val="3700"/>
              <a:buChar char="■"/>
              <a:defRPr/>
            </a:lvl6pPr>
            <a:lvl7pPr indent="-463550" lvl="6" marL="3200400" algn="ctr">
              <a:spcBef>
                <a:spcPts val="0"/>
              </a:spcBef>
              <a:spcAft>
                <a:spcPts val="0"/>
              </a:spcAft>
              <a:buSzPts val="3700"/>
              <a:buChar char="●"/>
              <a:defRPr/>
            </a:lvl7pPr>
            <a:lvl8pPr indent="-463550" lvl="7" marL="3657600" algn="ctr">
              <a:spcBef>
                <a:spcPts val="0"/>
              </a:spcBef>
              <a:spcAft>
                <a:spcPts val="0"/>
              </a:spcAft>
              <a:buSzPts val="3700"/>
              <a:buChar char="○"/>
              <a:defRPr/>
            </a:lvl8pPr>
            <a:lvl9pPr indent="-463550" lvl="8" marL="4114800" algn="ctr">
              <a:spcBef>
                <a:spcPts val="0"/>
              </a:spcBef>
              <a:spcAft>
                <a:spcPts val="0"/>
              </a:spcAft>
              <a:buSzPts val="3700"/>
              <a:buChar char="■"/>
              <a:defRPr/>
            </a:lvl9pPr>
          </a:lstStyle>
          <a:p/>
        </p:txBody>
      </p:sp>
      <p:sp>
        <p:nvSpPr>
          <p:cNvPr id="48" name="Google Shape;48;p12"/>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22593221" y="12435245"/>
            <a:ext cx="1463200" cy="1049600"/>
          </a:xfrm>
          <a:prstGeom prst="rect">
            <a:avLst/>
          </a:prstGeom>
        </p:spPr>
        <p:txBody>
          <a:bodyPr anchorCtr="0" anchor="ctr" bIns="243800" lIns="243800" spcFirstLastPara="1" rIns="243800" wrap="square" tIns="243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1200" y="1186733"/>
            <a:ext cx="22721600" cy="1527200"/>
          </a:xfrm>
          <a:prstGeom prst="rect">
            <a:avLst/>
          </a:prstGeom>
          <a:noFill/>
          <a:ln>
            <a:noFill/>
          </a:ln>
        </p:spPr>
        <p:txBody>
          <a:bodyPr anchorCtr="0" anchor="t" bIns="243800" lIns="243800" spcFirstLastPara="1" rIns="243800" wrap="square" tIns="243800">
            <a:normAutofit/>
          </a:bodyPr>
          <a:lstStyle>
            <a:lvl1pPr lvl="0">
              <a:spcBef>
                <a:spcPts val="0"/>
              </a:spcBef>
              <a:spcAft>
                <a:spcPts val="0"/>
              </a:spcAft>
              <a:buClr>
                <a:schemeClr val="dk1"/>
              </a:buClr>
              <a:buSzPts val="7500"/>
              <a:buNone/>
              <a:defRPr sz="7500">
                <a:solidFill>
                  <a:schemeClr val="dk1"/>
                </a:solidFill>
              </a:defRPr>
            </a:lvl1pPr>
            <a:lvl2pPr lvl="1">
              <a:spcBef>
                <a:spcPts val="0"/>
              </a:spcBef>
              <a:spcAft>
                <a:spcPts val="0"/>
              </a:spcAft>
              <a:buClr>
                <a:schemeClr val="dk1"/>
              </a:buClr>
              <a:buSzPts val="7500"/>
              <a:buNone/>
              <a:defRPr sz="7500">
                <a:solidFill>
                  <a:schemeClr val="dk1"/>
                </a:solidFill>
              </a:defRPr>
            </a:lvl2pPr>
            <a:lvl3pPr lvl="2">
              <a:spcBef>
                <a:spcPts val="0"/>
              </a:spcBef>
              <a:spcAft>
                <a:spcPts val="0"/>
              </a:spcAft>
              <a:buClr>
                <a:schemeClr val="dk1"/>
              </a:buClr>
              <a:buSzPts val="7500"/>
              <a:buNone/>
              <a:defRPr sz="7500">
                <a:solidFill>
                  <a:schemeClr val="dk1"/>
                </a:solidFill>
              </a:defRPr>
            </a:lvl3pPr>
            <a:lvl4pPr lvl="3">
              <a:spcBef>
                <a:spcPts val="0"/>
              </a:spcBef>
              <a:spcAft>
                <a:spcPts val="0"/>
              </a:spcAft>
              <a:buClr>
                <a:schemeClr val="dk1"/>
              </a:buClr>
              <a:buSzPts val="7500"/>
              <a:buNone/>
              <a:defRPr sz="7500">
                <a:solidFill>
                  <a:schemeClr val="dk1"/>
                </a:solidFill>
              </a:defRPr>
            </a:lvl4pPr>
            <a:lvl5pPr lvl="4">
              <a:spcBef>
                <a:spcPts val="0"/>
              </a:spcBef>
              <a:spcAft>
                <a:spcPts val="0"/>
              </a:spcAft>
              <a:buClr>
                <a:schemeClr val="dk1"/>
              </a:buClr>
              <a:buSzPts val="7500"/>
              <a:buNone/>
              <a:defRPr sz="7500">
                <a:solidFill>
                  <a:schemeClr val="dk1"/>
                </a:solidFill>
              </a:defRPr>
            </a:lvl5pPr>
            <a:lvl6pPr lvl="5">
              <a:spcBef>
                <a:spcPts val="0"/>
              </a:spcBef>
              <a:spcAft>
                <a:spcPts val="0"/>
              </a:spcAft>
              <a:buClr>
                <a:schemeClr val="dk1"/>
              </a:buClr>
              <a:buSzPts val="7500"/>
              <a:buNone/>
              <a:defRPr sz="7500">
                <a:solidFill>
                  <a:schemeClr val="dk1"/>
                </a:solidFill>
              </a:defRPr>
            </a:lvl6pPr>
            <a:lvl7pPr lvl="6">
              <a:spcBef>
                <a:spcPts val="0"/>
              </a:spcBef>
              <a:spcAft>
                <a:spcPts val="0"/>
              </a:spcAft>
              <a:buClr>
                <a:schemeClr val="dk1"/>
              </a:buClr>
              <a:buSzPts val="7500"/>
              <a:buNone/>
              <a:defRPr sz="7500">
                <a:solidFill>
                  <a:schemeClr val="dk1"/>
                </a:solidFill>
              </a:defRPr>
            </a:lvl7pPr>
            <a:lvl8pPr lvl="7">
              <a:spcBef>
                <a:spcPts val="0"/>
              </a:spcBef>
              <a:spcAft>
                <a:spcPts val="0"/>
              </a:spcAft>
              <a:buClr>
                <a:schemeClr val="dk1"/>
              </a:buClr>
              <a:buSzPts val="7500"/>
              <a:buNone/>
              <a:defRPr sz="7500">
                <a:solidFill>
                  <a:schemeClr val="dk1"/>
                </a:solidFill>
              </a:defRPr>
            </a:lvl8pPr>
            <a:lvl9pPr lvl="8">
              <a:spcBef>
                <a:spcPts val="0"/>
              </a:spcBef>
              <a:spcAft>
                <a:spcPts val="0"/>
              </a:spcAft>
              <a:buClr>
                <a:schemeClr val="dk1"/>
              </a:buClr>
              <a:buSzPts val="7500"/>
              <a:buNone/>
              <a:defRPr sz="7500">
                <a:solidFill>
                  <a:schemeClr val="dk1"/>
                </a:solidFill>
              </a:defRPr>
            </a:lvl9pPr>
          </a:lstStyle>
          <a:p/>
        </p:txBody>
      </p:sp>
      <p:sp>
        <p:nvSpPr>
          <p:cNvPr id="7" name="Google Shape;7;p1"/>
          <p:cNvSpPr txBox="1"/>
          <p:nvPr>
            <p:ph idx="1" type="body"/>
          </p:nvPr>
        </p:nvSpPr>
        <p:spPr>
          <a:xfrm>
            <a:off x="831200" y="3073267"/>
            <a:ext cx="22721600" cy="9110400"/>
          </a:xfrm>
          <a:prstGeom prst="rect">
            <a:avLst/>
          </a:prstGeom>
          <a:noFill/>
          <a:ln>
            <a:noFill/>
          </a:ln>
        </p:spPr>
        <p:txBody>
          <a:bodyPr anchorCtr="0" anchor="t" bIns="243800" lIns="243800" spcFirstLastPara="1" rIns="243800" wrap="square" tIns="243800">
            <a:normAutofit/>
          </a:bodyPr>
          <a:lstStyle>
            <a:lvl1pPr indent="-533400" lvl="0" marL="457200">
              <a:lnSpc>
                <a:spcPct val="115000"/>
              </a:lnSpc>
              <a:spcBef>
                <a:spcPts val="0"/>
              </a:spcBef>
              <a:spcAft>
                <a:spcPts val="0"/>
              </a:spcAft>
              <a:buClr>
                <a:schemeClr val="dk2"/>
              </a:buClr>
              <a:buSzPts val="4800"/>
              <a:buChar char="●"/>
              <a:defRPr sz="4800">
                <a:solidFill>
                  <a:schemeClr val="dk2"/>
                </a:solidFill>
              </a:defRPr>
            </a:lvl1pPr>
            <a:lvl2pPr indent="-463550" lvl="1" marL="914400">
              <a:lnSpc>
                <a:spcPct val="115000"/>
              </a:lnSpc>
              <a:spcBef>
                <a:spcPts val="0"/>
              </a:spcBef>
              <a:spcAft>
                <a:spcPts val="0"/>
              </a:spcAft>
              <a:buClr>
                <a:schemeClr val="dk2"/>
              </a:buClr>
              <a:buSzPts val="3700"/>
              <a:buChar char="○"/>
              <a:defRPr sz="3700">
                <a:solidFill>
                  <a:schemeClr val="dk2"/>
                </a:solidFill>
              </a:defRPr>
            </a:lvl2pPr>
            <a:lvl3pPr indent="-463550" lvl="2" marL="1371600">
              <a:lnSpc>
                <a:spcPct val="115000"/>
              </a:lnSpc>
              <a:spcBef>
                <a:spcPts val="0"/>
              </a:spcBef>
              <a:spcAft>
                <a:spcPts val="0"/>
              </a:spcAft>
              <a:buClr>
                <a:schemeClr val="dk2"/>
              </a:buClr>
              <a:buSzPts val="3700"/>
              <a:buChar char="■"/>
              <a:defRPr sz="3700">
                <a:solidFill>
                  <a:schemeClr val="dk2"/>
                </a:solidFill>
              </a:defRPr>
            </a:lvl3pPr>
            <a:lvl4pPr indent="-463550" lvl="3" marL="1828800">
              <a:lnSpc>
                <a:spcPct val="115000"/>
              </a:lnSpc>
              <a:spcBef>
                <a:spcPts val="0"/>
              </a:spcBef>
              <a:spcAft>
                <a:spcPts val="0"/>
              </a:spcAft>
              <a:buClr>
                <a:schemeClr val="dk2"/>
              </a:buClr>
              <a:buSzPts val="3700"/>
              <a:buChar char="●"/>
              <a:defRPr sz="3700">
                <a:solidFill>
                  <a:schemeClr val="dk2"/>
                </a:solidFill>
              </a:defRPr>
            </a:lvl4pPr>
            <a:lvl5pPr indent="-463550" lvl="4" marL="2286000">
              <a:lnSpc>
                <a:spcPct val="115000"/>
              </a:lnSpc>
              <a:spcBef>
                <a:spcPts val="0"/>
              </a:spcBef>
              <a:spcAft>
                <a:spcPts val="0"/>
              </a:spcAft>
              <a:buClr>
                <a:schemeClr val="dk2"/>
              </a:buClr>
              <a:buSzPts val="3700"/>
              <a:buChar char="○"/>
              <a:defRPr sz="3700">
                <a:solidFill>
                  <a:schemeClr val="dk2"/>
                </a:solidFill>
              </a:defRPr>
            </a:lvl5pPr>
            <a:lvl6pPr indent="-463550" lvl="5" marL="2743200">
              <a:lnSpc>
                <a:spcPct val="115000"/>
              </a:lnSpc>
              <a:spcBef>
                <a:spcPts val="0"/>
              </a:spcBef>
              <a:spcAft>
                <a:spcPts val="0"/>
              </a:spcAft>
              <a:buClr>
                <a:schemeClr val="dk2"/>
              </a:buClr>
              <a:buSzPts val="3700"/>
              <a:buChar char="■"/>
              <a:defRPr sz="3700">
                <a:solidFill>
                  <a:schemeClr val="dk2"/>
                </a:solidFill>
              </a:defRPr>
            </a:lvl6pPr>
            <a:lvl7pPr indent="-463550" lvl="6" marL="3200400">
              <a:lnSpc>
                <a:spcPct val="115000"/>
              </a:lnSpc>
              <a:spcBef>
                <a:spcPts val="0"/>
              </a:spcBef>
              <a:spcAft>
                <a:spcPts val="0"/>
              </a:spcAft>
              <a:buClr>
                <a:schemeClr val="dk2"/>
              </a:buClr>
              <a:buSzPts val="3700"/>
              <a:buChar char="●"/>
              <a:defRPr sz="3700">
                <a:solidFill>
                  <a:schemeClr val="dk2"/>
                </a:solidFill>
              </a:defRPr>
            </a:lvl7pPr>
            <a:lvl8pPr indent="-463550" lvl="7" marL="3657600">
              <a:lnSpc>
                <a:spcPct val="115000"/>
              </a:lnSpc>
              <a:spcBef>
                <a:spcPts val="0"/>
              </a:spcBef>
              <a:spcAft>
                <a:spcPts val="0"/>
              </a:spcAft>
              <a:buClr>
                <a:schemeClr val="dk2"/>
              </a:buClr>
              <a:buSzPts val="3700"/>
              <a:buChar char="○"/>
              <a:defRPr sz="3700">
                <a:solidFill>
                  <a:schemeClr val="dk2"/>
                </a:solidFill>
              </a:defRPr>
            </a:lvl8pPr>
            <a:lvl9pPr indent="-463550" lvl="8" marL="4114800">
              <a:lnSpc>
                <a:spcPct val="115000"/>
              </a:lnSpc>
              <a:spcBef>
                <a:spcPts val="0"/>
              </a:spcBef>
              <a:spcAft>
                <a:spcPts val="0"/>
              </a:spcAft>
              <a:buClr>
                <a:schemeClr val="dk2"/>
              </a:buClr>
              <a:buSzPts val="3700"/>
              <a:buChar char="■"/>
              <a:defRPr sz="3700">
                <a:solidFill>
                  <a:schemeClr val="dk2"/>
                </a:solidFill>
              </a:defRPr>
            </a:lvl9pPr>
          </a:lstStyle>
          <a:p/>
        </p:txBody>
      </p:sp>
      <p:sp>
        <p:nvSpPr>
          <p:cNvPr id="8" name="Google Shape;8;p1"/>
          <p:cNvSpPr txBox="1"/>
          <p:nvPr>
            <p:ph idx="12" type="sldNum"/>
          </p:nvPr>
        </p:nvSpPr>
        <p:spPr>
          <a:xfrm>
            <a:off x="22593221" y="12435245"/>
            <a:ext cx="1463200" cy="1049600"/>
          </a:xfrm>
          <a:prstGeom prst="rect">
            <a:avLst/>
          </a:prstGeom>
          <a:noFill/>
          <a:ln>
            <a:noFill/>
          </a:ln>
        </p:spPr>
        <p:txBody>
          <a:bodyPr anchorCtr="0" anchor="ctr" bIns="243800" lIns="243800" spcFirstLastPara="1" rIns="243800" wrap="square" tIns="243800">
            <a:normAutofit/>
          </a:bodyPr>
          <a:lstStyle>
            <a:lvl1pPr lvl="0" algn="r">
              <a:buNone/>
              <a:defRPr sz="2700">
                <a:solidFill>
                  <a:schemeClr val="dk2"/>
                </a:solidFill>
              </a:defRPr>
            </a:lvl1pPr>
            <a:lvl2pPr lvl="1" algn="r">
              <a:buNone/>
              <a:defRPr sz="2700">
                <a:solidFill>
                  <a:schemeClr val="dk2"/>
                </a:solidFill>
              </a:defRPr>
            </a:lvl2pPr>
            <a:lvl3pPr lvl="2" algn="r">
              <a:buNone/>
              <a:defRPr sz="2700">
                <a:solidFill>
                  <a:schemeClr val="dk2"/>
                </a:solidFill>
              </a:defRPr>
            </a:lvl3pPr>
            <a:lvl4pPr lvl="3" algn="r">
              <a:buNone/>
              <a:defRPr sz="2700">
                <a:solidFill>
                  <a:schemeClr val="dk2"/>
                </a:solidFill>
              </a:defRPr>
            </a:lvl4pPr>
            <a:lvl5pPr lvl="4" algn="r">
              <a:buNone/>
              <a:defRPr sz="2700">
                <a:solidFill>
                  <a:schemeClr val="dk2"/>
                </a:solidFill>
              </a:defRPr>
            </a:lvl5pPr>
            <a:lvl6pPr lvl="5" algn="r">
              <a:buNone/>
              <a:defRPr sz="2700">
                <a:solidFill>
                  <a:schemeClr val="dk2"/>
                </a:solidFill>
              </a:defRPr>
            </a:lvl6pPr>
            <a:lvl7pPr lvl="6" algn="r">
              <a:buNone/>
              <a:defRPr sz="2700">
                <a:solidFill>
                  <a:schemeClr val="dk2"/>
                </a:solidFill>
              </a:defRPr>
            </a:lvl7pPr>
            <a:lvl8pPr lvl="7" algn="r">
              <a:buNone/>
              <a:defRPr sz="2700">
                <a:solidFill>
                  <a:schemeClr val="dk2"/>
                </a:solidFill>
              </a:defRPr>
            </a:lvl8pPr>
            <a:lvl9pPr lvl="8" algn="r">
              <a:buNone/>
              <a:defRPr sz="27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4">
            <a:alphaModFix/>
          </a:blip>
          <a:srcRect b="10754" l="0" r="0" t="10754"/>
          <a:stretch/>
        </p:blipFill>
        <p:spPr>
          <a:xfrm>
            <a:off x="0" y="0"/>
            <a:ext cx="24387000" cy="13716000"/>
          </a:xfrm>
          <a:prstGeom prst="rect">
            <a:avLst/>
          </a:prstGeom>
          <a:noFill/>
          <a:ln>
            <a:noFill/>
          </a:ln>
        </p:spPr>
      </p:pic>
      <p:sp>
        <p:nvSpPr>
          <p:cNvPr id="56" name="Google Shape;56;p14"/>
          <p:cNvSpPr/>
          <p:nvPr/>
        </p:nvSpPr>
        <p:spPr>
          <a:xfrm>
            <a:off x="0" y="0"/>
            <a:ext cx="24387000" cy="201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7" name="Google Shape;57;p14"/>
          <p:cNvPicPr preferRelativeResize="0"/>
          <p:nvPr/>
        </p:nvPicPr>
        <p:blipFill rotWithShape="1">
          <a:blip r:embed="rId5">
            <a:alphaModFix/>
          </a:blip>
          <a:srcRect b="0" l="0" r="0" t="0"/>
          <a:stretch/>
        </p:blipFill>
        <p:spPr>
          <a:xfrm>
            <a:off x="1371600" y="1097280"/>
            <a:ext cx="2651700" cy="2980800"/>
          </a:xfrm>
          <a:prstGeom prst="rect">
            <a:avLst/>
          </a:prstGeom>
          <a:noFill/>
          <a:ln>
            <a:noFill/>
          </a:ln>
        </p:spPr>
      </p:pic>
      <p:sp>
        <p:nvSpPr>
          <p:cNvPr id="58" name="Google Shape;58;p14"/>
          <p:cNvSpPr txBox="1"/>
          <p:nvPr/>
        </p:nvSpPr>
        <p:spPr>
          <a:xfrm>
            <a:off x="1554480" y="4572000"/>
            <a:ext cx="20574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600">
                <a:solidFill>
                  <a:srgbClr val="FFFFFF"/>
                </a:solidFill>
                <a:latin typeface="Arial"/>
                <a:ea typeface="Arial"/>
                <a:cs typeface="Arial"/>
                <a:sym typeface="Arial"/>
              </a:rPr>
              <a:t>Common Table Expressions (CTEs)</a:t>
            </a:r>
            <a:endParaRPr b="1" sz="9600">
              <a:solidFill>
                <a:srgbClr val="FFFFFF"/>
              </a:solidFill>
              <a:latin typeface="Arial"/>
              <a:ea typeface="Arial"/>
              <a:cs typeface="Arial"/>
              <a:sym typeface="Arial"/>
            </a:endParaRPr>
          </a:p>
          <a:p>
            <a:pPr indent="0" lvl="0" marL="0" rtl="0" algn="l">
              <a:spcBef>
                <a:spcPts val="900"/>
              </a:spcBef>
              <a:spcAft>
                <a:spcPts val="0"/>
              </a:spcAft>
              <a:buNone/>
            </a:pPr>
            <a:r>
              <a:rPr b="1" lang="en" sz="9600">
                <a:solidFill>
                  <a:srgbClr val="7BC148"/>
                </a:solidFill>
                <a:latin typeface="Arial"/>
                <a:ea typeface="Arial"/>
                <a:cs typeface="Arial"/>
                <a:sym typeface="Arial"/>
              </a:rPr>
              <a:t>— Training Guide for OMOP/OHDSI</a:t>
            </a:r>
            <a:endParaRPr b="1" sz="9600">
              <a:solidFill>
                <a:srgbClr val="7BC148"/>
              </a:solidFill>
              <a:latin typeface="Arial"/>
              <a:ea typeface="Arial"/>
              <a:cs typeface="Arial"/>
              <a:sym typeface="Arial"/>
            </a:endParaRPr>
          </a:p>
        </p:txBody>
      </p:sp>
      <p:sp>
        <p:nvSpPr>
          <p:cNvPr id="59" name="Google Shape;59;p14"/>
          <p:cNvSpPr txBox="1"/>
          <p:nvPr/>
        </p:nvSpPr>
        <p:spPr>
          <a:xfrm>
            <a:off x="1554480" y="8001000"/>
            <a:ext cx="20574000" cy="1524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4995" u="none" strike="noStrike">
                <a:solidFill>
                  <a:srgbClr val="1A1A1A"/>
                </a:solidFill>
                <a:latin typeface="Arial"/>
                <a:ea typeface="Arial"/>
                <a:cs typeface="Arial"/>
                <a:sym typeface="Arial"/>
              </a:rPr>
              <a:t>A Slow Walk Through Training guide for new OMOP/OHDSI team members.</a:t>
            </a:r>
            <a:endParaRPr b="0" i="0" sz="4995" u="none" strike="noStrike">
              <a:solidFill>
                <a:srgbClr val="1A1A1A"/>
              </a:solidFill>
              <a:latin typeface="Arial"/>
              <a:ea typeface="Arial"/>
              <a:cs typeface="Arial"/>
              <a:sym typeface="Arial"/>
            </a:endParaRPr>
          </a:p>
        </p:txBody>
      </p:sp>
      <p:sp>
        <p:nvSpPr>
          <p:cNvPr id="60" name="Google Shape;60;p14"/>
          <p:cNvSpPr txBox="1"/>
          <p:nvPr/>
        </p:nvSpPr>
        <p:spPr>
          <a:xfrm>
            <a:off x="1554480" y="10881360"/>
            <a:ext cx="20574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800">
                <a:solidFill>
                  <a:srgbClr val="E4E4E4"/>
                </a:solidFill>
                <a:latin typeface="Arial"/>
                <a:ea typeface="Arial"/>
                <a:cs typeface="Arial"/>
                <a:sym typeface="Arial"/>
              </a:rPr>
              <a:t>Prerequisite: SQL Beginners Guide.</a:t>
            </a:r>
            <a:endParaRPr b="0" sz="3800">
              <a:solidFill>
                <a:srgbClr val="E4E4E4"/>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rotWithShape="1">
          <a:blip r:embed="rId3">
            <a:alphaModFix/>
          </a:blip>
          <a:srcRect b="0" l="0" r="0" t="0"/>
          <a:stretch/>
        </p:blipFill>
        <p:spPr>
          <a:xfrm>
            <a:off x="21854160" y="384048"/>
            <a:ext cx="1417200" cy="1417200"/>
          </a:xfrm>
          <a:prstGeom prst="rect">
            <a:avLst/>
          </a:prstGeom>
          <a:noFill/>
          <a:ln>
            <a:noFill/>
          </a:ln>
        </p:spPr>
      </p:pic>
      <p:pic>
        <p:nvPicPr>
          <p:cNvPr id="66" name="Google Shape;66;p15"/>
          <p:cNvPicPr preferRelativeResize="0"/>
          <p:nvPr/>
        </p:nvPicPr>
        <p:blipFill rotWithShape="1">
          <a:blip r:embed="rId4">
            <a:alphaModFix/>
          </a:blip>
          <a:srcRect b="0" l="20" r="20" t="0"/>
          <a:stretch/>
        </p:blipFill>
        <p:spPr>
          <a:xfrm>
            <a:off x="0" y="0"/>
            <a:ext cx="24384000" cy="13716000"/>
          </a:xfrm>
          <a:prstGeom prst="rect">
            <a:avLst/>
          </a:prstGeom>
          <a:noFill/>
          <a:ln>
            <a:noFill/>
          </a:ln>
        </p:spPr>
      </p:pic>
      <p:sp>
        <p:nvSpPr>
          <p:cNvPr id="67" name="Google Shape;67;p15"/>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5"/>
          <p:cNvSpPr txBox="1"/>
          <p:nvPr/>
        </p:nvSpPr>
        <p:spPr>
          <a:xfrm>
            <a:off x="1554480" y="762000"/>
            <a:ext cx="19526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960">
                <a:solidFill>
                  <a:srgbClr val="1A1A1A"/>
                </a:solidFill>
                <a:latin typeface="Arial"/>
                <a:ea typeface="Arial"/>
                <a:cs typeface="Arial"/>
                <a:sym typeface="Arial"/>
              </a:rPr>
              <a:t>Nested Subqueries Hinder SQL Readability and Maintenance</a:t>
            </a:r>
            <a:endParaRPr b="1" sz="4960">
              <a:solidFill>
                <a:srgbClr val="1A1A1A"/>
              </a:solidFill>
              <a:latin typeface="Arial"/>
              <a:ea typeface="Arial"/>
              <a:cs typeface="Arial"/>
              <a:sym typeface="Arial"/>
            </a:endParaRPr>
          </a:p>
        </p:txBody>
      </p:sp>
      <p:sp>
        <p:nvSpPr>
          <p:cNvPr id="69" name="Google Shape;69;p15"/>
          <p:cNvSpPr txBox="1"/>
          <p:nvPr/>
        </p:nvSpPr>
        <p:spPr>
          <a:xfrm>
            <a:off x="1554480" y="2238375"/>
            <a:ext cx="212781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890">
                <a:solidFill>
                  <a:srgbClr val="1A1A1A"/>
                </a:solidFill>
                <a:latin typeface="Arial"/>
                <a:ea typeface="Arial"/>
                <a:cs typeface="Arial"/>
                <a:sym typeface="Arial"/>
              </a:rPr>
              <a:t>As SQL queries grow in complexity within the OMOP Common Data Model, nesting subqueries makes them increasingly difficult to read, debug, and maintain. Embedding queries within queries forces you to parse logic from the inside out.</a:t>
            </a:r>
            <a:endParaRPr b="0" sz="2890">
              <a:solidFill>
                <a:srgbClr val="1A1A1A"/>
              </a:solidFill>
              <a:latin typeface="Arial"/>
              <a:ea typeface="Arial"/>
              <a:cs typeface="Arial"/>
              <a:sym typeface="Arial"/>
            </a:endParaRPr>
          </a:p>
        </p:txBody>
      </p:sp>
      <p:sp>
        <p:nvSpPr>
          <p:cNvPr id="70" name="Google Shape;70;p15"/>
          <p:cNvSpPr txBox="1"/>
          <p:nvPr/>
        </p:nvSpPr>
        <p:spPr>
          <a:xfrm>
            <a:off x="1554480" y="3333750"/>
            <a:ext cx="212781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75">
                <a:solidFill>
                  <a:srgbClr val="7BC148"/>
                </a:solidFill>
                <a:latin typeface="Arial"/>
                <a:ea typeface="Arial"/>
                <a:cs typeface="Arial"/>
                <a:sym typeface="Arial"/>
              </a:rPr>
              <a:t>Code Example: Nested subquery calculating average conditions per patient:</a:t>
            </a:r>
            <a:endParaRPr b="1" sz="2775">
              <a:solidFill>
                <a:srgbClr val="7BC148"/>
              </a:solidFill>
              <a:latin typeface="Arial"/>
              <a:ea typeface="Arial"/>
              <a:cs typeface="Arial"/>
              <a:sym typeface="Arial"/>
            </a:endParaRPr>
          </a:p>
        </p:txBody>
      </p:sp>
      <p:sp>
        <p:nvSpPr>
          <p:cNvPr id="71" name="Google Shape;71;p15"/>
          <p:cNvSpPr/>
          <p:nvPr/>
        </p:nvSpPr>
        <p:spPr>
          <a:xfrm>
            <a:off x="1554480" y="3857625"/>
            <a:ext cx="21278100" cy="1190700"/>
          </a:xfrm>
          <a:prstGeom prst="roundRect">
            <a:avLst>
              <a:gd fmla="val 640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5"/>
          <p:cNvSpPr txBox="1"/>
          <p:nvPr/>
        </p:nvSpPr>
        <p:spPr>
          <a:xfrm>
            <a:off x="1809750" y="4000500"/>
            <a:ext cx="207645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500">
                <a:solidFill>
                  <a:srgbClr val="B9D989"/>
                </a:solidFill>
                <a:latin typeface="Courier New"/>
                <a:ea typeface="Courier New"/>
                <a:cs typeface="Courier New"/>
                <a:sym typeface="Courier New"/>
              </a:rPr>
              <a:t>SELECT AVG(condition_count) AS avg_conditions_per_patient FROM (SELECT person_id, COUNT(*) AS condition_count FROM cdm.condition_occurrence GROUP BY person_id) AS patient_conditions;</a:t>
            </a:r>
            <a:endParaRPr b="1" sz="2500">
              <a:solidFill>
                <a:srgbClr val="B9D989"/>
              </a:solidFill>
              <a:latin typeface="Courier New"/>
              <a:ea typeface="Courier New"/>
              <a:cs typeface="Courier New"/>
              <a:sym typeface="Courier New"/>
            </a:endParaRPr>
          </a:p>
        </p:txBody>
      </p:sp>
      <p:sp>
        <p:nvSpPr>
          <p:cNvPr id="73" name="Google Shape;73;p15"/>
          <p:cNvSpPr txBox="1"/>
          <p:nvPr/>
        </p:nvSpPr>
        <p:spPr>
          <a:xfrm>
            <a:off x="1554480" y="5238750"/>
            <a:ext cx="212781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75">
                <a:solidFill>
                  <a:srgbClr val="44546A"/>
                </a:solidFill>
                <a:latin typeface="Arial"/>
                <a:ea typeface="Arial"/>
                <a:cs typeface="Arial"/>
                <a:sym typeface="Arial"/>
              </a:rPr>
              <a:t>Execution Order:</a:t>
            </a:r>
            <a:endParaRPr b="1" sz="2775">
              <a:solidFill>
                <a:srgbClr val="44546A"/>
              </a:solidFill>
              <a:latin typeface="Arial"/>
              <a:ea typeface="Arial"/>
              <a:cs typeface="Arial"/>
              <a:sym typeface="Arial"/>
            </a:endParaRPr>
          </a:p>
        </p:txBody>
      </p:sp>
      <p:sp>
        <p:nvSpPr>
          <p:cNvPr id="74" name="Google Shape;74;p15"/>
          <p:cNvSpPr/>
          <p:nvPr/>
        </p:nvSpPr>
        <p:spPr>
          <a:xfrm>
            <a:off x="1554480" y="5810250"/>
            <a:ext cx="857400" cy="857400"/>
          </a:xfrm>
          <a:prstGeom prst="roundRect">
            <a:avLst>
              <a:gd fmla="val 4444" name="adj"/>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txBox="1"/>
          <p:nvPr/>
        </p:nvSpPr>
        <p:spPr>
          <a:xfrm>
            <a:off x="1554480" y="581025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000">
                <a:solidFill>
                  <a:srgbClr val="FFFFFF"/>
                </a:solidFill>
                <a:latin typeface="Arial"/>
                <a:ea typeface="Arial"/>
                <a:cs typeface="Arial"/>
                <a:sym typeface="Arial"/>
              </a:rPr>
              <a:t>01</a:t>
            </a:r>
            <a:endParaRPr b="1" sz="4000">
              <a:solidFill>
                <a:srgbClr val="FFFFFF"/>
              </a:solidFill>
              <a:latin typeface="Arial"/>
              <a:ea typeface="Arial"/>
              <a:cs typeface="Arial"/>
              <a:sym typeface="Arial"/>
            </a:endParaRPr>
          </a:p>
        </p:txBody>
      </p:sp>
      <p:sp>
        <p:nvSpPr>
          <p:cNvPr id="76" name="Google Shape;76;p15"/>
          <p:cNvSpPr txBox="1"/>
          <p:nvPr/>
        </p:nvSpPr>
        <p:spPr>
          <a:xfrm>
            <a:off x="2619375" y="5810250"/>
            <a:ext cx="20212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75">
                <a:solidFill>
                  <a:srgbClr val="1A1A1A"/>
                </a:solidFill>
                <a:latin typeface="Arial"/>
                <a:ea typeface="Arial"/>
                <a:cs typeface="Arial"/>
                <a:sym typeface="Arial"/>
              </a:rPr>
              <a:t>The inner subquery runs first, scanning the </a:t>
            </a:r>
            <a:r>
              <a:rPr b="1" lang="en" sz="2775">
                <a:solidFill>
                  <a:srgbClr val="44546A"/>
                </a:solidFill>
                <a:latin typeface="Arial"/>
                <a:ea typeface="Arial"/>
                <a:cs typeface="Arial"/>
                <a:sym typeface="Arial"/>
              </a:rPr>
              <a:t>condition_occurrence</a:t>
            </a:r>
            <a:r>
              <a:rPr b="0" lang="en" sz="2775">
                <a:solidFill>
                  <a:srgbClr val="1A1A1A"/>
                </a:solidFill>
                <a:latin typeface="Arial"/>
                <a:ea typeface="Arial"/>
                <a:cs typeface="Arial"/>
                <a:sym typeface="Arial"/>
              </a:rPr>
              <a:t> table and creating a temporary result set in memory.</a:t>
            </a:r>
            <a:endParaRPr b="0" sz="2775">
              <a:solidFill>
                <a:srgbClr val="1A1A1A"/>
              </a:solidFill>
              <a:latin typeface="Arial"/>
              <a:ea typeface="Arial"/>
              <a:cs typeface="Arial"/>
              <a:sym typeface="Arial"/>
            </a:endParaRPr>
          </a:p>
        </p:txBody>
      </p:sp>
      <p:sp>
        <p:nvSpPr>
          <p:cNvPr id="77" name="Google Shape;77;p15"/>
          <p:cNvSpPr/>
          <p:nvPr/>
        </p:nvSpPr>
        <p:spPr>
          <a:xfrm>
            <a:off x="1554480" y="6810375"/>
            <a:ext cx="857400" cy="857400"/>
          </a:xfrm>
          <a:prstGeom prst="roundRect">
            <a:avLst>
              <a:gd fmla="val 4444" name="adj"/>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txBox="1"/>
          <p:nvPr/>
        </p:nvSpPr>
        <p:spPr>
          <a:xfrm>
            <a:off x="1554480" y="6810375"/>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000">
                <a:solidFill>
                  <a:srgbClr val="FFFFFF"/>
                </a:solidFill>
                <a:latin typeface="Arial"/>
                <a:ea typeface="Arial"/>
                <a:cs typeface="Arial"/>
                <a:sym typeface="Arial"/>
              </a:rPr>
              <a:t>02</a:t>
            </a:r>
            <a:endParaRPr b="1" sz="4000">
              <a:solidFill>
                <a:srgbClr val="FFFFFF"/>
              </a:solidFill>
              <a:latin typeface="Arial"/>
              <a:ea typeface="Arial"/>
              <a:cs typeface="Arial"/>
              <a:sym typeface="Arial"/>
            </a:endParaRPr>
          </a:p>
        </p:txBody>
      </p:sp>
      <p:sp>
        <p:nvSpPr>
          <p:cNvPr id="79" name="Google Shape;79;p15"/>
          <p:cNvSpPr txBox="1"/>
          <p:nvPr/>
        </p:nvSpPr>
        <p:spPr>
          <a:xfrm>
            <a:off x="2619375" y="6810375"/>
            <a:ext cx="20212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000">
                <a:solidFill>
                  <a:srgbClr val="1A1A1A"/>
                </a:solidFill>
                <a:latin typeface="Arial"/>
                <a:ea typeface="Arial"/>
                <a:cs typeface="Arial"/>
                <a:sym typeface="Arial"/>
              </a:rPr>
              <a:t>The outer query then runs on top of that temporary result to calculate the average.</a:t>
            </a:r>
            <a:endParaRPr b="0" sz="3000">
              <a:solidFill>
                <a:srgbClr val="1A1A1A"/>
              </a:solidFill>
              <a:latin typeface="Arial"/>
              <a:ea typeface="Arial"/>
              <a:cs typeface="Arial"/>
              <a:sym typeface="Arial"/>
            </a:endParaRPr>
          </a:p>
        </p:txBody>
      </p:sp>
      <p:sp>
        <p:nvSpPr>
          <p:cNvPr id="80" name="Google Shape;80;p15"/>
          <p:cNvSpPr/>
          <p:nvPr/>
        </p:nvSpPr>
        <p:spPr>
          <a:xfrm>
            <a:off x="1554480" y="7905750"/>
            <a:ext cx="21278100" cy="1619100"/>
          </a:xfrm>
          <a:prstGeom prst="roundRect">
            <a:avLst>
              <a:gd fmla="val 4705" name="adj"/>
            </a:avLst>
          </a:prstGeom>
          <a:solidFill>
            <a:srgbClr val="F4F9EE"/>
          </a:solidFill>
          <a:ln cap="flat" cmpd="sng" w="19050">
            <a:solidFill>
              <a:srgbClr val="7BC14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5"/>
          <p:cNvSpPr/>
          <p:nvPr/>
        </p:nvSpPr>
        <p:spPr>
          <a:xfrm>
            <a:off x="1554480" y="7905750"/>
            <a:ext cx="152400" cy="16191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txBox="1"/>
          <p:nvPr/>
        </p:nvSpPr>
        <p:spPr>
          <a:xfrm>
            <a:off x="2000250" y="8048625"/>
            <a:ext cx="205740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75">
                <a:solidFill>
                  <a:srgbClr val="7BC148"/>
                </a:solidFill>
                <a:latin typeface="Arial"/>
                <a:ea typeface="Arial"/>
                <a:cs typeface="Arial"/>
                <a:sym typeface="Arial"/>
              </a:rPr>
              <a:t>CTEs solve this readability problem</a:t>
            </a:r>
            <a:r>
              <a:rPr b="0" lang="en" sz="2775">
                <a:solidFill>
                  <a:srgbClr val="1A1A1A"/>
                </a:solidFill>
                <a:latin typeface="Arial"/>
                <a:ea typeface="Arial"/>
                <a:cs typeface="Arial"/>
                <a:sym typeface="Arial"/>
              </a:rPr>
              <a:t> by breaking complex queries into named, sequential steps that read logically from top to bottom, much like a recipe. This structural change significantly reduces the cognitive load required to understand complex analytical code.</a:t>
            </a:r>
            <a:endParaRPr b="0" sz="2775">
              <a:solidFill>
                <a:srgbClr val="1A1A1A"/>
              </a:solidFill>
              <a:latin typeface="Arial"/>
              <a:ea typeface="Arial"/>
              <a:cs typeface="Arial"/>
              <a:sym typeface="Arial"/>
            </a:endParaRPr>
          </a:p>
        </p:txBody>
      </p:sp>
      <p:cxnSp>
        <p:nvCxnSpPr>
          <p:cNvPr id="83" name="Google Shape;83;p15"/>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84" name="Google Shape;84;p15"/>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85" name="Google Shape;85;p15"/>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6"/>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91" name="Google Shape;91;p16"/>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2" name="Google Shape;92;p16"/>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93" name="Google Shape;93;p16"/>
          <p:cNvSpPr txBox="1"/>
          <p:nvPr/>
        </p:nvSpPr>
        <p:spPr>
          <a:xfrm>
            <a:off x="1554480" y="762000"/>
            <a:ext cx="197511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400">
                <a:solidFill>
                  <a:srgbClr val="1A1A1A"/>
                </a:solidFill>
                <a:latin typeface="Arial"/>
                <a:ea typeface="Arial"/>
                <a:cs typeface="Arial"/>
                <a:sym typeface="Arial"/>
              </a:rPr>
              <a:t>CTEs Create Temporary Named Result Sets for Intermediate Query Steps</a:t>
            </a:r>
            <a:endParaRPr b="1" sz="6400">
              <a:solidFill>
                <a:srgbClr val="1A1A1A"/>
              </a:solidFill>
              <a:latin typeface="Arial"/>
              <a:ea typeface="Arial"/>
              <a:cs typeface="Arial"/>
              <a:sym typeface="Arial"/>
            </a:endParaRPr>
          </a:p>
        </p:txBody>
      </p:sp>
      <p:sp>
        <p:nvSpPr>
          <p:cNvPr id="94" name="Google Shape;94;p16"/>
          <p:cNvSpPr txBox="1"/>
          <p:nvPr/>
        </p:nvSpPr>
        <p:spPr>
          <a:xfrm>
            <a:off x="1554480" y="2905125"/>
            <a:ext cx="212781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60">
                <a:solidFill>
                  <a:srgbClr val="1A1A1A"/>
                </a:solidFill>
                <a:latin typeface="Arial"/>
                <a:ea typeface="Arial"/>
                <a:cs typeface="Arial"/>
                <a:sym typeface="Arial"/>
              </a:rPr>
              <a:t>CTE</a:t>
            </a:r>
            <a:r>
              <a:rPr b="0" lang="en" sz="3060">
                <a:solidFill>
                  <a:srgbClr val="1A1A1A"/>
                </a:solidFill>
                <a:latin typeface="Arial"/>
                <a:ea typeface="Arial"/>
                <a:cs typeface="Arial"/>
                <a:sym typeface="Arial"/>
              </a:rPr>
              <a:t> stands for </a:t>
            </a:r>
            <a:r>
              <a:rPr b="1" lang="en" sz="3060">
                <a:solidFill>
                  <a:srgbClr val="1A1A1A"/>
                </a:solidFill>
                <a:latin typeface="Arial"/>
                <a:ea typeface="Arial"/>
                <a:cs typeface="Arial"/>
                <a:sym typeface="Arial"/>
              </a:rPr>
              <a:t>Common Table Expression</a:t>
            </a:r>
            <a:r>
              <a:rPr b="0" lang="en" sz="3060">
                <a:solidFill>
                  <a:srgbClr val="1A1A1A"/>
                </a:solidFill>
                <a:latin typeface="Arial"/>
                <a:ea typeface="Arial"/>
                <a:cs typeface="Arial"/>
                <a:sym typeface="Arial"/>
              </a:rPr>
              <a:t>. At its core, a CTE is a temporary, named result set that exists entirely in memory and only for the duration of the execution of a single query. The fundamental concept is simply giving a descriptive name to an intermediate step in your analytical logic.</a:t>
            </a:r>
            <a:endParaRPr b="0" sz="3060">
              <a:solidFill>
                <a:srgbClr val="1A1A1A"/>
              </a:solidFill>
              <a:latin typeface="Arial"/>
              <a:ea typeface="Arial"/>
              <a:cs typeface="Arial"/>
              <a:sym typeface="Arial"/>
            </a:endParaRPr>
          </a:p>
          <a:p>
            <a:pPr indent="0" lvl="0" marL="0" rtl="0" algn="l">
              <a:spcBef>
                <a:spcPts val="1200"/>
              </a:spcBef>
              <a:spcAft>
                <a:spcPts val="0"/>
              </a:spcAft>
              <a:buNone/>
            </a:pPr>
            <a:r>
              <a:rPr b="0" lang="en" sz="3060">
                <a:solidFill>
                  <a:srgbClr val="1A1A1A"/>
                </a:solidFill>
                <a:latin typeface="Arial"/>
                <a:ea typeface="Arial"/>
                <a:cs typeface="Arial"/>
                <a:sym typeface="Arial"/>
              </a:rPr>
              <a:t>CTEs are initialized using the </a:t>
            </a:r>
            <a:r>
              <a:rPr b="1" lang="en" sz="3060">
                <a:solidFill>
                  <a:srgbClr val="7BC148"/>
                </a:solidFill>
                <a:latin typeface="Arial"/>
                <a:ea typeface="Arial"/>
                <a:cs typeface="Arial"/>
                <a:sym typeface="Arial"/>
              </a:rPr>
              <a:t>WITH</a:t>
            </a:r>
            <a:r>
              <a:rPr b="0" lang="en" sz="3060">
                <a:solidFill>
                  <a:srgbClr val="1A1A1A"/>
                </a:solidFill>
                <a:latin typeface="Arial"/>
                <a:ea typeface="Arial"/>
                <a:cs typeface="Arial"/>
                <a:sym typeface="Arial"/>
              </a:rPr>
              <a:t> keyword.</a:t>
            </a:r>
            <a:endParaRPr b="0" sz="3060">
              <a:solidFill>
                <a:srgbClr val="1A1A1A"/>
              </a:solidFill>
              <a:latin typeface="Arial"/>
              <a:ea typeface="Arial"/>
              <a:cs typeface="Arial"/>
              <a:sym typeface="Arial"/>
            </a:endParaRPr>
          </a:p>
        </p:txBody>
      </p:sp>
      <p:grpSp>
        <p:nvGrpSpPr>
          <p:cNvPr id="95" name="Google Shape;95;p16"/>
          <p:cNvGrpSpPr/>
          <p:nvPr/>
        </p:nvGrpSpPr>
        <p:grpSpPr>
          <a:xfrm>
            <a:off x="1554480" y="5191125"/>
            <a:ext cx="21278100" cy="3238500"/>
            <a:chOff x="0" y="0"/>
            <a:chExt cx="21278100" cy="3238500"/>
          </a:xfrm>
        </p:grpSpPr>
        <p:sp>
          <p:nvSpPr>
            <p:cNvPr id="96" name="Google Shape;96;p16"/>
            <p:cNvSpPr/>
            <p:nvPr/>
          </p:nvSpPr>
          <p:spPr>
            <a:xfrm>
              <a:off x="0" y="0"/>
              <a:ext cx="21278100" cy="3238500"/>
            </a:xfrm>
            <a:prstGeom prst="roundRect">
              <a:avLst>
                <a:gd fmla="val 3529"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6"/>
            <p:cNvSpPr/>
            <p:nvPr/>
          </p:nvSpPr>
          <p:spPr>
            <a:xfrm>
              <a:off x="381000" y="228600"/>
              <a:ext cx="2476500" cy="419100"/>
            </a:xfrm>
            <a:prstGeom prst="roundRect">
              <a:avLst>
                <a:gd fmla="val 13636"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6"/>
            <p:cNvSpPr txBox="1"/>
            <p:nvPr/>
          </p:nvSpPr>
          <p:spPr>
            <a:xfrm>
              <a:off x="381000" y="228600"/>
              <a:ext cx="24765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200">
                  <a:solidFill>
                    <a:srgbClr val="FFFFFF"/>
                  </a:solidFill>
                  <a:latin typeface="Arial"/>
                  <a:ea typeface="Arial"/>
                  <a:cs typeface="Arial"/>
                  <a:sym typeface="Arial"/>
                </a:rPr>
                <a:t>CTE Example</a:t>
              </a:r>
              <a:endParaRPr b="1" sz="2200">
                <a:solidFill>
                  <a:srgbClr val="FFFFFF"/>
                </a:solidFill>
                <a:latin typeface="Arial"/>
                <a:ea typeface="Arial"/>
                <a:cs typeface="Arial"/>
                <a:sym typeface="Arial"/>
              </a:endParaRPr>
            </a:p>
          </p:txBody>
        </p:sp>
        <p:sp>
          <p:nvSpPr>
            <p:cNvPr id="99" name="Google Shape;99;p16"/>
            <p:cNvSpPr txBox="1"/>
            <p:nvPr/>
          </p:nvSpPr>
          <p:spPr>
            <a:xfrm>
              <a:off x="381000" y="809625"/>
              <a:ext cx="205161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20">
                  <a:solidFill>
                    <a:srgbClr val="7BC148"/>
                  </a:solidFill>
                  <a:latin typeface="Courier New"/>
                  <a:ea typeface="Courier New"/>
                  <a:cs typeface="Courier New"/>
                  <a:sym typeface="Courier New"/>
                </a:rPr>
                <a:t>WITH</a:t>
              </a:r>
              <a:r>
                <a:rPr b="0" lang="en" sz="2720">
                  <a:solidFill>
                    <a:srgbClr val="FFFFFF"/>
                  </a:solidFill>
                  <a:latin typeface="Courier New"/>
                  <a:ea typeface="Courier New"/>
                  <a:cs typeface="Courier New"/>
                  <a:sym typeface="Courier New"/>
                </a:rPr>
                <a:t> patient_conditions </a:t>
              </a:r>
              <a:r>
                <a:rPr b="1" lang="en" sz="2720">
                  <a:solidFill>
                    <a:srgbClr val="7BC148"/>
                  </a:solidFill>
                  <a:latin typeface="Courier New"/>
                  <a:ea typeface="Courier New"/>
                  <a:cs typeface="Courier New"/>
                  <a:sym typeface="Courier New"/>
                </a:rPr>
                <a:t>AS</a:t>
              </a:r>
              <a:r>
                <a:rPr b="0" lang="en" sz="2720">
                  <a:solidFill>
                    <a:srgbClr val="FFFFFF"/>
                  </a:solidFill>
                  <a:latin typeface="Courier New"/>
                  <a:ea typeface="Courier New"/>
                  <a:cs typeface="Courier New"/>
                  <a:sym typeface="Courier New"/>
                </a:rPr>
                <a:t> (</a:t>
              </a:r>
              <a:endParaRPr b="0" sz="2720">
                <a:solidFill>
                  <a:srgbClr val="FFFFFF"/>
                </a:solidFill>
                <a:latin typeface="Courier New"/>
                <a:ea typeface="Courier New"/>
                <a:cs typeface="Courier New"/>
                <a:sym typeface="Courier New"/>
              </a:endParaRPr>
            </a:p>
            <a:p>
              <a:pPr indent="0" lvl="0" marL="0" rtl="0" algn="l">
                <a:spcBef>
                  <a:spcPts val="750"/>
                </a:spcBef>
                <a:spcAft>
                  <a:spcPts val="0"/>
                </a:spcAft>
                <a:buNone/>
              </a:pPr>
              <a:r>
                <a:rPr b="1" lang="en" sz="2720">
                  <a:solidFill>
                    <a:srgbClr val="B9D989"/>
                  </a:solidFill>
                  <a:latin typeface="Courier New"/>
                  <a:ea typeface="Courier New"/>
                  <a:cs typeface="Courier New"/>
                  <a:sym typeface="Courier New"/>
                </a:rPr>
                <a:t>SELECT</a:t>
              </a:r>
              <a:r>
                <a:rPr b="0" lang="en" sz="2720">
                  <a:solidFill>
                    <a:srgbClr val="FFFFFF"/>
                  </a:solidFill>
                  <a:latin typeface="Courier New"/>
                  <a:ea typeface="Courier New"/>
                  <a:cs typeface="Courier New"/>
                  <a:sym typeface="Courier New"/>
                </a:rPr>
                <a:t> person_id, </a:t>
              </a:r>
              <a:r>
                <a:rPr b="1" lang="en" sz="2720">
                  <a:solidFill>
                    <a:srgbClr val="B9D989"/>
                  </a:solidFill>
                  <a:latin typeface="Courier New"/>
                  <a:ea typeface="Courier New"/>
                  <a:cs typeface="Courier New"/>
                  <a:sym typeface="Courier New"/>
                </a:rPr>
                <a:t>COUNT</a:t>
              </a:r>
              <a:r>
                <a:rPr b="0" lang="en" sz="2720">
                  <a:solidFill>
                    <a:srgbClr val="FFFFFF"/>
                  </a:solidFill>
                  <a:latin typeface="Courier New"/>
                  <a:ea typeface="Courier New"/>
                  <a:cs typeface="Courier New"/>
                  <a:sym typeface="Courier New"/>
                </a:rPr>
                <a:t>(*) </a:t>
              </a:r>
              <a:r>
                <a:rPr b="1" lang="en" sz="2720">
                  <a:solidFill>
                    <a:srgbClr val="7BC148"/>
                  </a:solidFill>
                  <a:latin typeface="Courier New"/>
                  <a:ea typeface="Courier New"/>
                  <a:cs typeface="Courier New"/>
                  <a:sym typeface="Courier New"/>
                </a:rPr>
                <a:t>AS</a:t>
              </a:r>
              <a:r>
                <a:rPr b="0" lang="en" sz="2720">
                  <a:solidFill>
                    <a:srgbClr val="FFFFFF"/>
                  </a:solidFill>
                  <a:latin typeface="Courier New"/>
                  <a:ea typeface="Courier New"/>
                  <a:cs typeface="Courier New"/>
                  <a:sym typeface="Courier New"/>
                </a:rPr>
                <a:t> condition_count </a:t>
              </a:r>
              <a:r>
                <a:rPr b="1" lang="en" sz="2720">
                  <a:solidFill>
                    <a:srgbClr val="B9D989"/>
                  </a:solidFill>
                  <a:latin typeface="Courier New"/>
                  <a:ea typeface="Courier New"/>
                  <a:cs typeface="Courier New"/>
                  <a:sym typeface="Courier New"/>
                </a:rPr>
                <a:t>FROM</a:t>
              </a:r>
              <a:r>
                <a:rPr b="0" lang="en" sz="2720">
                  <a:solidFill>
                    <a:srgbClr val="FFFFFF"/>
                  </a:solidFill>
                  <a:latin typeface="Courier New"/>
                  <a:ea typeface="Courier New"/>
                  <a:cs typeface="Courier New"/>
                  <a:sym typeface="Courier New"/>
                </a:rPr>
                <a:t> cdm.condition_occurrence </a:t>
              </a:r>
              <a:r>
                <a:rPr b="1" lang="en" sz="2720">
                  <a:solidFill>
                    <a:srgbClr val="B9D989"/>
                  </a:solidFill>
                  <a:latin typeface="Courier New"/>
                  <a:ea typeface="Courier New"/>
                  <a:cs typeface="Courier New"/>
                  <a:sym typeface="Courier New"/>
                </a:rPr>
                <a:t>GROUP BY</a:t>
              </a:r>
              <a:r>
                <a:rPr b="0" lang="en" sz="2720">
                  <a:solidFill>
                    <a:srgbClr val="FFFFFF"/>
                  </a:solidFill>
                  <a:latin typeface="Courier New"/>
                  <a:ea typeface="Courier New"/>
                  <a:cs typeface="Courier New"/>
                  <a:sym typeface="Courier New"/>
                </a:rPr>
                <a:t> person_id</a:t>
              </a:r>
              <a:endParaRPr b="0" sz="2720">
                <a:solidFill>
                  <a:srgbClr val="FFFFFF"/>
                </a:solidFill>
                <a:latin typeface="Courier New"/>
                <a:ea typeface="Courier New"/>
                <a:cs typeface="Courier New"/>
                <a:sym typeface="Courier New"/>
              </a:endParaRPr>
            </a:p>
            <a:p>
              <a:pPr indent="0" lvl="0" marL="0" rtl="0" algn="l">
                <a:spcBef>
                  <a:spcPts val="750"/>
                </a:spcBef>
                <a:spcAft>
                  <a:spcPts val="0"/>
                </a:spcAft>
                <a:buNone/>
              </a:pPr>
              <a:r>
                <a:rPr b="0" lang="en" sz="2720">
                  <a:solidFill>
                    <a:srgbClr val="FFFFFF"/>
                  </a:solidFill>
                  <a:latin typeface="Courier New"/>
                  <a:ea typeface="Courier New"/>
                  <a:cs typeface="Courier New"/>
                  <a:sym typeface="Courier New"/>
                </a:rPr>
                <a:t>)</a:t>
              </a:r>
              <a:endParaRPr b="0" sz="2720">
                <a:solidFill>
                  <a:srgbClr val="FFFFFF"/>
                </a:solidFill>
                <a:latin typeface="Courier New"/>
                <a:ea typeface="Courier New"/>
                <a:cs typeface="Courier New"/>
                <a:sym typeface="Courier New"/>
              </a:endParaRPr>
            </a:p>
            <a:p>
              <a:pPr indent="0" lvl="0" marL="0" rtl="0" algn="l">
                <a:spcBef>
                  <a:spcPts val="750"/>
                </a:spcBef>
                <a:spcAft>
                  <a:spcPts val="0"/>
                </a:spcAft>
                <a:buNone/>
              </a:pPr>
              <a:r>
                <a:rPr b="1" lang="en" sz="2720">
                  <a:solidFill>
                    <a:srgbClr val="B9D989"/>
                  </a:solidFill>
                  <a:latin typeface="Courier New"/>
                  <a:ea typeface="Courier New"/>
                  <a:cs typeface="Courier New"/>
                  <a:sym typeface="Courier New"/>
                </a:rPr>
                <a:t>SELECT</a:t>
              </a:r>
              <a:r>
                <a:rPr b="0" lang="en" sz="2720">
                  <a:solidFill>
                    <a:srgbClr val="FFFFFF"/>
                  </a:solidFill>
                  <a:latin typeface="Courier New"/>
                  <a:ea typeface="Courier New"/>
                  <a:cs typeface="Courier New"/>
                  <a:sym typeface="Courier New"/>
                </a:rPr>
                <a:t> </a:t>
              </a:r>
              <a:r>
                <a:rPr b="1" lang="en" sz="2720">
                  <a:solidFill>
                    <a:srgbClr val="B9D989"/>
                  </a:solidFill>
                  <a:latin typeface="Courier New"/>
                  <a:ea typeface="Courier New"/>
                  <a:cs typeface="Courier New"/>
                  <a:sym typeface="Courier New"/>
                </a:rPr>
                <a:t>AVG</a:t>
              </a:r>
              <a:r>
                <a:rPr b="0" lang="en" sz="2720">
                  <a:solidFill>
                    <a:srgbClr val="FFFFFF"/>
                  </a:solidFill>
                  <a:latin typeface="Courier New"/>
                  <a:ea typeface="Courier New"/>
                  <a:cs typeface="Courier New"/>
                  <a:sym typeface="Courier New"/>
                </a:rPr>
                <a:t>(condition_count) </a:t>
              </a:r>
              <a:r>
                <a:rPr b="1" lang="en" sz="2720">
                  <a:solidFill>
                    <a:srgbClr val="7BC148"/>
                  </a:solidFill>
                  <a:latin typeface="Courier New"/>
                  <a:ea typeface="Courier New"/>
                  <a:cs typeface="Courier New"/>
                  <a:sym typeface="Courier New"/>
                </a:rPr>
                <a:t>AS</a:t>
              </a:r>
              <a:r>
                <a:rPr b="0" lang="en" sz="2720">
                  <a:solidFill>
                    <a:srgbClr val="FFFFFF"/>
                  </a:solidFill>
                  <a:latin typeface="Courier New"/>
                  <a:ea typeface="Courier New"/>
                  <a:cs typeface="Courier New"/>
                  <a:sym typeface="Courier New"/>
                </a:rPr>
                <a:t> avg_conditions_per_patient </a:t>
              </a:r>
              <a:r>
                <a:rPr b="1" lang="en" sz="2720">
                  <a:solidFill>
                    <a:srgbClr val="B9D989"/>
                  </a:solidFill>
                  <a:latin typeface="Courier New"/>
                  <a:ea typeface="Courier New"/>
                  <a:cs typeface="Courier New"/>
                  <a:sym typeface="Courier New"/>
                </a:rPr>
                <a:t>FROM</a:t>
              </a:r>
              <a:r>
                <a:rPr b="0" lang="en" sz="2720">
                  <a:solidFill>
                    <a:srgbClr val="FFFFFF"/>
                  </a:solidFill>
                  <a:latin typeface="Courier New"/>
                  <a:ea typeface="Courier New"/>
                  <a:cs typeface="Courier New"/>
                  <a:sym typeface="Courier New"/>
                </a:rPr>
                <a:t> patient_conditions;</a:t>
              </a:r>
              <a:endParaRPr b="0" sz="2720">
                <a:solidFill>
                  <a:srgbClr val="FFFFFF"/>
                </a:solidFill>
                <a:latin typeface="Courier New"/>
                <a:ea typeface="Courier New"/>
                <a:cs typeface="Courier New"/>
                <a:sym typeface="Courier New"/>
              </a:endParaRPr>
            </a:p>
          </p:txBody>
        </p:sp>
      </p:grpSp>
      <p:grpSp>
        <p:nvGrpSpPr>
          <p:cNvPr id="100" name="Google Shape;100;p16"/>
          <p:cNvGrpSpPr/>
          <p:nvPr/>
        </p:nvGrpSpPr>
        <p:grpSpPr>
          <a:xfrm>
            <a:off x="1554480" y="8715375"/>
            <a:ext cx="10382400" cy="3333900"/>
            <a:chOff x="0" y="0"/>
            <a:chExt cx="10382400" cy="3333900"/>
          </a:xfrm>
        </p:grpSpPr>
        <p:sp>
          <p:nvSpPr>
            <p:cNvPr id="101" name="Google Shape;101;p16"/>
            <p:cNvSpPr/>
            <p:nvPr/>
          </p:nvSpPr>
          <p:spPr>
            <a:xfrm>
              <a:off x="0" y="0"/>
              <a:ext cx="10382400" cy="3333900"/>
            </a:xfrm>
            <a:prstGeom prst="rect">
              <a:avLst/>
            </a:prstGeom>
            <a:solidFill>
              <a:srgbClr val="F4F9EE"/>
            </a:solidFill>
            <a:ln cap="flat" cmpd="sng" w="1430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6"/>
            <p:cNvSpPr/>
            <p:nvPr/>
          </p:nvSpPr>
          <p:spPr>
            <a:xfrm>
              <a:off x="0" y="0"/>
              <a:ext cx="152400" cy="33339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txBox="1"/>
            <p:nvPr/>
          </p:nvSpPr>
          <p:spPr>
            <a:xfrm>
              <a:off x="428625" y="333375"/>
              <a:ext cx="9525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00">
                  <a:solidFill>
                    <a:srgbClr val="7BC148"/>
                  </a:solidFill>
                  <a:latin typeface="Arial"/>
                  <a:ea typeface="Arial"/>
                  <a:cs typeface="Arial"/>
                  <a:sym typeface="Arial"/>
                </a:rPr>
                <a:t>Plain English Translation</a:t>
              </a:r>
              <a:endParaRPr b="1" sz="3800">
                <a:solidFill>
                  <a:srgbClr val="7BC148"/>
                </a:solidFill>
                <a:latin typeface="Arial"/>
                <a:ea typeface="Arial"/>
                <a:cs typeface="Arial"/>
                <a:sym typeface="Arial"/>
              </a:endParaRPr>
            </a:p>
            <a:p>
              <a:pPr indent="0" lvl="0" marL="0" rtl="0" algn="l">
                <a:spcBef>
                  <a:spcPts val="1200"/>
                </a:spcBef>
                <a:spcAft>
                  <a:spcPts val="0"/>
                </a:spcAft>
                <a:buNone/>
              </a:pPr>
              <a:r>
                <a:rPr b="0" i="1" lang="en" sz="3600">
                  <a:solidFill>
                    <a:srgbClr val="44546A"/>
                  </a:solidFill>
                  <a:latin typeface="Arial"/>
                  <a:ea typeface="Arial"/>
                  <a:cs typeface="Arial"/>
                  <a:sym typeface="Arial"/>
                </a:rPr>
                <a:t>"With a temporary table called </a:t>
              </a:r>
              <a:r>
                <a:rPr b="1" i="1" lang="en" sz="3600">
                  <a:solidFill>
                    <a:srgbClr val="1A1A1A"/>
                  </a:solidFill>
                  <a:latin typeface="Arial"/>
                  <a:ea typeface="Arial"/>
                  <a:cs typeface="Arial"/>
                  <a:sym typeface="Arial"/>
                </a:rPr>
                <a:t>patient_conditions</a:t>
              </a:r>
              <a:r>
                <a:rPr b="0" i="1" lang="en" sz="3600">
                  <a:solidFill>
                    <a:srgbClr val="44546A"/>
                  </a:solidFill>
                  <a:latin typeface="Arial"/>
                  <a:ea typeface="Arial"/>
                  <a:cs typeface="Arial"/>
                  <a:sym typeface="Arial"/>
                </a:rPr>
                <a:t> that counts conditions per person, give me the average of those counts."</a:t>
              </a:r>
              <a:endParaRPr b="0" i="1" sz="3600">
                <a:solidFill>
                  <a:srgbClr val="44546A"/>
                </a:solidFill>
                <a:latin typeface="Arial"/>
                <a:ea typeface="Arial"/>
                <a:cs typeface="Arial"/>
                <a:sym typeface="Arial"/>
              </a:endParaRPr>
            </a:p>
          </p:txBody>
        </p:sp>
      </p:grpSp>
      <p:grpSp>
        <p:nvGrpSpPr>
          <p:cNvPr id="104" name="Google Shape;104;p16"/>
          <p:cNvGrpSpPr/>
          <p:nvPr/>
        </p:nvGrpSpPr>
        <p:grpSpPr>
          <a:xfrm>
            <a:off x="12450318" y="8715375"/>
            <a:ext cx="10382400" cy="3333900"/>
            <a:chOff x="0" y="0"/>
            <a:chExt cx="10382400" cy="3333900"/>
          </a:xfrm>
        </p:grpSpPr>
        <p:sp>
          <p:nvSpPr>
            <p:cNvPr id="105" name="Google Shape;105;p16"/>
            <p:cNvSpPr/>
            <p:nvPr/>
          </p:nvSpPr>
          <p:spPr>
            <a:xfrm>
              <a:off x="0" y="0"/>
              <a:ext cx="10382400" cy="3333900"/>
            </a:xfrm>
            <a:prstGeom prst="rect">
              <a:avLst/>
            </a:prstGeom>
            <a:solidFill>
              <a:srgbClr val="F4F9EE"/>
            </a:solidFill>
            <a:ln cap="flat" cmpd="sng" w="1430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p:nvPr/>
          </p:nvSpPr>
          <p:spPr>
            <a:xfrm>
              <a:off x="0" y="0"/>
              <a:ext cx="152400" cy="33339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6"/>
            <p:cNvSpPr txBox="1"/>
            <p:nvPr/>
          </p:nvSpPr>
          <p:spPr>
            <a:xfrm>
              <a:off x="428625" y="333375"/>
              <a:ext cx="9525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00">
                  <a:solidFill>
                    <a:srgbClr val="7BC148"/>
                  </a:solidFill>
                  <a:latin typeface="Arial"/>
                  <a:ea typeface="Arial"/>
                  <a:cs typeface="Arial"/>
                  <a:sym typeface="Arial"/>
                </a:rPr>
                <a:t>Key Advantage</a:t>
              </a:r>
              <a:endParaRPr b="1" sz="3800">
                <a:solidFill>
                  <a:srgbClr val="7BC148"/>
                </a:solidFill>
                <a:latin typeface="Arial"/>
                <a:ea typeface="Arial"/>
                <a:cs typeface="Arial"/>
                <a:sym typeface="Arial"/>
              </a:endParaRPr>
            </a:p>
            <a:p>
              <a:pPr indent="0" lvl="0" marL="0" rtl="0" algn="l">
                <a:spcBef>
                  <a:spcPts val="1200"/>
                </a:spcBef>
                <a:spcAft>
                  <a:spcPts val="0"/>
                </a:spcAft>
                <a:buNone/>
              </a:pPr>
              <a:r>
                <a:rPr b="0" lang="en" sz="3600">
                  <a:solidFill>
                    <a:srgbClr val="1A1A1A"/>
                  </a:solidFill>
                  <a:latin typeface="Arial"/>
                  <a:ea typeface="Arial"/>
                  <a:cs typeface="Arial"/>
                  <a:sym typeface="Arial"/>
                </a:rPr>
                <a:t>By isolating the aggregation step into a named block, the main </a:t>
              </a:r>
              <a:r>
                <a:rPr b="1" lang="en" sz="3600">
                  <a:solidFill>
                    <a:srgbClr val="44546A"/>
                  </a:solidFill>
                  <a:latin typeface="Arial"/>
                  <a:ea typeface="Arial"/>
                  <a:cs typeface="Arial"/>
                  <a:sym typeface="Arial"/>
                </a:rPr>
                <a:t>SELECT</a:t>
              </a:r>
              <a:r>
                <a:rPr b="0" lang="en" sz="3600">
                  <a:solidFill>
                    <a:srgbClr val="1A1A1A"/>
                  </a:solidFill>
                  <a:latin typeface="Arial"/>
                  <a:ea typeface="Arial"/>
                  <a:cs typeface="Arial"/>
                  <a:sym typeface="Arial"/>
                </a:rPr>
                <a:t> statement becomes drastically simpler to understand and modify.</a:t>
              </a:r>
              <a:endParaRPr b="0" sz="3600">
                <a:solidFill>
                  <a:srgbClr val="1A1A1A"/>
                </a:solidFill>
                <a:latin typeface="Arial"/>
                <a:ea typeface="Arial"/>
                <a:cs typeface="Arial"/>
                <a:sym typeface="Arial"/>
              </a:endParaRPr>
            </a:p>
          </p:txBody>
        </p:sp>
      </p:grpSp>
      <p:cxnSp>
        <p:nvCxnSpPr>
          <p:cNvPr id="108" name="Google Shape;108;p16"/>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109" name="Google Shape;109;p16"/>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110" name="Google Shape;110;p16"/>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txBox="1"/>
          <p:nvPr/>
        </p:nvSpPr>
        <p:spPr>
          <a:xfrm>
            <a:off x="22265640" y="12710160"/>
            <a:ext cx="1051500" cy="777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000">
                <a:solidFill>
                  <a:srgbClr val="FFFFFF"/>
                </a:solidFill>
                <a:latin typeface="Arial"/>
                <a:ea typeface="Arial"/>
                <a:cs typeface="Arial"/>
                <a:sym typeface="Arial"/>
              </a:rPr>
              <a:t>11</a:t>
            </a:r>
            <a:endParaRPr b="1" sz="3000">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7"/>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117" name="Google Shape;117;p17"/>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8" name="Google Shape;118;p17"/>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119" name="Google Shape;119;p17"/>
          <p:cNvSpPr txBox="1"/>
          <p:nvPr/>
        </p:nvSpPr>
        <p:spPr>
          <a:xfrm>
            <a:off x="1554480" y="762000"/>
            <a:ext cx="197511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760">
                <a:solidFill>
                  <a:srgbClr val="1A1A1A"/>
                </a:solidFill>
                <a:latin typeface="Arial"/>
                <a:ea typeface="Arial"/>
                <a:cs typeface="Arial"/>
                <a:sym typeface="Arial"/>
              </a:rPr>
              <a:t>CTEs Follow a Standard Syntax Pattern Starting with the WITH Keyword</a:t>
            </a:r>
            <a:endParaRPr b="1" sz="4760">
              <a:solidFill>
                <a:srgbClr val="1A1A1A"/>
              </a:solidFill>
              <a:latin typeface="Arial"/>
              <a:ea typeface="Arial"/>
              <a:cs typeface="Arial"/>
              <a:sym typeface="Arial"/>
            </a:endParaRPr>
          </a:p>
        </p:txBody>
      </p:sp>
      <p:sp>
        <p:nvSpPr>
          <p:cNvPr id="120" name="Google Shape;120;p17"/>
          <p:cNvSpPr txBox="1"/>
          <p:nvPr/>
        </p:nvSpPr>
        <p:spPr>
          <a:xfrm>
            <a:off x="1554480" y="2381250"/>
            <a:ext cx="197511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60">
                <a:solidFill>
                  <a:srgbClr val="44546A"/>
                </a:solidFill>
                <a:latin typeface="Arial"/>
                <a:ea typeface="Arial"/>
                <a:cs typeface="Arial"/>
                <a:sym typeface="Arial"/>
              </a:rPr>
              <a:t>Every CTE follows a highly predictable structural pattern. Mastering this basic shape is the first step to writing advanced OMOP queries.</a:t>
            </a:r>
            <a:endParaRPr b="0" sz="2660">
              <a:solidFill>
                <a:srgbClr val="44546A"/>
              </a:solidFill>
              <a:latin typeface="Arial"/>
              <a:ea typeface="Arial"/>
              <a:cs typeface="Arial"/>
              <a:sym typeface="Arial"/>
            </a:endParaRPr>
          </a:p>
        </p:txBody>
      </p:sp>
      <p:grpSp>
        <p:nvGrpSpPr>
          <p:cNvPr id="121" name="Google Shape;121;p17"/>
          <p:cNvGrpSpPr/>
          <p:nvPr/>
        </p:nvGrpSpPr>
        <p:grpSpPr>
          <a:xfrm>
            <a:off x="1554480" y="3524250"/>
            <a:ext cx="9048900" cy="7715250"/>
            <a:chOff x="0" y="0"/>
            <a:chExt cx="9048900" cy="7715250"/>
          </a:xfrm>
        </p:grpSpPr>
        <p:sp>
          <p:nvSpPr>
            <p:cNvPr id="122" name="Google Shape;122;p17"/>
            <p:cNvSpPr txBox="1"/>
            <p:nvPr/>
          </p:nvSpPr>
          <p:spPr>
            <a:xfrm>
              <a:off x="0" y="0"/>
              <a:ext cx="9048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570">
                  <a:solidFill>
                    <a:srgbClr val="7BC148"/>
                  </a:solidFill>
                  <a:latin typeface="Arial"/>
                  <a:ea typeface="Arial"/>
                  <a:cs typeface="Arial"/>
                  <a:sym typeface="Arial"/>
                </a:rPr>
                <a:t>Standard Syntax Pattern:</a:t>
              </a:r>
              <a:endParaRPr b="1" sz="3570">
                <a:solidFill>
                  <a:srgbClr val="7BC148"/>
                </a:solidFill>
                <a:latin typeface="Arial"/>
                <a:ea typeface="Arial"/>
                <a:cs typeface="Arial"/>
                <a:sym typeface="Arial"/>
              </a:endParaRPr>
            </a:p>
          </p:txBody>
        </p:sp>
        <p:sp>
          <p:nvSpPr>
            <p:cNvPr id="123" name="Google Shape;123;p17"/>
            <p:cNvSpPr/>
            <p:nvPr/>
          </p:nvSpPr>
          <p:spPr>
            <a:xfrm>
              <a:off x="0" y="666750"/>
              <a:ext cx="9048900" cy="7048500"/>
            </a:xfrm>
            <a:prstGeom prst="roundRect">
              <a:avLst>
                <a:gd fmla="val 2162" name="adj"/>
              </a:avLst>
            </a:prstGeom>
            <a:solidFill>
              <a:srgbClr val="1A1A1A"/>
            </a:solidFill>
            <a:ln cap="flat" cmpd="sng" w="28575">
              <a:solidFill>
                <a:srgbClr val="7BC14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7"/>
            <p:cNvSpPr txBox="1"/>
            <p:nvPr/>
          </p:nvSpPr>
          <p:spPr>
            <a:xfrm>
              <a:off x="381000" y="1047750"/>
              <a:ext cx="8286900" cy="628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600">
                  <a:solidFill>
                    <a:srgbClr val="7BC148"/>
                  </a:solidFill>
                  <a:latin typeface="Courier New"/>
                  <a:ea typeface="Courier New"/>
                  <a:cs typeface="Courier New"/>
                  <a:sym typeface="Courier New"/>
                </a:rPr>
                <a:t>WITH</a:t>
              </a:r>
              <a:r>
                <a:rPr b="1" lang="en" sz="3600">
                  <a:solidFill>
                    <a:srgbClr val="FFFFFF"/>
                  </a:solidFill>
                  <a:latin typeface="Courier New"/>
                  <a:ea typeface="Courier New"/>
                  <a:cs typeface="Courier New"/>
                  <a:sym typeface="Courier New"/>
                </a:rPr>
                <a:t> </a:t>
              </a:r>
              <a:r>
                <a:rPr b="1" lang="en" sz="3600">
                  <a:solidFill>
                    <a:srgbClr val="B9D989"/>
                  </a:solidFill>
                  <a:latin typeface="Courier New"/>
                  <a:ea typeface="Courier New"/>
                  <a:cs typeface="Courier New"/>
                  <a:sym typeface="Courier New"/>
                </a:rPr>
                <a:t>name_you_choose</a:t>
              </a:r>
              <a:r>
                <a:rPr b="1" lang="en" sz="3600">
                  <a:solidFill>
                    <a:srgbClr val="FFFFFF"/>
                  </a:solidFill>
                  <a:latin typeface="Courier New"/>
                  <a:ea typeface="Courier New"/>
                  <a:cs typeface="Courier New"/>
                  <a:sym typeface="Courier New"/>
                </a:rPr>
                <a:t> AS (</a:t>
              </a:r>
              <a:endParaRPr b="1" sz="3600">
                <a:solidFill>
                  <a:srgbClr val="FFFFFF"/>
                </a:solidFill>
                <a:latin typeface="Courier New"/>
                <a:ea typeface="Courier New"/>
                <a:cs typeface="Courier New"/>
                <a:sym typeface="Courier New"/>
              </a:endParaRPr>
            </a:p>
            <a:p>
              <a:pPr indent="0" lvl="0" marL="381000" marR="0" rtl="0" algn="l">
                <a:spcBef>
                  <a:spcPts val="1875"/>
                </a:spcBef>
                <a:spcAft>
                  <a:spcPts val="0"/>
                </a:spcAft>
                <a:buNone/>
              </a:pPr>
              <a:r>
                <a:rPr b="1" lang="en" sz="3600">
                  <a:solidFill>
                    <a:srgbClr val="6B6B6B"/>
                  </a:solidFill>
                  <a:latin typeface="Courier New"/>
                  <a:ea typeface="Courier New"/>
                  <a:cs typeface="Courier New"/>
                  <a:sym typeface="Courier New"/>
                </a:rPr>
                <a:t>-- any SELECT query goes here</a:t>
              </a:r>
              <a:endParaRPr b="1" sz="3600">
                <a:solidFill>
                  <a:srgbClr val="6B6B6B"/>
                </a:solidFill>
                <a:latin typeface="Courier New"/>
                <a:ea typeface="Courier New"/>
                <a:cs typeface="Courier New"/>
                <a:sym typeface="Courier New"/>
              </a:endParaRPr>
            </a:p>
            <a:p>
              <a:pPr indent="0" lvl="0" marL="0" rtl="0" algn="l">
                <a:spcBef>
                  <a:spcPts val="1875"/>
                </a:spcBef>
                <a:spcAft>
                  <a:spcPts val="0"/>
                </a:spcAft>
                <a:buNone/>
              </a:pPr>
              <a:r>
                <a:rPr b="1" lang="en" sz="3600">
                  <a:solidFill>
                    <a:srgbClr val="FFFFFF"/>
                  </a:solidFill>
                  <a:latin typeface="Courier New"/>
                  <a:ea typeface="Courier New"/>
                  <a:cs typeface="Courier New"/>
                  <a:sym typeface="Courier New"/>
                </a:rPr>
                <a:t>)</a:t>
              </a:r>
              <a:endParaRPr b="1" sz="3600">
                <a:solidFill>
                  <a:srgbClr val="FFFFFF"/>
                </a:solidFill>
                <a:latin typeface="Courier New"/>
                <a:ea typeface="Courier New"/>
                <a:cs typeface="Courier New"/>
                <a:sym typeface="Courier New"/>
              </a:endParaRPr>
            </a:p>
            <a:p>
              <a:pPr indent="0" lvl="0" marL="0" rtl="0" algn="l">
                <a:spcBef>
                  <a:spcPts val="3375"/>
                </a:spcBef>
                <a:spcAft>
                  <a:spcPts val="0"/>
                </a:spcAft>
                <a:buNone/>
              </a:pPr>
              <a:r>
                <a:rPr b="1" lang="en" sz="3600">
                  <a:solidFill>
                    <a:srgbClr val="7BC148"/>
                  </a:solidFill>
                  <a:latin typeface="Courier New"/>
                  <a:ea typeface="Courier New"/>
                  <a:cs typeface="Courier New"/>
                  <a:sym typeface="Courier New"/>
                </a:rPr>
                <a:t>SELECT</a:t>
              </a:r>
              <a:r>
                <a:rPr b="1" lang="en" sz="3600">
                  <a:solidFill>
                    <a:srgbClr val="FFFFFF"/>
                  </a:solidFill>
                  <a:latin typeface="Courier New"/>
                  <a:ea typeface="Courier New"/>
                  <a:cs typeface="Courier New"/>
                  <a:sym typeface="Courier New"/>
                </a:rPr>
                <a:t> ... </a:t>
              </a:r>
              <a:r>
                <a:rPr b="1" lang="en" sz="3600">
                  <a:solidFill>
                    <a:srgbClr val="7BC148"/>
                  </a:solidFill>
                  <a:latin typeface="Courier New"/>
                  <a:ea typeface="Courier New"/>
                  <a:cs typeface="Courier New"/>
                  <a:sym typeface="Courier New"/>
                </a:rPr>
                <a:t>FROM</a:t>
              </a:r>
              <a:r>
                <a:rPr b="1" lang="en" sz="3600">
                  <a:solidFill>
                    <a:srgbClr val="FFFFFF"/>
                  </a:solidFill>
                  <a:latin typeface="Courier New"/>
                  <a:ea typeface="Courier New"/>
                  <a:cs typeface="Courier New"/>
                  <a:sym typeface="Courier New"/>
                </a:rPr>
                <a:t> </a:t>
              </a:r>
              <a:r>
                <a:rPr b="1" lang="en" sz="3600">
                  <a:solidFill>
                    <a:srgbClr val="B9D989"/>
                  </a:solidFill>
                  <a:latin typeface="Courier New"/>
                  <a:ea typeface="Courier New"/>
                  <a:cs typeface="Courier New"/>
                  <a:sym typeface="Courier New"/>
                </a:rPr>
                <a:t>name_you_choose</a:t>
              </a:r>
              <a:r>
                <a:rPr b="1" lang="en" sz="3600">
                  <a:solidFill>
                    <a:srgbClr val="FFFFFF"/>
                  </a:solidFill>
                  <a:latin typeface="Courier New"/>
                  <a:ea typeface="Courier New"/>
                  <a:cs typeface="Courier New"/>
                  <a:sym typeface="Courier New"/>
                </a:rPr>
                <a:t>;</a:t>
              </a:r>
              <a:endParaRPr b="1" sz="3600">
                <a:solidFill>
                  <a:srgbClr val="FFFFFF"/>
                </a:solidFill>
                <a:latin typeface="Courier New"/>
                <a:ea typeface="Courier New"/>
                <a:cs typeface="Courier New"/>
                <a:sym typeface="Courier New"/>
              </a:endParaRPr>
            </a:p>
          </p:txBody>
        </p:sp>
      </p:grpSp>
      <p:grpSp>
        <p:nvGrpSpPr>
          <p:cNvPr id="125" name="Google Shape;125;p17"/>
          <p:cNvGrpSpPr/>
          <p:nvPr/>
        </p:nvGrpSpPr>
        <p:grpSpPr>
          <a:xfrm>
            <a:off x="11239500" y="3524250"/>
            <a:ext cx="11592000" cy="7715400"/>
            <a:chOff x="0" y="0"/>
            <a:chExt cx="11592000" cy="7715400"/>
          </a:xfrm>
        </p:grpSpPr>
        <p:sp>
          <p:nvSpPr>
            <p:cNvPr id="126" name="Google Shape;126;p17"/>
            <p:cNvSpPr txBox="1"/>
            <p:nvPr/>
          </p:nvSpPr>
          <p:spPr>
            <a:xfrm>
              <a:off x="0" y="0"/>
              <a:ext cx="1159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570">
                  <a:solidFill>
                    <a:srgbClr val="7BC148"/>
                  </a:solidFill>
                  <a:latin typeface="Arial"/>
                  <a:ea typeface="Arial"/>
                  <a:cs typeface="Arial"/>
                  <a:sym typeface="Arial"/>
                </a:rPr>
                <a:t>Three Core Rules to Remember:</a:t>
              </a:r>
              <a:endParaRPr b="1" sz="3570">
                <a:solidFill>
                  <a:srgbClr val="7BC148"/>
                </a:solidFill>
                <a:latin typeface="Arial"/>
                <a:ea typeface="Arial"/>
                <a:cs typeface="Arial"/>
                <a:sym typeface="Arial"/>
              </a:endParaRPr>
            </a:p>
          </p:txBody>
        </p:sp>
        <p:grpSp>
          <p:nvGrpSpPr>
            <p:cNvPr id="127" name="Google Shape;127;p17"/>
            <p:cNvGrpSpPr/>
            <p:nvPr/>
          </p:nvGrpSpPr>
          <p:grpSpPr>
            <a:xfrm>
              <a:off x="0" y="762000"/>
              <a:ext cx="11573025" cy="1905000"/>
              <a:chOff x="0" y="0"/>
              <a:chExt cx="11573025" cy="1905000"/>
            </a:xfrm>
          </p:grpSpPr>
          <p:sp>
            <p:nvSpPr>
              <p:cNvPr id="128" name="Google Shape;128;p17"/>
              <p:cNvSpPr/>
              <p:nvPr/>
            </p:nvSpPr>
            <p:spPr>
              <a:xfrm>
                <a:off x="0" y="0"/>
                <a:ext cx="1238400" cy="1238400"/>
              </a:xfrm>
              <a:prstGeom prst="roundRect">
                <a:avLst>
                  <a:gd fmla="val 6153"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7"/>
              <p:cNvSpPr txBox="1"/>
              <p:nvPr/>
            </p:nvSpPr>
            <p:spPr>
              <a:xfrm>
                <a:off x="0" y="0"/>
                <a:ext cx="12384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01</a:t>
                </a:r>
                <a:endParaRPr b="1" sz="4800">
                  <a:solidFill>
                    <a:srgbClr val="FFFFFF"/>
                  </a:solidFill>
                  <a:latin typeface="Arial"/>
                  <a:ea typeface="Arial"/>
                  <a:cs typeface="Arial"/>
                  <a:sym typeface="Arial"/>
                </a:endParaRPr>
              </a:p>
            </p:txBody>
          </p:sp>
          <p:sp>
            <p:nvSpPr>
              <p:cNvPr id="130" name="Google Shape;130;p17"/>
              <p:cNvSpPr txBox="1"/>
              <p:nvPr/>
            </p:nvSpPr>
            <p:spPr>
              <a:xfrm>
                <a:off x="1571625" y="0"/>
                <a:ext cx="10001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600">
                    <a:solidFill>
                      <a:srgbClr val="1A1A1A"/>
                    </a:solidFill>
                    <a:latin typeface="Arial"/>
                    <a:ea typeface="Arial"/>
                    <a:cs typeface="Arial"/>
                    <a:sym typeface="Arial"/>
                  </a:rPr>
                  <a:t>Initialization:</a:t>
                </a:r>
                <a:r>
                  <a:rPr b="0" lang="en" sz="3600">
                    <a:solidFill>
                      <a:srgbClr val="1A1A1A"/>
                    </a:solidFill>
                    <a:latin typeface="Arial"/>
                    <a:ea typeface="Arial"/>
                    <a:cs typeface="Arial"/>
                    <a:sym typeface="Arial"/>
                  </a:rPr>
                  <a:t> The expression must always start with the </a:t>
                </a:r>
                <a:r>
                  <a:rPr b="1" lang="en" sz="3600">
                    <a:solidFill>
                      <a:srgbClr val="1A1A1A"/>
                    </a:solidFill>
                    <a:latin typeface="Arial"/>
                    <a:ea typeface="Arial"/>
                    <a:cs typeface="Arial"/>
                    <a:sym typeface="Arial"/>
                  </a:rPr>
                  <a:t>WITH</a:t>
                </a:r>
                <a:r>
                  <a:rPr b="0" lang="en" sz="3600">
                    <a:solidFill>
                      <a:srgbClr val="1A1A1A"/>
                    </a:solidFill>
                    <a:latin typeface="Arial"/>
                    <a:ea typeface="Arial"/>
                    <a:cs typeface="Arial"/>
                    <a:sym typeface="Arial"/>
                  </a:rPr>
                  <a:t> keyword at the very beginning of the query block.</a:t>
                </a:r>
                <a:endParaRPr b="0" sz="3600">
                  <a:solidFill>
                    <a:srgbClr val="1A1A1A"/>
                  </a:solidFill>
                  <a:latin typeface="Arial"/>
                  <a:ea typeface="Arial"/>
                  <a:cs typeface="Arial"/>
                  <a:sym typeface="Arial"/>
                </a:endParaRPr>
              </a:p>
            </p:txBody>
          </p:sp>
        </p:grpSp>
        <p:grpSp>
          <p:nvGrpSpPr>
            <p:cNvPr id="131" name="Google Shape;131;p17"/>
            <p:cNvGrpSpPr/>
            <p:nvPr/>
          </p:nvGrpSpPr>
          <p:grpSpPr>
            <a:xfrm>
              <a:off x="0" y="2952750"/>
              <a:ext cx="11573025" cy="2095500"/>
              <a:chOff x="0" y="0"/>
              <a:chExt cx="11573025" cy="2095500"/>
            </a:xfrm>
          </p:grpSpPr>
          <p:sp>
            <p:nvSpPr>
              <p:cNvPr id="132" name="Google Shape;132;p17"/>
              <p:cNvSpPr/>
              <p:nvPr/>
            </p:nvSpPr>
            <p:spPr>
              <a:xfrm>
                <a:off x="0" y="0"/>
                <a:ext cx="1238400" cy="1238400"/>
              </a:xfrm>
              <a:prstGeom prst="roundRect">
                <a:avLst>
                  <a:gd fmla="val 6153"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7"/>
              <p:cNvSpPr txBox="1"/>
              <p:nvPr/>
            </p:nvSpPr>
            <p:spPr>
              <a:xfrm>
                <a:off x="0" y="0"/>
                <a:ext cx="12384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02</a:t>
                </a:r>
                <a:endParaRPr b="1" sz="4800">
                  <a:solidFill>
                    <a:srgbClr val="FFFFFF"/>
                  </a:solidFill>
                  <a:latin typeface="Arial"/>
                  <a:ea typeface="Arial"/>
                  <a:cs typeface="Arial"/>
                  <a:sym typeface="Arial"/>
                </a:endParaRPr>
              </a:p>
            </p:txBody>
          </p:sp>
          <p:sp>
            <p:nvSpPr>
              <p:cNvPr id="134" name="Google Shape;134;p17"/>
              <p:cNvSpPr txBox="1"/>
              <p:nvPr/>
            </p:nvSpPr>
            <p:spPr>
              <a:xfrm>
                <a:off x="1571625" y="0"/>
                <a:ext cx="10001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330">
                    <a:solidFill>
                      <a:srgbClr val="1A1A1A"/>
                    </a:solidFill>
                    <a:latin typeface="Arial"/>
                    <a:ea typeface="Arial"/>
                    <a:cs typeface="Arial"/>
                    <a:sym typeface="Arial"/>
                  </a:rPr>
                  <a:t>Assignment:</a:t>
                </a:r>
                <a:r>
                  <a:rPr b="0" lang="en" sz="3330">
                    <a:solidFill>
                      <a:srgbClr val="1A1A1A"/>
                    </a:solidFill>
                    <a:latin typeface="Arial"/>
                    <a:ea typeface="Arial"/>
                    <a:cs typeface="Arial"/>
                    <a:sym typeface="Arial"/>
                  </a:rPr>
                  <a:t> You must assign a name to the expression (acting much like a variable in traditional programming). Choosing descriptive names is crucial for readability.</a:t>
                </a:r>
                <a:endParaRPr b="0" sz="3330">
                  <a:solidFill>
                    <a:srgbClr val="1A1A1A"/>
                  </a:solidFill>
                  <a:latin typeface="Arial"/>
                  <a:ea typeface="Arial"/>
                  <a:cs typeface="Arial"/>
                  <a:sym typeface="Arial"/>
                </a:endParaRPr>
              </a:p>
            </p:txBody>
          </p:sp>
        </p:grpSp>
        <p:grpSp>
          <p:nvGrpSpPr>
            <p:cNvPr id="135" name="Google Shape;135;p17"/>
            <p:cNvGrpSpPr/>
            <p:nvPr/>
          </p:nvGrpSpPr>
          <p:grpSpPr>
            <a:xfrm>
              <a:off x="0" y="5334000"/>
              <a:ext cx="11573025" cy="2381400"/>
              <a:chOff x="0" y="0"/>
              <a:chExt cx="11573025" cy="2381400"/>
            </a:xfrm>
          </p:grpSpPr>
          <p:sp>
            <p:nvSpPr>
              <p:cNvPr id="136" name="Google Shape;136;p17"/>
              <p:cNvSpPr/>
              <p:nvPr/>
            </p:nvSpPr>
            <p:spPr>
              <a:xfrm>
                <a:off x="0" y="0"/>
                <a:ext cx="1238400" cy="1238400"/>
              </a:xfrm>
              <a:prstGeom prst="roundRect">
                <a:avLst>
                  <a:gd fmla="val 6153"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7"/>
              <p:cNvSpPr txBox="1"/>
              <p:nvPr/>
            </p:nvSpPr>
            <p:spPr>
              <a:xfrm>
                <a:off x="0" y="0"/>
                <a:ext cx="12384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03</a:t>
                </a:r>
                <a:endParaRPr b="1" sz="4800">
                  <a:solidFill>
                    <a:srgbClr val="FFFFFF"/>
                  </a:solidFill>
                  <a:latin typeface="Arial"/>
                  <a:ea typeface="Arial"/>
                  <a:cs typeface="Arial"/>
                  <a:sym typeface="Arial"/>
                </a:endParaRPr>
              </a:p>
            </p:txBody>
          </p:sp>
          <p:sp>
            <p:nvSpPr>
              <p:cNvPr id="138" name="Google Shape;138;p17"/>
              <p:cNvSpPr txBox="1"/>
              <p:nvPr/>
            </p:nvSpPr>
            <p:spPr>
              <a:xfrm>
                <a:off x="1571625" y="0"/>
                <a:ext cx="100014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330">
                    <a:solidFill>
                      <a:srgbClr val="1A1A1A"/>
                    </a:solidFill>
                    <a:latin typeface="Arial"/>
                    <a:ea typeface="Arial"/>
                    <a:cs typeface="Arial"/>
                    <a:sym typeface="Arial"/>
                  </a:rPr>
                  <a:t>Lifespan:</a:t>
                </a:r>
                <a:r>
                  <a:rPr b="0" lang="en" sz="3330">
                    <a:solidFill>
                      <a:srgbClr val="1A1A1A"/>
                    </a:solidFill>
                    <a:latin typeface="Arial"/>
                    <a:ea typeface="Arial"/>
                    <a:cs typeface="Arial"/>
                    <a:sym typeface="Arial"/>
                  </a:rPr>
                  <a:t> The assigned name only exists for this single query execution. It is not a permanent table or view in the database, and it disappears immediately after the final semicolon is processed.</a:t>
                </a:r>
                <a:endParaRPr b="0" sz="3330">
                  <a:solidFill>
                    <a:srgbClr val="1A1A1A"/>
                  </a:solidFill>
                  <a:latin typeface="Arial"/>
                  <a:ea typeface="Arial"/>
                  <a:cs typeface="Arial"/>
                  <a:sym typeface="Arial"/>
                </a:endParaRPr>
              </a:p>
            </p:txBody>
          </p:sp>
        </p:grpSp>
      </p:grpSp>
      <p:grpSp>
        <p:nvGrpSpPr>
          <p:cNvPr id="139" name="Google Shape;139;p17"/>
          <p:cNvGrpSpPr/>
          <p:nvPr/>
        </p:nvGrpSpPr>
        <p:grpSpPr>
          <a:xfrm>
            <a:off x="1554480" y="12600432"/>
            <a:ext cx="21762660" cy="887028"/>
            <a:chOff x="1554480" y="12600432"/>
            <a:chExt cx="21762660" cy="887028"/>
          </a:xfrm>
        </p:grpSpPr>
        <p:cxnSp>
          <p:nvCxnSpPr>
            <p:cNvPr id="140" name="Google Shape;140;p17"/>
            <p:cNvCxnSpPr/>
            <p:nvPr/>
          </p:nvCxnSpPr>
          <p:spPr>
            <a:xfrm>
              <a:off x="1554480" y="12600432"/>
              <a:ext cx="197235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141" name="Google Shape;141;p17"/>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142" name="Google Shape;142;p17"/>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7"/>
            <p:cNvSpPr txBox="1"/>
            <p:nvPr/>
          </p:nvSpPr>
          <p:spPr>
            <a:xfrm>
              <a:off x="22265640" y="12710160"/>
              <a:ext cx="1051500" cy="777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000">
                  <a:solidFill>
                    <a:srgbClr val="FFFFFF"/>
                  </a:solidFill>
                  <a:latin typeface="Arial"/>
                  <a:ea typeface="Arial"/>
                  <a:cs typeface="Arial"/>
                  <a:sym typeface="Arial"/>
                </a:rPr>
                <a:t>09</a:t>
              </a:r>
              <a:endParaRPr b="1" sz="3000">
                <a:solidFill>
                  <a:srgbClr val="FFFFFF"/>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8"/>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149" name="Google Shape;149;p18"/>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0" name="Google Shape;150;p18"/>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151" name="Google Shape;151;p18"/>
          <p:cNvSpPr txBox="1"/>
          <p:nvPr/>
        </p:nvSpPr>
        <p:spPr>
          <a:xfrm>
            <a:off x="1554480" y="714375"/>
            <a:ext cx="197511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580">
                <a:solidFill>
                  <a:srgbClr val="1A1A1A"/>
                </a:solidFill>
                <a:latin typeface="Arial"/>
                <a:ea typeface="Arial"/>
                <a:cs typeface="Arial"/>
                <a:sym typeface="Arial"/>
              </a:rPr>
              <a:t>CTEs Break Down Aggregation Tasks into Logical Steps</a:t>
            </a:r>
            <a:endParaRPr b="1" sz="5580">
              <a:solidFill>
                <a:srgbClr val="1A1A1A"/>
              </a:solidFill>
              <a:latin typeface="Arial"/>
              <a:ea typeface="Arial"/>
              <a:cs typeface="Arial"/>
              <a:sym typeface="Arial"/>
            </a:endParaRPr>
          </a:p>
        </p:txBody>
      </p:sp>
      <p:sp>
        <p:nvSpPr>
          <p:cNvPr id="152" name="Google Shape;152;p18"/>
          <p:cNvSpPr txBox="1"/>
          <p:nvPr/>
        </p:nvSpPr>
        <p:spPr>
          <a:xfrm>
            <a:off x="1554480" y="2238375"/>
            <a:ext cx="21278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1" lang="en" sz="3145">
                <a:solidFill>
                  <a:srgbClr val="44546A"/>
                </a:solidFill>
                <a:latin typeface="Arial"/>
                <a:ea typeface="Arial"/>
                <a:cs typeface="Arial"/>
                <a:sym typeface="Arial"/>
              </a:rPr>
              <a:t>Let's apply the CTE structure to a common analytical task in the OMOP CDM.</a:t>
            </a:r>
            <a:endParaRPr i="1" sz="3145">
              <a:solidFill>
                <a:srgbClr val="44546A"/>
              </a:solidFill>
              <a:latin typeface="Arial"/>
              <a:ea typeface="Arial"/>
              <a:cs typeface="Arial"/>
              <a:sym typeface="Arial"/>
            </a:endParaRPr>
          </a:p>
          <a:p>
            <a:pPr indent="0" lvl="0" marL="0" rtl="0" algn="l">
              <a:spcBef>
                <a:spcPts val="450"/>
              </a:spcBef>
              <a:spcAft>
                <a:spcPts val="0"/>
              </a:spcAft>
              <a:buNone/>
            </a:pPr>
            <a:r>
              <a:rPr b="1" lang="en" sz="3330">
                <a:solidFill>
                  <a:srgbClr val="1A1A1A"/>
                </a:solidFill>
                <a:latin typeface="Arial"/>
                <a:ea typeface="Arial"/>
                <a:cs typeface="Arial"/>
                <a:sym typeface="Arial"/>
              </a:rPr>
              <a:t>Example Question: </a:t>
            </a:r>
            <a:r>
              <a:rPr b="0" i="1" lang="en" sz="3330">
                <a:solidFill>
                  <a:srgbClr val="44546A"/>
                </a:solidFill>
                <a:latin typeface="Arial"/>
                <a:ea typeface="Arial"/>
                <a:cs typeface="Arial"/>
                <a:sym typeface="Arial"/>
              </a:rPr>
              <a:t>"How many patients have more than 5 conditions?"</a:t>
            </a:r>
            <a:endParaRPr b="1" sz="3330">
              <a:solidFill>
                <a:srgbClr val="1A1A1A"/>
              </a:solidFill>
              <a:latin typeface="Arial"/>
              <a:ea typeface="Arial"/>
              <a:cs typeface="Arial"/>
              <a:sym typeface="Arial"/>
            </a:endParaRPr>
          </a:p>
        </p:txBody>
      </p:sp>
      <p:grpSp>
        <p:nvGrpSpPr>
          <p:cNvPr id="153" name="Google Shape;153;p18"/>
          <p:cNvGrpSpPr/>
          <p:nvPr/>
        </p:nvGrpSpPr>
        <p:grpSpPr>
          <a:xfrm>
            <a:off x="1554480" y="3429000"/>
            <a:ext cx="21278100" cy="2000100"/>
            <a:chOff x="0" y="0"/>
            <a:chExt cx="21278100" cy="2000100"/>
          </a:xfrm>
        </p:grpSpPr>
        <p:sp>
          <p:nvSpPr>
            <p:cNvPr id="154" name="Google Shape;154;p18"/>
            <p:cNvSpPr/>
            <p:nvPr/>
          </p:nvSpPr>
          <p:spPr>
            <a:xfrm>
              <a:off x="0" y="0"/>
              <a:ext cx="21278100" cy="20001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8"/>
            <p:cNvSpPr txBox="1"/>
            <p:nvPr/>
          </p:nvSpPr>
          <p:spPr>
            <a:xfrm>
              <a:off x="365760" y="0"/>
              <a:ext cx="42063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200">
                  <a:solidFill>
                    <a:srgbClr val="7BC148"/>
                  </a:solidFill>
                  <a:latin typeface="Arial"/>
                  <a:ea typeface="Arial"/>
                  <a:cs typeface="Arial"/>
                  <a:sym typeface="Arial"/>
                </a:rPr>
                <a:t>Step 1</a:t>
              </a:r>
              <a:endParaRPr b="1" sz="4200">
                <a:solidFill>
                  <a:srgbClr val="7BC148"/>
                </a:solidFill>
                <a:latin typeface="Arial"/>
                <a:ea typeface="Arial"/>
                <a:cs typeface="Arial"/>
                <a:sym typeface="Arial"/>
              </a:endParaRPr>
            </a:p>
            <a:p>
              <a:pPr indent="0" lvl="0" marL="0" rtl="0" algn="l">
                <a:spcBef>
                  <a:spcPts val="300"/>
                </a:spcBef>
                <a:spcAft>
                  <a:spcPts val="0"/>
                </a:spcAft>
                <a:buNone/>
              </a:pPr>
              <a:r>
                <a:rPr b="1" lang="en" sz="2800">
                  <a:solidFill>
                    <a:srgbClr val="6B6B6B"/>
                  </a:solidFill>
                  <a:latin typeface="Arial"/>
                  <a:ea typeface="Arial"/>
                  <a:cs typeface="Arial"/>
                  <a:sym typeface="Arial"/>
                </a:rPr>
                <a:t>Identify Logic</a:t>
              </a:r>
              <a:endParaRPr b="1" sz="2800">
                <a:solidFill>
                  <a:srgbClr val="6B6B6B"/>
                </a:solidFill>
                <a:latin typeface="Arial"/>
                <a:ea typeface="Arial"/>
                <a:cs typeface="Arial"/>
                <a:sym typeface="Arial"/>
              </a:endParaRPr>
            </a:p>
          </p:txBody>
        </p:sp>
        <p:sp>
          <p:nvSpPr>
            <p:cNvPr id="156" name="Google Shape;156;p18"/>
            <p:cNvSpPr txBox="1"/>
            <p:nvPr/>
          </p:nvSpPr>
          <p:spPr>
            <a:xfrm>
              <a:off x="4937760" y="0"/>
              <a:ext cx="158832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1A1A1A"/>
                  </a:solidFill>
                  <a:latin typeface="Arial"/>
                  <a:ea typeface="Arial"/>
                  <a:cs typeface="Arial"/>
                  <a:sym typeface="Arial"/>
                </a:rPr>
                <a:t>Identify the required intermediate result.</a:t>
              </a:r>
              <a:endParaRPr b="1" sz="3600">
                <a:solidFill>
                  <a:srgbClr val="1A1A1A"/>
                </a:solidFill>
                <a:latin typeface="Arial"/>
                <a:ea typeface="Arial"/>
                <a:cs typeface="Arial"/>
                <a:sym typeface="Arial"/>
              </a:endParaRPr>
            </a:p>
            <a:p>
              <a:pPr indent="0" lvl="0" marL="0" rtl="0" algn="l">
                <a:spcBef>
                  <a:spcPts val="600"/>
                </a:spcBef>
                <a:spcAft>
                  <a:spcPts val="0"/>
                </a:spcAft>
                <a:buNone/>
              </a:pPr>
              <a:r>
                <a:rPr b="0" lang="en" sz="3200">
                  <a:solidFill>
                    <a:srgbClr val="44546A"/>
                  </a:solidFill>
                  <a:latin typeface="Arial"/>
                  <a:ea typeface="Arial"/>
                  <a:cs typeface="Arial"/>
                  <a:sym typeface="Arial"/>
                </a:rPr>
                <a:t>Before we can filter for patients with more than 5 conditions, we must first calculate the total count of conditions per patient.</a:t>
              </a:r>
              <a:endParaRPr b="0" sz="3200">
                <a:solidFill>
                  <a:srgbClr val="44546A"/>
                </a:solidFill>
                <a:latin typeface="Arial"/>
                <a:ea typeface="Arial"/>
                <a:cs typeface="Arial"/>
                <a:sym typeface="Arial"/>
              </a:endParaRPr>
            </a:p>
          </p:txBody>
        </p:sp>
      </p:grpSp>
      <p:grpSp>
        <p:nvGrpSpPr>
          <p:cNvPr id="157" name="Google Shape;157;p18"/>
          <p:cNvGrpSpPr/>
          <p:nvPr/>
        </p:nvGrpSpPr>
        <p:grpSpPr>
          <a:xfrm>
            <a:off x="1554480" y="5619750"/>
            <a:ext cx="21278100" cy="2667000"/>
            <a:chOff x="0" y="0"/>
            <a:chExt cx="21278100" cy="2667000"/>
          </a:xfrm>
        </p:grpSpPr>
        <p:sp>
          <p:nvSpPr>
            <p:cNvPr id="158" name="Google Shape;158;p18"/>
            <p:cNvSpPr/>
            <p:nvPr/>
          </p:nvSpPr>
          <p:spPr>
            <a:xfrm>
              <a:off x="0" y="0"/>
              <a:ext cx="21278100" cy="2667000"/>
            </a:xfrm>
            <a:prstGeom prst="rect">
              <a:avLst/>
            </a:prstGeom>
            <a:solidFill>
              <a:srgbClr val="F4F9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8"/>
            <p:cNvSpPr txBox="1"/>
            <p:nvPr/>
          </p:nvSpPr>
          <p:spPr>
            <a:xfrm>
              <a:off x="365760" y="0"/>
              <a:ext cx="4206300" cy="26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200">
                  <a:solidFill>
                    <a:srgbClr val="7BC148"/>
                  </a:solidFill>
                  <a:latin typeface="Arial"/>
                  <a:ea typeface="Arial"/>
                  <a:cs typeface="Arial"/>
                  <a:sym typeface="Arial"/>
                </a:rPr>
                <a:t>Step 2</a:t>
              </a:r>
              <a:endParaRPr b="1" sz="4200">
                <a:solidFill>
                  <a:srgbClr val="7BC148"/>
                </a:solidFill>
                <a:latin typeface="Arial"/>
                <a:ea typeface="Arial"/>
                <a:cs typeface="Arial"/>
                <a:sym typeface="Arial"/>
              </a:endParaRPr>
            </a:p>
            <a:p>
              <a:pPr indent="0" lvl="0" marL="0" rtl="0" algn="l">
                <a:spcBef>
                  <a:spcPts val="300"/>
                </a:spcBef>
                <a:spcAft>
                  <a:spcPts val="0"/>
                </a:spcAft>
                <a:buNone/>
              </a:pPr>
              <a:r>
                <a:rPr b="1" lang="en" sz="2800">
                  <a:solidFill>
                    <a:srgbClr val="6B6B6B"/>
                  </a:solidFill>
                  <a:latin typeface="Arial"/>
                  <a:ea typeface="Arial"/>
                  <a:cs typeface="Arial"/>
                  <a:sym typeface="Arial"/>
                </a:rPr>
                <a:t>Write CTE</a:t>
              </a:r>
              <a:endParaRPr b="1" sz="2800">
                <a:solidFill>
                  <a:srgbClr val="6B6B6B"/>
                </a:solidFill>
                <a:latin typeface="Arial"/>
                <a:ea typeface="Arial"/>
                <a:cs typeface="Arial"/>
                <a:sym typeface="Arial"/>
              </a:endParaRPr>
            </a:p>
          </p:txBody>
        </p:sp>
        <p:sp>
          <p:nvSpPr>
            <p:cNvPr id="160" name="Google Shape;160;p18"/>
            <p:cNvSpPr txBox="1"/>
            <p:nvPr/>
          </p:nvSpPr>
          <p:spPr>
            <a:xfrm>
              <a:off x="4937760" y="0"/>
              <a:ext cx="15883200" cy="266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550">
                  <a:solidFill>
                    <a:srgbClr val="7BC148"/>
                  </a:solidFill>
                  <a:latin typeface="Arial"/>
                  <a:ea typeface="Arial"/>
                  <a:cs typeface="Arial"/>
                  <a:sym typeface="Arial"/>
                </a:rPr>
                <a:t>WITH</a:t>
              </a:r>
              <a:r>
                <a:rPr b="1" lang="en" sz="2550">
                  <a:solidFill>
                    <a:srgbClr val="1A1A1A"/>
                  </a:solidFill>
                  <a:latin typeface="Arial"/>
                  <a:ea typeface="Arial"/>
                  <a:cs typeface="Arial"/>
                  <a:sym typeface="Arial"/>
                </a:rPr>
                <a:t> condition_counts </a:t>
              </a:r>
              <a:r>
                <a:rPr b="1" lang="en" sz="2550">
                  <a:solidFill>
                    <a:srgbClr val="7BC148"/>
                  </a:solidFill>
                  <a:latin typeface="Arial"/>
                  <a:ea typeface="Arial"/>
                  <a:cs typeface="Arial"/>
                  <a:sym typeface="Arial"/>
                </a:rPr>
                <a:t>AS</a:t>
              </a:r>
              <a:r>
                <a:rPr b="1" lang="en" sz="2550">
                  <a:solidFill>
                    <a:srgbClr val="1A1A1A"/>
                  </a:solidFill>
                  <a:latin typeface="Arial"/>
                  <a:ea typeface="Arial"/>
                  <a:cs typeface="Arial"/>
                  <a:sym typeface="Arial"/>
                </a:rPr>
                <a:t> (</a:t>
              </a:r>
              <a:endParaRPr b="1" sz="2550">
                <a:solidFill>
                  <a:srgbClr val="1A1A1A"/>
                </a:solidFill>
                <a:latin typeface="Arial"/>
                <a:ea typeface="Arial"/>
                <a:cs typeface="Arial"/>
                <a:sym typeface="Arial"/>
              </a:endParaRPr>
            </a:p>
            <a:p>
              <a:pPr indent="0" lvl="0" marL="333375" marR="0" rtl="0" algn="l">
                <a:spcBef>
                  <a:spcPts val="300"/>
                </a:spcBef>
                <a:spcAft>
                  <a:spcPts val="0"/>
                </a:spcAft>
                <a:buNone/>
              </a:pPr>
              <a:r>
                <a:rPr b="1" lang="en" sz="2550">
                  <a:solidFill>
                    <a:srgbClr val="7BC148"/>
                  </a:solidFill>
                  <a:latin typeface="Arial"/>
                  <a:ea typeface="Arial"/>
                  <a:cs typeface="Arial"/>
                  <a:sym typeface="Arial"/>
                </a:rPr>
                <a:t>SELECT</a:t>
              </a:r>
              <a:r>
                <a:rPr b="0" lang="en" sz="2550">
                  <a:solidFill>
                    <a:srgbClr val="1A1A1A"/>
                  </a:solidFill>
                  <a:latin typeface="Arial"/>
                  <a:ea typeface="Arial"/>
                  <a:cs typeface="Arial"/>
                  <a:sym typeface="Arial"/>
                </a:rPr>
                <a:t> person_id, </a:t>
              </a:r>
              <a:r>
                <a:rPr b="1" lang="en" sz="2550">
                  <a:solidFill>
                    <a:srgbClr val="7BC148"/>
                  </a:solidFill>
                  <a:latin typeface="Arial"/>
                  <a:ea typeface="Arial"/>
                  <a:cs typeface="Arial"/>
                  <a:sym typeface="Arial"/>
                </a:rPr>
                <a:t>COUNT</a:t>
              </a:r>
              <a:r>
                <a:rPr b="0" lang="en" sz="2550">
                  <a:solidFill>
                    <a:srgbClr val="1A1A1A"/>
                  </a:solidFill>
                  <a:latin typeface="Arial"/>
                  <a:ea typeface="Arial"/>
                  <a:cs typeface="Arial"/>
                  <a:sym typeface="Arial"/>
                </a:rPr>
                <a:t>(*) </a:t>
              </a:r>
              <a:r>
                <a:rPr b="1" lang="en" sz="2550">
                  <a:solidFill>
                    <a:srgbClr val="7BC148"/>
                  </a:solidFill>
                  <a:latin typeface="Arial"/>
                  <a:ea typeface="Arial"/>
                  <a:cs typeface="Arial"/>
                  <a:sym typeface="Arial"/>
                </a:rPr>
                <a:t>AS</a:t>
              </a:r>
              <a:r>
                <a:rPr b="0" lang="en" sz="2550">
                  <a:solidFill>
                    <a:srgbClr val="1A1A1A"/>
                  </a:solidFill>
                  <a:latin typeface="Arial"/>
                  <a:ea typeface="Arial"/>
                  <a:cs typeface="Arial"/>
                  <a:sym typeface="Arial"/>
                </a:rPr>
                <a:t> num_conditions</a:t>
              </a:r>
              <a:endParaRPr b="0" sz="2550">
                <a:solidFill>
                  <a:srgbClr val="1A1A1A"/>
                </a:solidFill>
                <a:latin typeface="Arial"/>
                <a:ea typeface="Arial"/>
                <a:cs typeface="Arial"/>
                <a:sym typeface="Arial"/>
              </a:endParaRPr>
            </a:p>
            <a:p>
              <a:pPr indent="0" lvl="0" marL="333375" marR="0" rtl="0" algn="l">
                <a:spcBef>
                  <a:spcPts val="300"/>
                </a:spcBef>
                <a:spcAft>
                  <a:spcPts val="0"/>
                </a:spcAft>
                <a:buNone/>
              </a:pPr>
              <a:r>
                <a:rPr b="1" lang="en" sz="2550">
                  <a:solidFill>
                    <a:srgbClr val="7BC148"/>
                  </a:solidFill>
                  <a:latin typeface="Arial"/>
                  <a:ea typeface="Arial"/>
                  <a:cs typeface="Arial"/>
                  <a:sym typeface="Arial"/>
                </a:rPr>
                <a:t>FROM</a:t>
              </a:r>
              <a:r>
                <a:rPr b="0" lang="en" sz="2550">
                  <a:solidFill>
                    <a:srgbClr val="1A1A1A"/>
                  </a:solidFill>
                  <a:latin typeface="Arial"/>
                  <a:ea typeface="Arial"/>
                  <a:cs typeface="Arial"/>
                  <a:sym typeface="Arial"/>
                </a:rPr>
                <a:t> cdm.condition_occurrence</a:t>
              </a:r>
              <a:endParaRPr b="0" sz="2550">
                <a:solidFill>
                  <a:srgbClr val="1A1A1A"/>
                </a:solidFill>
                <a:latin typeface="Arial"/>
                <a:ea typeface="Arial"/>
                <a:cs typeface="Arial"/>
                <a:sym typeface="Arial"/>
              </a:endParaRPr>
            </a:p>
            <a:p>
              <a:pPr indent="0" lvl="0" marL="333375" marR="0" rtl="0" algn="l">
                <a:spcBef>
                  <a:spcPts val="300"/>
                </a:spcBef>
                <a:spcAft>
                  <a:spcPts val="0"/>
                </a:spcAft>
                <a:buNone/>
              </a:pPr>
              <a:r>
                <a:rPr b="1" lang="en" sz="2550">
                  <a:solidFill>
                    <a:srgbClr val="7BC148"/>
                  </a:solidFill>
                  <a:latin typeface="Arial"/>
                  <a:ea typeface="Arial"/>
                  <a:cs typeface="Arial"/>
                  <a:sym typeface="Arial"/>
                </a:rPr>
                <a:t>GROUP BY</a:t>
              </a:r>
              <a:r>
                <a:rPr b="0" lang="en" sz="2550">
                  <a:solidFill>
                    <a:srgbClr val="1A1A1A"/>
                  </a:solidFill>
                  <a:latin typeface="Arial"/>
                  <a:ea typeface="Arial"/>
                  <a:cs typeface="Arial"/>
                  <a:sym typeface="Arial"/>
                </a:rPr>
                <a:t> person_id</a:t>
              </a:r>
              <a:endParaRPr b="0" sz="2550">
                <a:solidFill>
                  <a:srgbClr val="1A1A1A"/>
                </a:solidFill>
                <a:latin typeface="Arial"/>
                <a:ea typeface="Arial"/>
                <a:cs typeface="Arial"/>
                <a:sym typeface="Arial"/>
              </a:endParaRPr>
            </a:p>
            <a:p>
              <a:pPr indent="0" lvl="0" marL="0" rtl="0" algn="l">
                <a:spcBef>
                  <a:spcPts val="300"/>
                </a:spcBef>
                <a:spcAft>
                  <a:spcPts val="0"/>
                </a:spcAft>
                <a:buNone/>
              </a:pPr>
              <a:r>
                <a:rPr b="1" lang="en" sz="2550">
                  <a:solidFill>
                    <a:srgbClr val="1A1A1A"/>
                  </a:solidFill>
                  <a:latin typeface="Arial"/>
                  <a:ea typeface="Arial"/>
                  <a:cs typeface="Arial"/>
                  <a:sym typeface="Arial"/>
                </a:rPr>
                <a:t>)</a:t>
              </a:r>
              <a:endParaRPr b="1" sz="2550">
                <a:solidFill>
                  <a:srgbClr val="1A1A1A"/>
                </a:solidFill>
                <a:latin typeface="Arial"/>
                <a:ea typeface="Arial"/>
                <a:cs typeface="Arial"/>
                <a:sym typeface="Arial"/>
              </a:endParaRPr>
            </a:p>
            <a:p>
              <a:pPr indent="0" lvl="0" marL="0" rtl="0" algn="l">
                <a:spcBef>
                  <a:spcPts val="600"/>
                </a:spcBef>
                <a:spcAft>
                  <a:spcPts val="0"/>
                </a:spcAft>
                <a:buNone/>
              </a:pPr>
              <a:r>
                <a:rPr b="0" i="1" lang="en" sz="2210">
                  <a:solidFill>
                    <a:srgbClr val="6B6B6B"/>
                  </a:solidFill>
                  <a:latin typeface="Arial"/>
                  <a:ea typeface="Arial"/>
                  <a:cs typeface="Arial"/>
                  <a:sym typeface="Arial"/>
                </a:rPr>
                <a:t>(Sample output table structure: person_id | num_conditions)</a:t>
              </a:r>
              <a:endParaRPr b="0" i="1" sz="2210">
                <a:solidFill>
                  <a:srgbClr val="6B6B6B"/>
                </a:solidFill>
                <a:latin typeface="Arial"/>
                <a:ea typeface="Arial"/>
                <a:cs typeface="Arial"/>
                <a:sym typeface="Arial"/>
              </a:endParaRPr>
            </a:p>
          </p:txBody>
        </p:sp>
      </p:grpSp>
      <p:grpSp>
        <p:nvGrpSpPr>
          <p:cNvPr id="161" name="Google Shape;161;p18"/>
          <p:cNvGrpSpPr/>
          <p:nvPr/>
        </p:nvGrpSpPr>
        <p:grpSpPr>
          <a:xfrm>
            <a:off x="1554480" y="8477250"/>
            <a:ext cx="21278100" cy="2190900"/>
            <a:chOff x="0" y="0"/>
            <a:chExt cx="21278100" cy="2190900"/>
          </a:xfrm>
        </p:grpSpPr>
        <p:sp>
          <p:nvSpPr>
            <p:cNvPr id="162" name="Google Shape;162;p18"/>
            <p:cNvSpPr/>
            <p:nvPr/>
          </p:nvSpPr>
          <p:spPr>
            <a:xfrm>
              <a:off x="0" y="0"/>
              <a:ext cx="21278100" cy="21909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8"/>
            <p:cNvSpPr txBox="1"/>
            <p:nvPr/>
          </p:nvSpPr>
          <p:spPr>
            <a:xfrm>
              <a:off x="365760" y="0"/>
              <a:ext cx="4206300" cy="219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200">
                  <a:solidFill>
                    <a:srgbClr val="7BC148"/>
                  </a:solidFill>
                  <a:latin typeface="Arial"/>
                  <a:ea typeface="Arial"/>
                  <a:cs typeface="Arial"/>
                  <a:sym typeface="Arial"/>
                </a:rPr>
                <a:t>Step 3</a:t>
              </a:r>
              <a:endParaRPr b="1" sz="4200">
                <a:solidFill>
                  <a:srgbClr val="7BC148"/>
                </a:solidFill>
                <a:latin typeface="Arial"/>
                <a:ea typeface="Arial"/>
                <a:cs typeface="Arial"/>
                <a:sym typeface="Arial"/>
              </a:endParaRPr>
            </a:p>
            <a:p>
              <a:pPr indent="0" lvl="0" marL="0" rtl="0" algn="l">
                <a:spcBef>
                  <a:spcPts val="300"/>
                </a:spcBef>
                <a:spcAft>
                  <a:spcPts val="0"/>
                </a:spcAft>
                <a:buNone/>
              </a:pPr>
              <a:r>
                <a:rPr b="1" lang="en" sz="2800">
                  <a:solidFill>
                    <a:srgbClr val="6B6B6B"/>
                  </a:solidFill>
                  <a:latin typeface="Arial"/>
                  <a:ea typeface="Arial"/>
                  <a:cs typeface="Arial"/>
                  <a:sym typeface="Arial"/>
                </a:rPr>
                <a:t>Main Query</a:t>
              </a:r>
              <a:endParaRPr b="1" sz="2800">
                <a:solidFill>
                  <a:srgbClr val="6B6B6B"/>
                </a:solidFill>
                <a:latin typeface="Arial"/>
                <a:ea typeface="Arial"/>
                <a:cs typeface="Arial"/>
                <a:sym typeface="Arial"/>
              </a:endParaRPr>
            </a:p>
          </p:txBody>
        </p:sp>
        <p:sp>
          <p:nvSpPr>
            <p:cNvPr id="164" name="Google Shape;164;p18"/>
            <p:cNvSpPr txBox="1"/>
            <p:nvPr/>
          </p:nvSpPr>
          <p:spPr>
            <a:xfrm>
              <a:off x="4937760" y="0"/>
              <a:ext cx="15883200" cy="219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000">
                  <a:solidFill>
                    <a:srgbClr val="1A1A1A"/>
                  </a:solidFill>
                  <a:latin typeface="Arial"/>
                  <a:ea typeface="Arial"/>
                  <a:cs typeface="Arial"/>
                  <a:sym typeface="Arial"/>
                </a:rPr>
                <a:t>Write the main query.</a:t>
              </a:r>
              <a:endParaRPr b="1" sz="3000">
                <a:solidFill>
                  <a:srgbClr val="1A1A1A"/>
                </a:solidFill>
                <a:latin typeface="Arial"/>
                <a:ea typeface="Arial"/>
                <a:cs typeface="Arial"/>
                <a:sym typeface="Arial"/>
              </a:endParaRPr>
            </a:p>
            <a:p>
              <a:pPr indent="0" lvl="0" marL="0" rtl="0" algn="l">
                <a:spcBef>
                  <a:spcPts val="450"/>
                </a:spcBef>
                <a:spcAft>
                  <a:spcPts val="0"/>
                </a:spcAft>
                <a:buNone/>
              </a:pPr>
              <a:r>
                <a:rPr b="1" lang="en" sz="3000">
                  <a:solidFill>
                    <a:srgbClr val="7BC148"/>
                  </a:solidFill>
                  <a:latin typeface="Arial"/>
                  <a:ea typeface="Arial"/>
                  <a:cs typeface="Arial"/>
                  <a:sym typeface="Arial"/>
                </a:rPr>
                <a:t>SELECT</a:t>
              </a:r>
              <a:r>
                <a:rPr b="0" lang="en" sz="3000">
                  <a:solidFill>
                    <a:srgbClr val="1A1A1A"/>
                  </a:solidFill>
                  <a:latin typeface="Arial"/>
                  <a:ea typeface="Arial"/>
                  <a:cs typeface="Arial"/>
                  <a:sym typeface="Arial"/>
                </a:rPr>
                <a:t> </a:t>
              </a:r>
              <a:r>
                <a:rPr b="1" lang="en" sz="3000">
                  <a:solidFill>
                    <a:srgbClr val="7BC148"/>
                  </a:solidFill>
                  <a:latin typeface="Arial"/>
                  <a:ea typeface="Arial"/>
                  <a:cs typeface="Arial"/>
                  <a:sym typeface="Arial"/>
                </a:rPr>
                <a:t>COUNT</a:t>
              </a:r>
              <a:r>
                <a:rPr b="0" lang="en" sz="3000">
                  <a:solidFill>
                    <a:srgbClr val="1A1A1A"/>
                  </a:solidFill>
                  <a:latin typeface="Arial"/>
                  <a:ea typeface="Arial"/>
                  <a:cs typeface="Arial"/>
                  <a:sym typeface="Arial"/>
                </a:rPr>
                <a:t>(person_id) </a:t>
              </a:r>
              <a:r>
                <a:rPr b="1" lang="en" sz="3000">
                  <a:solidFill>
                    <a:srgbClr val="7BC148"/>
                  </a:solidFill>
                  <a:latin typeface="Arial"/>
                  <a:ea typeface="Arial"/>
                  <a:cs typeface="Arial"/>
                  <a:sym typeface="Arial"/>
                </a:rPr>
                <a:t>AS</a:t>
              </a:r>
              <a:r>
                <a:rPr b="0" lang="en" sz="3000">
                  <a:solidFill>
                    <a:srgbClr val="1A1A1A"/>
                  </a:solidFill>
                  <a:latin typeface="Arial"/>
                  <a:ea typeface="Arial"/>
                  <a:cs typeface="Arial"/>
                  <a:sym typeface="Arial"/>
                </a:rPr>
                <a:t> patient_count</a:t>
              </a:r>
              <a:endParaRPr b="0" sz="3000">
                <a:solidFill>
                  <a:srgbClr val="1A1A1A"/>
                </a:solidFill>
                <a:latin typeface="Arial"/>
                <a:ea typeface="Arial"/>
                <a:cs typeface="Arial"/>
                <a:sym typeface="Arial"/>
              </a:endParaRPr>
            </a:p>
            <a:p>
              <a:pPr indent="0" lvl="0" marL="0" rtl="0" algn="l">
                <a:spcBef>
                  <a:spcPts val="300"/>
                </a:spcBef>
                <a:spcAft>
                  <a:spcPts val="0"/>
                </a:spcAft>
                <a:buNone/>
              </a:pPr>
              <a:r>
                <a:rPr b="1" lang="en" sz="3000">
                  <a:solidFill>
                    <a:srgbClr val="7BC148"/>
                  </a:solidFill>
                  <a:latin typeface="Arial"/>
                  <a:ea typeface="Arial"/>
                  <a:cs typeface="Arial"/>
                  <a:sym typeface="Arial"/>
                </a:rPr>
                <a:t>FROM</a:t>
              </a:r>
              <a:r>
                <a:rPr b="0" lang="en" sz="3000">
                  <a:solidFill>
                    <a:srgbClr val="1A1A1A"/>
                  </a:solidFill>
                  <a:latin typeface="Arial"/>
                  <a:ea typeface="Arial"/>
                  <a:cs typeface="Arial"/>
                  <a:sym typeface="Arial"/>
                </a:rPr>
                <a:t> condition_counts</a:t>
              </a:r>
              <a:endParaRPr b="0" sz="3000">
                <a:solidFill>
                  <a:srgbClr val="1A1A1A"/>
                </a:solidFill>
                <a:latin typeface="Arial"/>
                <a:ea typeface="Arial"/>
                <a:cs typeface="Arial"/>
                <a:sym typeface="Arial"/>
              </a:endParaRPr>
            </a:p>
            <a:p>
              <a:pPr indent="0" lvl="0" marL="0" rtl="0" algn="l">
                <a:spcBef>
                  <a:spcPts val="300"/>
                </a:spcBef>
                <a:spcAft>
                  <a:spcPts val="0"/>
                </a:spcAft>
                <a:buNone/>
              </a:pPr>
              <a:r>
                <a:rPr b="1" lang="en" sz="3000">
                  <a:solidFill>
                    <a:srgbClr val="7BC148"/>
                  </a:solidFill>
                  <a:latin typeface="Arial"/>
                  <a:ea typeface="Arial"/>
                  <a:cs typeface="Arial"/>
                  <a:sym typeface="Arial"/>
                </a:rPr>
                <a:t>WHERE</a:t>
              </a:r>
              <a:r>
                <a:rPr b="0" lang="en" sz="3000">
                  <a:solidFill>
                    <a:srgbClr val="1A1A1A"/>
                  </a:solidFill>
                  <a:latin typeface="Arial"/>
                  <a:ea typeface="Arial"/>
                  <a:cs typeface="Arial"/>
                  <a:sym typeface="Arial"/>
                </a:rPr>
                <a:t> num_conditions &gt; 5;</a:t>
              </a:r>
              <a:endParaRPr b="0" sz="3000">
                <a:solidFill>
                  <a:srgbClr val="1A1A1A"/>
                </a:solidFill>
                <a:latin typeface="Arial"/>
                <a:ea typeface="Arial"/>
                <a:cs typeface="Arial"/>
                <a:sym typeface="Arial"/>
              </a:endParaRPr>
            </a:p>
          </p:txBody>
        </p:sp>
      </p:grpSp>
      <p:sp>
        <p:nvSpPr>
          <p:cNvPr id="165" name="Google Shape;165;p18"/>
          <p:cNvSpPr txBox="1"/>
          <p:nvPr/>
        </p:nvSpPr>
        <p:spPr>
          <a:xfrm>
            <a:off x="1554480" y="10858500"/>
            <a:ext cx="212781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3200">
                <a:solidFill>
                  <a:srgbClr val="6B6B6B"/>
                </a:solidFill>
                <a:latin typeface="Arial"/>
                <a:ea typeface="Arial"/>
                <a:cs typeface="Arial"/>
                <a:sym typeface="Arial"/>
              </a:rPr>
              <a:t>This separation prevents errors related to filtering on aggregated values without using a HAVING clause.</a:t>
            </a:r>
            <a:endParaRPr i="1" sz="3200">
              <a:solidFill>
                <a:srgbClr val="6B6B6B"/>
              </a:solidFill>
              <a:latin typeface="Arial"/>
              <a:ea typeface="Arial"/>
              <a:cs typeface="Arial"/>
              <a:sym typeface="Arial"/>
            </a:endParaRPr>
          </a:p>
        </p:txBody>
      </p:sp>
      <p:cxnSp>
        <p:nvCxnSpPr>
          <p:cNvPr id="166" name="Google Shape;166;p18"/>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167" name="Google Shape;167;p18"/>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168" name="Google Shape;168;p18"/>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19"/>
          <p:cNvSpPr txBox="1"/>
          <p:nvPr/>
        </p:nvSpPr>
        <p:spPr>
          <a:xfrm>
            <a:off x="1554480" y="857250"/>
            <a:ext cx="21278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900"/>
              </a:spcAft>
              <a:buNone/>
            </a:pPr>
            <a:r>
              <a:rPr b="1" lang="en" sz="5920">
                <a:solidFill>
                  <a:srgbClr val="FFFFFF"/>
                </a:solidFill>
                <a:latin typeface="Arial"/>
                <a:ea typeface="Arial"/>
                <a:cs typeface="Arial"/>
                <a:sym typeface="Arial"/>
              </a:rPr>
              <a:t>Chaining Multiple CTEs Enables Sequential Logical Narratives</a:t>
            </a:r>
            <a:endParaRPr b="1" sz="5920">
              <a:solidFill>
                <a:srgbClr val="FFFFFF"/>
              </a:solidFill>
              <a:latin typeface="Arial"/>
              <a:ea typeface="Arial"/>
              <a:cs typeface="Arial"/>
              <a:sym typeface="Arial"/>
            </a:endParaRPr>
          </a:p>
        </p:txBody>
      </p:sp>
      <p:grpSp>
        <p:nvGrpSpPr>
          <p:cNvPr id="174" name="Google Shape;174;p19"/>
          <p:cNvGrpSpPr/>
          <p:nvPr/>
        </p:nvGrpSpPr>
        <p:grpSpPr>
          <a:xfrm>
            <a:off x="1554480" y="2952750"/>
            <a:ext cx="21278100" cy="1619100"/>
            <a:chOff x="0" y="0"/>
            <a:chExt cx="21278100" cy="1619100"/>
          </a:xfrm>
        </p:grpSpPr>
        <p:sp>
          <p:nvSpPr>
            <p:cNvPr id="175" name="Google Shape;175;p19"/>
            <p:cNvSpPr/>
            <p:nvPr/>
          </p:nvSpPr>
          <p:spPr>
            <a:xfrm>
              <a:off x="0" y="0"/>
              <a:ext cx="21278100" cy="1619100"/>
            </a:xfrm>
            <a:prstGeom prst="roundRect">
              <a:avLst>
                <a:gd fmla="val 941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9"/>
            <p:cNvSpPr txBox="1"/>
            <p:nvPr/>
          </p:nvSpPr>
          <p:spPr>
            <a:xfrm>
              <a:off x="381000" y="285750"/>
              <a:ext cx="205161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3330">
                  <a:solidFill>
                    <a:srgbClr val="1A1A1A"/>
                  </a:solidFill>
                  <a:latin typeface="Arial"/>
                  <a:ea typeface="Arial"/>
                  <a:cs typeface="Arial"/>
                  <a:sym typeface="Arial"/>
                </a:rPr>
                <a:t>The true power of Common Table Expressions becomes apparent when dealing with highly complex logic that requires multiple intermediate steps.</a:t>
              </a:r>
              <a:endParaRPr b="0" sz="3330">
                <a:solidFill>
                  <a:srgbClr val="1A1A1A"/>
                </a:solidFill>
                <a:latin typeface="Arial"/>
                <a:ea typeface="Arial"/>
                <a:cs typeface="Arial"/>
                <a:sym typeface="Arial"/>
              </a:endParaRPr>
            </a:p>
          </p:txBody>
        </p:sp>
      </p:grpSp>
      <p:grpSp>
        <p:nvGrpSpPr>
          <p:cNvPr id="177" name="Google Shape;177;p19"/>
          <p:cNvGrpSpPr/>
          <p:nvPr/>
        </p:nvGrpSpPr>
        <p:grpSpPr>
          <a:xfrm>
            <a:off x="1554480" y="4953000"/>
            <a:ext cx="6838800" cy="6000900"/>
            <a:chOff x="0" y="0"/>
            <a:chExt cx="6838800" cy="6000900"/>
          </a:xfrm>
        </p:grpSpPr>
        <p:sp>
          <p:nvSpPr>
            <p:cNvPr id="178" name="Google Shape;178;p19"/>
            <p:cNvSpPr/>
            <p:nvPr/>
          </p:nvSpPr>
          <p:spPr>
            <a:xfrm>
              <a:off x="0" y="0"/>
              <a:ext cx="6838800" cy="6000900"/>
            </a:xfrm>
            <a:prstGeom prst="roundRect">
              <a:avLst>
                <a:gd fmla="val 253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9"/>
            <p:cNvSpPr/>
            <p:nvPr/>
          </p:nvSpPr>
          <p:spPr>
            <a:xfrm>
              <a:off x="381000" y="381000"/>
              <a:ext cx="857400" cy="857400"/>
            </a:xfrm>
            <a:prstGeom prst="roundRect">
              <a:avLst>
                <a:gd fmla="val 8888"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txBox="1"/>
            <p:nvPr/>
          </p:nvSpPr>
          <p:spPr>
            <a:xfrm>
              <a:off x="381000" y="3810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900"/>
                </a:spcAft>
                <a:buNone/>
              </a:pPr>
              <a:r>
                <a:rPr b="1" lang="en" sz="3600">
                  <a:solidFill>
                    <a:srgbClr val="FFFFFF"/>
                  </a:solidFill>
                  <a:latin typeface="Arial"/>
                  <a:ea typeface="Arial"/>
                  <a:cs typeface="Arial"/>
                  <a:sym typeface="Arial"/>
                </a:rPr>
                <a:t>01</a:t>
              </a:r>
              <a:endParaRPr b="1" sz="3600">
                <a:solidFill>
                  <a:srgbClr val="FFFFFF"/>
                </a:solidFill>
                <a:latin typeface="Arial"/>
                <a:ea typeface="Arial"/>
                <a:cs typeface="Arial"/>
                <a:sym typeface="Arial"/>
              </a:endParaRPr>
            </a:p>
          </p:txBody>
        </p:sp>
        <p:sp>
          <p:nvSpPr>
            <p:cNvPr id="181" name="Google Shape;181;p19"/>
            <p:cNvSpPr txBox="1"/>
            <p:nvPr/>
          </p:nvSpPr>
          <p:spPr>
            <a:xfrm>
              <a:off x="381000" y="1428750"/>
              <a:ext cx="60768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000">
                  <a:solidFill>
                    <a:srgbClr val="7BC148"/>
                  </a:solidFill>
                  <a:latin typeface="Arial"/>
                  <a:ea typeface="Arial"/>
                  <a:cs typeface="Arial"/>
                  <a:sym typeface="Arial"/>
                </a:rPr>
                <a:t>The Concept of Chaining</a:t>
              </a:r>
              <a:endParaRPr b="1" sz="4000">
                <a:solidFill>
                  <a:srgbClr val="7BC148"/>
                </a:solidFill>
                <a:latin typeface="Arial"/>
                <a:ea typeface="Arial"/>
                <a:cs typeface="Arial"/>
                <a:sym typeface="Arial"/>
              </a:endParaRPr>
            </a:p>
            <a:p>
              <a:pPr indent="0" lvl="0" marL="0" rtl="0" algn="l">
                <a:spcBef>
                  <a:spcPts val="900"/>
                </a:spcBef>
                <a:spcAft>
                  <a:spcPts val="900"/>
                </a:spcAft>
                <a:buNone/>
              </a:pPr>
              <a:r>
                <a:rPr b="0" lang="en" sz="3200">
                  <a:solidFill>
                    <a:srgbClr val="1A1A1A"/>
                  </a:solidFill>
                  <a:latin typeface="Arial"/>
                  <a:ea typeface="Arial"/>
                  <a:cs typeface="Arial"/>
                  <a:sym typeface="Arial"/>
                </a:rPr>
                <a:t>You can define multiple CTEs within a single query by separating them with commas. The critical advantage is that each subsequent CTE can reference any previously defined CTE in the chain.</a:t>
              </a:r>
              <a:endParaRPr b="0" sz="3200">
                <a:solidFill>
                  <a:srgbClr val="1A1A1A"/>
                </a:solidFill>
                <a:latin typeface="Arial"/>
                <a:ea typeface="Arial"/>
                <a:cs typeface="Arial"/>
                <a:sym typeface="Arial"/>
              </a:endParaRPr>
            </a:p>
          </p:txBody>
        </p:sp>
      </p:grpSp>
      <p:grpSp>
        <p:nvGrpSpPr>
          <p:cNvPr id="182" name="Google Shape;182;p19"/>
          <p:cNvGrpSpPr/>
          <p:nvPr/>
        </p:nvGrpSpPr>
        <p:grpSpPr>
          <a:xfrm>
            <a:off x="8774144" y="4953000"/>
            <a:ext cx="6838800" cy="6000900"/>
            <a:chOff x="0" y="0"/>
            <a:chExt cx="6838800" cy="6000900"/>
          </a:xfrm>
        </p:grpSpPr>
        <p:sp>
          <p:nvSpPr>
            <p:cNvPr id="183" name="Google Shape;183;p19"/>
            <p:cNvSpPr/>
            <p:nvPr/>
          </p:nvSpPr>
          <p:spPr>
            <a:xfrm>
              <a:off x="0" y="0"/>
              <a:ext cx="6838800" cy="6000900"/>
            </a:xfrm>
            <a:prstGeom prst="roundRect">
              <a:avLst>
                <a:gd fmla="val 253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9"/>
            <p:cNvSpPr/>
            <p:nvPr/>
          </p:nvSpPr>
          <p:spPr>
            <a:xfrm>
              <a:off x="381000" y="381000"/>
              <a:ext cx="857400" cy="857400"/>
            </a:xfrm>
            <a:prstGeom prst="roundRect">
              <a:avLst>
                <a:gd fmla="val 8888"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9"/>
            <p:cNvSpPr txBox="1"/>
            <p:nvPr/>
          </p:nvSpPr>
          <p:spPr>
            <a:xfrm>
              <a:off x="381000" y="3810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900"/>
                </a:spcAft>
                <a:buNone/>
              </a:pPr>
              <a:r>
                <a:rPr b="1" lang="en" sz="3600">
                  <a:solidFill>
                    <a:srgbClr val="FFFFFF"/>
                  </a:solidFill>
                  <a:latin typeface="Arial"/>
                  <a:ea typeface="Arial"/>
                  <a:cs typeface="Arial"/>
                  <a:sym typeface="Arial"/>
                </a:rPr>
                <a:t>02</a:t>
              </a:r>
              <a:endParaRPr b="1" sz="3600">
                <a:solidFill>
                  <a:srgbClr val="FFFFFF"/>
                </a:solidFill>
                <a:latin typeface="Arial"/>
                <a:ea typeface="Arial"/>
                <a:cs typeface="Arial"/>
                <a:sym typeface="Arial"/>
              </a:endParaRPr>
            </a:p>
          </p:txBody>
        </p:sp>
        <p:sp>
          <p:nvSpPr>
            <p:cNvPr id="186" name="Google Shape;186;p19"/>
            <p:cNvSpPr txBox="1"/>
            <p:nvPr/>
          </p:nvSpPr>
          <p:spPr>
            <a:xfrm>
              <a:off x="381000" y="1428750"/>
              <a:ext cx="60768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000">
                  <a:solidFill>
                    <a:srgbClr val="7BC148"/>
                  </a:solidFill>
                  <a:latin typeface="Arial"/>
                  <a:ea typeface="Arial"/>
                  <a:cs typeface="Arial"/>
                  <a:sym typeface="Arial"/>
                </a:rPr>
                <a:t>Sequential Logic</a:t>
              </a:r>
              <a:endParaRPr b="1" sz="4000">
                <a:solidFill>
                  <a:srgbClr val="7BC148"/>
                </a:solidFill>
                <a:latin typeface="Arial"/>
                <a:ea typeface="Arial"/>
                <a:cs typeface="Arial"/>
                <a:sym typeface="Arial"/>
              </a:endParaRPr>
            </a:p>
            <a:p>
              <a:pPr indent="0" lvl="0" marL="0" rtl="0" algn="l">
                <a:spcBef>
                  <a:spcPts val="900"/>
                </a:spcBef>
                <a:spcAft>
                  <a:spcPts val="900"/>
                </a:spcAft>
                <a:buNone/>
              </a:pPr>
              <a:r>
                <a:rPr b="0" lang="en" sz="3200">
                  <a:solidFill>
                    <a:srgbClr val="1A1A1A"/>
                  </a:solidFill>
                  <a:latin typeface="Arial"/>
                  <a:ea typeface="Arial"/>
                  <a:cs typeface="Arial"/>
                  <a:sym typeface="Arial"/>
                </a:rPr>
                <a:t>This capability enables you to construct clear, step-by-step logic that reads like a narrative document rather than a complex, deeply nested block of code (often referred to as the 'pyramid of doom').</a:t>
              </a:r>
              <a:endParaRPr b="0" sz="3200">
                <a:solidFill>
                  <a:srgbClr val="1A1A1A"/>
                </a:solidFill>
                <a:latin typeface="Arial"/>
                <a:ea typeface="Arial"/>
                <a:cs typeface="Arial"/>
                <a:sym typeface="Arial"/>
              </a:endParaRPr>
            </a:p>
          </p:txBody>
        </p:sp>
      </p:grpSp>
      <p:grpSp>
        <p:nvGrpSpPr>
          <p:cNvPr id="187" name="Google Shape;187;p19"/>
          <p:cNvGrpSpPr/>
          <p:nvPr/>
        </p:nvGrpSpPr>
        <p:grpSpPr>
          <a:xfrm>
            <a:off x="15993904" y="4953000"/>
            <a:ext cx="6838800" cy="6000900"/>
            <a:chOff x="0" y="0"/>
            <a:chExt cx="6838800" cy="6000900"/>
          </a:xfrm>
        </p:grpSpPr>
        <p:sp>
          <p:nvSpPr>
            <p:cNvPr id="188" name="Google Shape;188;p19"/>
            <p:cNvSpPr/>
            <p:nvPr/>
          </p:nvSpPr>
          <p:spPr>
            <a:xfrm>
              <a:off x="0" y="0"/>
              <a:ext cx="6838800" cy="6000900"/>
            </a:xfrm>
            <a:prstGeom prst="roundRect">
              <a:avLst>
                <a:gd fmla="val 253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9"/>
            <p:cNvSpPr/>
            <p:nvPr/>
          </p:nvSpPr>
          <p:spPr>
            <a:xfrm>
              <a:off x="381000" y="381000"/>
              <a:ext cx="857400" cy="857400"/>
            </a:xfrm>
            <a:prstGeom prst="roundRect">
              <a:avLst>
                <a:gd fmla="val 8888"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9"/>
            <p:cNvSpPr txBox="1"/>
            <p:nvPr/>
          </p:nvSpPr>
          <p:spPr>
            <a:xfrm>
              <a:off x="381000" y="381000"/>
              <a:ext cx="8574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900"/>
                </a:spcAft>
                <a:buNone/>
              </a:pPr>
              <a:r>
                <a:rPr b="1" lang="en" sz="3600">
                  <a:solidFill>
                    <a:srgbClr val="FFFFFF"/>
                  </a:solidFill>
                  <a:latin typeface="Arial"/>
                  <a:ea typeface="Arial"/>
                  <a:cs typeface="Arial"/>
                  <a:sym typeface="Arial"/>
                </a:rPr>
                <a:t>03</a:t>
              </a:r>
              <a:endParaRPr b="1" sz="3600">
                <a:solidFill>
                  <a:srgbClr val="FFFFFF"/>
                </a:solidFill>
                <a:latin typeface="Arial"/>
                <a:ea typeface="Arial"/>
                <a:cs typeface="Arial"/>
                <a:sym typeface="Arial"/>
              </a:endParaRPr>
            </a:p>
          </p:txBody>
        </p:sp>
        <p:sp>
          <p:nvSpPr>
            <p:cNvPr id="191" name="Google Shape;191;p19"/>
            <p:cNvSpPr txBox="1"/>
            <p:nvPr/>
          </p:nvSpPr>
          <p:spPr>
            <a:xfrm>
              <a:off x="381000" y="1428750"/>
              <a:ext cx="60768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400">
                  <a:solidFill>
                    <a:srgbClr val="7BC148"/>
                  </a:solidFill>
                  <a:latin typeface="Arial"/>
                  <a:ea typeface="Arial"/>
                  <a:cs typeface="Arial"/>
                  <a:sym typeface="Arial"/>
                </a:rPr>
                <a:t>Simplified Debugging</a:t>
              </a:r>
              <a:endParaRPr b="1" sz="3400">
                <a:solidFill>
                  <a:srgbClr val="7BC148"/>
                </a:solidFill>
                <a:latin typeface="Arial"/>
                <a:ea typeface="Arial"/>
                <a:cs typeface="Arial"/>
                <a:sym typeface="Arial"/>
              </a:endParaRPr>
            </a:p>
            <a:p>
              <a:pPr indent="0" lvl="0" marL="0" rtl="0" algn="l">
                <a:spcBef>
                  <a:spcPts val="900"/>
                </a:spcBef>
                <a:spcAft>
                  <a:spcPts val="900"/>
                </a:spcAft>
                <a:buNone/>
              </a:pPr>
              <a:r>
                <a:rPr b="0" lang="en" sz="2720">
                  <a:solidFill>
                    <a:srgbClr val="1A1A1A"/>
                  </a:solidFill>
                  <a:latin typeface="Arial"/>
                  <a:ea typeface="Arial"/>
                  <a:cs typeface="Arial"/>
                  <a:sym typeface="Arial"/>
                </a:rPr>
                <a:t>Furthermore, chaining CTEs drastically improves the debugging process. If a complex query returns unexpected results, you can simply change the final </a:t>
              </a:r>
              <a:r>
                <a:rPr b="1" lang="en" sz="2720">
                  <a:solidFill>
                    <a:srgbClr val="1A1A1A"/>
                  </a:solidFill>
                  <a:latin typeface="Arial"/>
                  <a:ea typeface="Arial"/>
                  <a:cs typeface="Arial"/>
                  <a:sym typeface="Arial"/>
                </a:rPr>
                <a:t>SELECT</a:t>
              </a:r>
              <a:r>
                <a:rPr b="0" lang="en" sz="2720">
                  <a:solidFill>
                    <a:srgbClr val="1A1A1A"/>
                  </a:solidFill>
                  <a:latin typeface="Arial"/>
                  <a:ea typeface="Arial"/>
                  <a:cs typeface="Arial"/>
                  <a:sym typeface="Arial"/>
                </a:rPr>
                <a:t> statement to query an earlier CTE in the chain, allowing you to inspect intermediate transformations step-by-step.</a:t>
              </a:r>
              <a:endParaRPr b="0" sz="2720">
                <a:solidFill>
                  <a:srgbClr val="1A1A1A"/>
                </a:solidFill>
                <a:latin typeface="Arial"/>
                <a:ea typeface="Arial"/>
                <a:cs typeface="Arial"/>
                <a:sym typeface="Arial"/>
              </a:endParaRPr>
            </a:p>
          </p:txBody>
        </p:sp>
      </p:grpSp>
      <p:pic>
        <p:nvPicPr>
          <p:cNvPr id="192" name="Google Shape;192;p19"/>
          <p:cNvPicPr preferRelativeResize="0"/>
          <p:nvPr/>
        </p:nvPicPr>
        <p:blipFill rotWithShape="1">
          <a:blip r:embed="rId4">
            <a:alphaModFix/>
          </a:blip>
          <a:srcRect b="0" l="0" r="0" t="0"/>
          <a:stretch/>
        </p:blipFill>
        <p:spPr>
          <a:xfrm>
            <a:off x="21396960" y="11338560"/>
            <a:ext cx="1645800" cy="164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0"/>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198" name="Google Shape;198;p20"/>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9" name="Google Shape;199;p20"/>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200" name="Google Shape;200;p20"/>
          <p:cNvSpPr txBox="1"/>
          <p:nvPr/>
        </p:nvSpPr>
        <p:spPr>
          <a:xfrm>
            <a:off x="1554480" y="809625"/>
            <a:ext cx="197511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580">
                <a:solidFill>
                  <a:srgbClr val="1A1A1A"/>
                </a:solidFill>
                <a:latin typeface="Arial"/>
                <a:ea typeface="Arial"/>
                <a:cs typeface="Arial"/>
                <a:sym typeface="Arial"/>
              </a:rPr>
              <a:t>Chained CTEs Simplify Complex OMOP Concept Filtering and Joins</a:t>
            </a:r>
            <a:endParaRPr b="1" sz="5580">
              <a:solidFill>
                <a:srgbClr val="1A1A1A"/>
              </a:solidFill>
              <a:latin typeface="Arial"/>
              <a:ea typeface="Arial"/>
              <a:cs typeface="Arial"/>
              <a:sym typeface="Arial"/>
            </a:endParaRPr>
          </a:p>
        </p:txBody>
      </p:sp>
      <p:sp>
        <p:nvSpPr>
          <p:cNvPr id="201" name="Google Shape;201;p20"/>
          <p:cNvSpPr txBox="1"/>
          <p:nvPr/>
        </p:nvSpPr>
        <p:spPr>
          <a:xfrm>
            <a:off x="1554480" y="2762250"/>
            <a:ext cx="212781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3800">
                <a:solidFill>
                  <a:srgbClr val="44546A"/>
                </a:solidFill>
                <a:latin typeface="Arial"/>
                <a:ea typeface="Arial"/>
                <a:cs typeface="Arial"/>
                <a:sym typeface="Arial"/>
              </a:rPr>
              <a:t>Example Question: "What drugs are most commonly prescribed to diabetic patients?"</a:t>
            </a:r>
            <a:endParaRPr b="0" i="1" sz="3800">
              <a:solidFill>
                <a:srgbClr val="44546A"/>
              </a:solidFill>
              <a:latin typeface="Arial"/>
              <a:ea typeface="Arial"/>
              <a:cs typeface="Arial"/>
              <a:sym typeface="Arial"/>
            </a:endParaRPr>
          </a:p>
        </p:txBody>
      </p:sp>
      <p:sp>
        <p:nvSpPr>
          <p:cNvPr id="202" name="Google Shape;202;p20"/>
          <p:cNvSpPr/>
          <p:nvPr/>
        </p:nvSpPr>
        <p:spPr>
          <a:xfrm>
            <a:off x="1554480" y="3571875"/>
            <a:ext cx="21278100" cy="2238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20"/>
          <p:cNvSpPr txBox="1"/>
          <p:nvPr/>
        </p:nvSpPr>
        <p:spPr>
          <a:xfrm>
            <a:off x="1920240" y="3571875"/>
            <a:ext cx="4206300" cy="22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7BC148"/>
                </a:solidFill>
                <a:latin typeface="Arial"/>
                <a:ea typeface="Arial"/>
                <a:cs typeface="Arial"/>
                <a:sym typeface="Arial"/>
              </a:rPr>
              <a:t>Step 1: Identify</a:t>
            </a:r>
            <a:endParaRPr b="1" sz="3600">
              <a:solidFill>
                <a:srgbClr val="7BC148"/>
              </a:solidFill>
              <a:latin typeface="Arial"/>
              <a:ea typeface="Arial"/>
              <a:cs typeface="Arial"/>
              <a:sym typeface="Arial"/>
            </a:endParaRPr>
          </a:p>
          <a:p>
            <a:pPr indent="0" lvl="0" marL="0" rtl="0" algn="l">
              <a:spcBef>
                <a:spcPts val="450"/>
              </a:spcBef>
              <a:spcAft>
                <a:spcPts val="0"/>
              </a:spcAft>
              <a:buNone/>
            </a:pPr>
            <a:r>
              <a:rPr b="1" lang="en" sz="3600">
                <a:solidFill>
                  <a:srgbClr val="7BC148"/>
                </a:solidFill>
                <a:latin typeface="Arial"/>
                <a:ea typeface="Arial"/>
                <a:cs typeface="Arial"/>
                <a:sym typeface="Arial"/>
              </a:rPr>
              <a:t>the Cohort</a:t>
            </a:r>
            <a:endParaRPr b="1" sz="3600">
              <a:solidFill>
                <a:srgbClr val="7BC148"/>
              </a:solidFill>
              <a:latin typeface="Arial"/>
              <a:ea typeface="Arial"/>
              <a:cs typeface="Arial"/>
              <a:sym typeface="Arial"/>
            </a:endParaRPr>
          </a:p>
        </p:txBody>
      </p:sp>
      <p:sp>
        <p:nvSpPr>
          <p:cNvPr id="204" name="Google Shape;204;p20"/>
          <p:cNvSpPr txBox="1"/>
          <p:nvPr/>
        </p:nvSpPr>
        <p:spPr>
          <a:xfrm>
            <a:off x="6492240" y="3571875"/>
            <a:ext cx="15883200" cy="22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00">
                <a:solidFill>
                  <a:srgbClr val="1A1A1A"/>
                </a:solidFill>
                <a:latin typeface="Courier New"/>
                <a:ea typeface="Courier New"/>
                <a:cs typeface="Courier New"/>
                <a:sym typeface="Courier New"/>
              </a:rPr>
              <a:t>WITH diabetic_patients AS (</a:t>
            </a:r>
            <a:endParaRPr b="1" sz="2700">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700">
                <a:solidFill>
                  <a:srgbClr val="1A1A1A"/>
                </a:solidFill>
                <a:latin typeface="Courier New"/>
                <a:ea typeface="Courier New"/>
                <a:cs typeface="Courier New"/>
                <a:sym typeface="Courier New"/>
              </a:rPr>
              <a:t>SELECT DISTINCT person_id FROM cdm.condition_occurrence</a:t>
            </a:r>
            <a:endParaRPr b="0" sz="2700">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700">
                <a:solidFill>
                  <a:srgbClr val="1A1A1A"/>
                </a:solidFill>
                <a:latin typeface="Courier New"/>
                <a:ea typeface="Courier New"/>
                <a:cs typeface="Courier New"/>
                <a:sym typeface="Courier New"/>
              </a:rPr>
              <a:t>WHERE condition_concept_id IN ( </a:t>
            </a:r>
            <a:r>
              <a:rPr b="0" i="1" lang="en" sz="2700">
                <a:solidFill>
                  <a:srgbClr val="6B6B6B"/>
                </a:solidFill>
                <a:latin typeface="Courier New"/>
                <a:ea typeface="Courier New"/>
                <a:cs typeface="Courier New"/>
                <a:sym typeface="Courier New"/>
              </a:rPr>
              <a:t>-- descendant concept IDs for Type 2 diabetes ancestor_concept_id = 201826</a:t>
            </a:r>
            <a:r>
              <a:rPr b="0" lang="en" sz="2700">
                <a:solidFill>
                  <a:srgbClr val="1A1A1A"/>
                </a:solidFill>
                <a:latin typeface="Courier New"/>
                <a:ea typeface="Courier New"/>
                <a:cs typeface="Courier New"/>
                <a:sym typeface="Courier New"/>
              </a:rPr>
              <a:t> )</a:t>
            </a:r>
            <a:endParaRPr b="0" sz="2700">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700">
                <a:solidFill>
                  <a:srgbClr val="1A1A1A"/>
                </a:solidFill>
                <a:latin typeface="Courier New"/>
                <a:ea typeface="Courier New"/>
                <a:cs typeface="Courier New"/>
                <a:sym typeface="Courier New"/>
              </a:rPr>
              <a:t>),</a:t>
            </a:r>
            <a:endParaRPr b="0" sz="2700">
              <a:solidFill>
                <a:srgbClr val="1A1A1A"/>
              </a:solidFill>
              <a:latin typeface="Courier New"/>
              <a:ea typeface="Courier New"/>
              <a:cs typeface="Courier New"/>
              <a:sym typeface="Courier New"/>
            </a:endParaRPr>
          </a:p>
        </p:txBody>
      </p:sp>
      <p:sp>
        <p:nvSpPr>
          <p:cNvPr id="205" name="Google Shape;205;p20"/>
          <p:cNvSpPr/>
          <p:nvPr/>
        </p:nvSpPr>
        <p:spPr>
          <a:xfrm>
            <a:off x="1554480" y="5962650"/>
            <a:ext cx="21278100" cy="2428800"/>
          </a:xfrm>
          <a:prstGeom prst="rect">
            <a:avLst/>
          </a:prstGeom>
          <a:solidFill>
            <a:srgbClr val="F4F9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0"/>
          <p:cNvSpPr txBox="1"/>
          <p:nvPr/>
        </p:nvSpPr>
        <p:spPr>
          <a:xfrm>
            <a:off x="1920240" y="5962650"/>
            <a:ext cx="4206300" cy="24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7BC148"/>
                </a:solidFill>
                <a:latin typeface="Arial"/>
                <a:ea typeface="Arial"/>
                <a:cs typeface="Arial"/>
                <a:sym typeface="Arial"/>
              </a:rPr>
              <a:t>Step 2: Isolate</a:t>
            </a:r>
            <a:endParaRPr b="1" sz="3600">
              <a:solidFill>
                <a:srgbClr val="7BC148"/>
              </a:solidFill>
              <a:latin typeface="Arial"/>
              <a:ea typeface="Arial"/>
              <a:cs typeface="Arial"/>
              <a:sym typeface="Arial"/>
            </a:endParaRPr>
          </a:p>
          <a:p>
            <a:pPr indent="0" lvl="0" marL="0" rtl="0" algn="l">
              <a:spcBef>
                <a:spcPts val="450"/>
              </a:spcBef>
              <a:spcAft>
                <a:spcPts val="0"/>
              </a:spcAft>
              <a:buNone/>
            </a:pPr>
            <a:r>
              <a:rPr b="1" lang="en" sz="3600">
                <a:solidFill>
                  <a:srgbClr val="7BC148"/>
                </a:solidFill>
                <a:latin typeface="Arial"/>
                <a:ea typeface="Arial"/>
                <a:cs typeface="Arial"/>
                <a:sym typeface="Arial"/>
              </a:rPr>
              <a:t>Drug Exposures</a:t>
            </a:r>
            <a:endParaRPr b="1" sz="3600">
              <a:solidFill>
                <a:srgbClr val="7BC148"/>
              </a:solidFill>
              <a:latin typeface="Arial"/>
              <a:ea typeface="Arial"/>
              <a:cs typeface="Arial"/>
              <a:sym typeface="Arial"/>
            </a:endParaRPr>
          </a:p>
        </p:txBody>
      </p:sp>
      <p:sp>
        <p:nvSpPr>
          <p:cNvPr id="207" name="Google Shape;207;p20"/>
          <p:cNvSpPr txBox="1"/>
          <p:nvPr/>
        </p:nvSpPr>
        <p:spPr>
          <a:xfrm>
            <a:off x="6492240" y="5962650"/>
            <a:ext cx="15883200" cy="242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95">
                <a:solidFill>
                  <a:srgbClr val="1A1A1A"/>
                </a:solidFill>
                <a:latin typeface="Courier New"/>
                <a:ea typeface="Courier New"/>
                <a:cs typeface="Courier New"/>
                <a:sym typeface="Courier New"/>
              </a:rPr>
              <a:t>diabetic_drugs AS (</a:t>
            </a:r>
            <a:endParaRPr b="1" sz="2295">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295">
                <a:solidFill>
                  <a:srgbClr val="1A1A1A"/>
                </a:solidFill>
                <a:latin typeface="Courier New"/>
                <a:ea typeface="Courier New"/>
                <a:cs typeface="Courier New"/>
                <a:sym typeface="Courier New"/>
              </a:rPr>
              <a:t>SELECT dp.person_id, c.concept_name AS drug_name</a:t>
            </a:r>
            <a:endParaRPr b="0" sz="2295">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295">
                <a:solidFill>
                  <a:srgbClr val="1A1A1A"/>
                </a:solidFill>
                <a:latin typeface="Courier New"/>
                <a:ea typeface="Courier New"/>
                <a:cs typeface="Courier New"/>
                <a:sym typeface="Courier New"/>
              </a:rPr>
              <a:t>FROM diabetic_patients dp</a:t>
            </a:r>
            <a:endParaRPr b="0" sz="2295">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295">
                <a:solidFill>
                  <a:srgbClr val="1A1A1A"/>
                </a:solidFill>
                <a:latin typeface="Courier New"/>
                <a:ea typeface="Courier New"/>
                <a:cs typeface="Courier New"/>
                <a:sym typeface="Courier New"/>
              </a:rPr>
              <a:t>JOIN cdm.drug_exposure de ON dp.person_id = de.person_id</a:t>
            </a:r>
            <a:endParaRPr b="0" sz="2295">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295">
                <a:solidFill>
                  <a:srgbClr val="1A1A1A"/>
                </a:solidFill>
                <a:latin typeface="Courier New"/>
                <a:ea typeface="Courier New"/>
                <a:cs typeface="Courier New"/>
                <a:sym typeface="Courier New"/>
              </a:rPr>
              <a:t>JOIN cdm.concept c ON de.drug_concept_id = c.concept_id</a:t>
            </a:r>
            <a:endParaRPr b="0" sz="2295">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295">
                <a:solidFill>
                  <a:srgbClr val="1A1A1A"/>
                </a:solidFill>
                <a:latin typeface="Courier New"/>
                <a:ea typeface="Courier New"/>
                <a:cs typeface="Courier New"/>
                <a:sym typeface="Courier New"/>
              </a:rPr>
              <a:t>),</a:t>
            </a:r>
            <a:endParaRPr b="0" sz="2295">
              <a:solidFill>
                <a:srgbClr val="1A1A1A"/>
              </a:solidFill>
              <a:latin typeface="Courier New"/>
              <a:ea typeface="Courier New"/>
              <a:cs typeface="Courier New"/>
              <a:sym typeface="Courier New"/>
            </a:endParaRPr>
          </a:p>
        </p:txBody>
      </p:sp>
      <p:sp>
        <p:nvSpPr>
          <p:cNvPr id="208" name="Google Shape;208;p20"/>
          <p:cNvSpPr/>
          <p:nvPr/>
        </p:nvSpPr>
        <p:spPr>
          <a:xfrm>
            <a:off x="1554480" y="8543925"/>
            <a:ext cx="21278100" cy="2238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0"/>
          <p:cNvSpPr txBox="1"/>
          <p:nvPr/>
        </p:nvSpPr>
        <p:spPr>
          <a:xfrm>
            <a:off x="1920240" y="8543925"/>
            <a:ext cx="4206300" cy="22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7BC148"/>
                </a:solidFill>
                <a:latin typeface="Arial"/>
                <a:ea typeface="Arial"/>
                <a:cs typeface="Arial"/>
                <a:sym typeface="Arial"/>
              </a:rPr>
              <a:t>Step 3: Aggregate</a:t>
            </a:r>
            <a:endParaRPr b="1" sz="3600">
              <a:solidFill>
                <a:srgbClr val="7BC148"/>
              </a:solidFill>
              <a:latin typeface="Arial"/>
              <a:ea typeface="Arial"/>
              <a:cs typeface="Arial"/>
              <a:sym typeface="Arial"/>
            </a:endParaRPr>
          </a:p>
          <a:p>
            <a:pPr indent="0" lvl="0" marL="0" rtl="0" algn="l">
              <a:spcBef>
                <a:spcPts val="450"/>
              </a:spcBef>
              <a:spcAft>
                <a:spcPts val="0"/>
              </a:spcAft>
              <a:buNone/>
            </a:pPr>
            <a:r>
              <a:rPr b="1" lang="en" sz="3600">
                <a:solidFill>
                  <a:srgbClr val="7BC148"/>
                </a:solidFill>
                <a:latin typeface="Arial"/>
                <a:ea typeface="Arial"/>
                <a:cs typeface="Arial"/>
                <a:sym typeface="Arial"/>
              </a:rPr>
              <a:t>&amp; Rank</a:t>
            </a:r>
            <a:endParaRPr b="1" sz="3600">
              <a:solidFill>
                <a:srgbClr val="7BC148"/>
              </a:solidFill>
              <a:latin typeface="Arial"/>
              <a:ea typeface="Arial"/>
              <a:cs typeface="Arial"/>
              <a:sym typeface="Arial"/>
            </a:endParaRPr>
          </a:p>
        </p:txBody>
      </p:sp>
      <p:sp>
        <p:nvSpPr>
          <p:cNvPr id="210" name="Google Shape;210;p20"/>
          <p:cNvSpPr txBox="1"/>
          <p:nvPr/>
        </p:nvSpPr>
        <p:spPr>
          <a:xfrm>
            <a:off x="6492240" y="8543925"/>
            <a:ext cx="15883200" cy="22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00">
                <a:solidFill>
                  <a:srgbClr val="1A1A1A"/>
                </a:solidFill>
                <a:latin typeface="Courier New"/>
                <a:ea typeface="Courier New"/>
                <a:cs typeface="Courier New"/>
                <a:sym typeface="Courier New"/>
              </a:rPr>
              <a:t>SELECT drug_name, COUNT(DISTINCT person_id) AS patient_count</a:t>
            </a:r>
            <a:endParaRPr b="1" sz="2700">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700">
                <a:solidFill>
                  <a:srgbClr val="1A1A1A"/>
                </a:solidFill>
                <a:latin typeface="Courier New"/>
                <a:ea typeface="Courier New"/>
                <a:cs typeface="Courier New"/>
                <a:sym typeface="Courier New"/>
              </a:rPr>
              <a:t>FROM diabetic_drugs</a:t>
            </a:r>
            <a:endParaRPr b="0" sz="2700">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700">
                <a:solidFill>
                  <a:srgbClr val="1A1A1A"/>
                </a:solidFill>
                <a:latin typeface="Courier New"/>
                <a:ea typeface="Courier New"/>
                <a:cs typeface="Courier New"/>
                <a:sym typeface="Courier New"/>
              </a:rPr>
              <a:t>GROUP BY drug_name</a:t>
            </a:r>
            <a:endParaRPr b="0" sz="2700">
              <a:solidFill>
                <a:srgbClr val="1A1A1A"/>
              </a:solidFill>
              <a:latin typeface="Courier New"/>
              <a:ea typeface="Courier New"/>
              <a:cs typeface="Courier New"/>
              <a:sym typeface="Courier New"/>
            </a:endParaRPr>
          </a:p>
          <a:p>
            <a:pPr indent="0" lvl="0" marL="0" rtl="0" algn="l">
              <a:spcBef>
                <a:spcPts val="300"/>
              </a:spcBef>
              <a:spcAft>
                <a:spcPts val="0"/>
              </a:spcAft>
              <a:buNone/>
            </a:pPr>
            <a:r>
              <a:rPr b="0" lang="en" sz="2700">
                <a:solidFill>
                  <a:srgbClr val="1A1A1A"/>
                </a:solidFill>
                <a:latin typeface="Courier New"/>
                <a:ea typeface="Courier New"/>
                <a:cs typeface="Courier New"/>
                <a:sym typeface="Courier New"/>
              </a:rPr>
              <a:t>ORDER BY patient_count DESC LIMIT 10;</a:t>
            </a:r>
            <a:endParaRPr b="0" sz="2700">
              <a:solidFill>
                <a:srgbClr val="1A1A1A"/>
              </a:solidFill>
              <a:latin typeface="Courier New"/>
              <a:ea typeface="Courier New"/>
              <a:cs typeface="Courier New"/>
              <a:sym typeface="Courier New"/>
            </a:endParaRPr>
          </a:p>
        </p:txBody>
      </p:sp>
      <p:sp>
        <p:nvSpPr>
          <p:cNvPr id="211" name="Google Shape;211;p20"/>
          <p:cNvSpPr txBox="1"/>
          <p:nvPr/>
        </p:nvSpPr>
        <p:spPr>
          <a:xfrm>
            <a:off x="1554480" y="10953750"/>
            <a:ext cx="212781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3200">
                <a:solidFill>
                  <a:srgbClr val="6B6B6B"/>
                </a:solidFill>
                <a:latin typeface="Arial"/>
                <a:ea typeface="Arial"/>
                <a:cs typeface="Arial"/>
                <a:sym typeface="Arial"/>
              </a:rPr>
              <a:t>This approach cleanly separates cohort definition from event extraction and final aggregation.</a:t>
            </a:r>
            <a:endParaRPr b="0" i="1" sz="3200">
              <a:solidFill>
                <a:srgbClr val="6B6B6B"/>
              </a:solidFill>
              <a:latin typeface="Arial"/>
              <a:ea typeface="Arial"/>
              <a:cs typeface="Arial"/>
              <a:sym typeface="Arial"/>
            </a:endParaRPr>
          </a:p>
        </p:txBody>
      </p:sp>
      <p:cxnSp>
        <p:nvCxnSpPr>
          <p:cNvPr id="212" name="Google Shape;212;p20"/>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213" name="Google Shape;213;p20"/>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214" name="Google Shape;214;p20"/>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21"/>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20" name="Google Shape;220;p21"/>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221" name="Google Shape;221;p21"/>
          <p:cNvSpPr txBox="1"/>
          <p:nvPr/>
        </p:nvSpPr>
        <p:spPr>
          <a:xfrm>
            <a:off x="1554480" y="868680"/>
            <a:ext cx="197511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1" lang="en" sz="7030">
                <a:solidFill>
                  <a:srgbClr val="1A1A1A"/>
                </a:solidFill>
                <a:latin typeface="Arial"/>
                <a:ea typeface="Arial"/>
                <a:cs typeface="Arial"/>
                <a:sym typeface="Arial"/>
              </a:rPr>
              <a:t>Strict Syntax Rules Govern the Use of Multiple CTEs</a:t>
            </a:r>
            <a:endParaRPr b="1" sz="7030">
              <a:solidFill>
                <a:srgbClr val="1A1A1A"/>
              </a:solidFill>
              <a:latin typeface="Arial"/>
              <a:ea typeface="Arial"/>
              <a:cs typeface="Arial"/>
              <a:sym typeface="Arial"/>
            </a:endParaRPr>
          </a:p>
        </p:txBody>
      </p:sp>
      <p:grpSp>
        <p:nvGrpSpPr>
          <p:cNvPr id="222" name="Google Shape;222;p21"/>
          <p:cNvGrpSpPr/>
          <p:nvPr/>
        </p:nvGrpSpPr>
        <p:grpSpPr>
          <a:xfrm>
            <a:off x="1554480" y="3429000"/>
            <a:ext cx="10287000" cy="8706000"/>
            <a:chOff x="0" y="0"/>
            <a:chExt cx="10287000" cy="8706000"/>
          </a:xfrm>
        </p:grpSpPr>
        <p:sp>
          <p:nvSpPr>
            <p:cNvPr id="223" name="Google Shape;223;p21"/>
            <p:cNvSpPr/>
            <p:nvPr/>
          </p:nvSpPr>
          <p:spPr>
            <a:xfrm>
              <a:off x="0" y="0"/>
              <a:ext cx="10287000" cy="8001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1"/>
            <p:cNvSpPr txBox="1"/>
            <p:nvPr/>
          </p:nvSpPr>
          <p:spPr>
            <a:xfrm>
              <a:off x="190500" y="0"/>
              <a:ext cx="99060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1" lang="en" sz="4000">
                  <a:solidFill>
                    <a:srgbClr val="FFFFFF"/>
                  </a:solidFill>
                  <a:latin typeface="Arial"/>
                  <a:ea typeface="Arial"/>
                  <a:cs typeface="Arial"/>
                  <a:sym typeface="Arial"/>
                </a:rPr>
                <a:t>STRICT SYNTAX RULES</a:t>
              </a:r>
              <a:endParaRPr b="1" sz="4000">
                <a:solidFill>
                  <a:srgbClr val="FFFFFF"/>
                </a:solidFill>
                <a:latin typeface="Arial"/>
                <a:ea typeface="Arial"/>
                <a:cs typeface="Arial"/>
                <a:sym typeface="Arial"/>
              </a:endParaRPr>
            </a:p>
          </p:txBody>
        </p:sp>
        <p:sp>
          <p:nvSpPr>
            <p:cNvPr id="225" name="Google Shape;225;p21"/>
            <p:cNvSpPr/>
            <p:nvPr/>
          </p:nvSpPr>
          <p:spPr>
            <a:xfrm>
              <a:off x="0" y="800100"/>
              <a:ext cx="10287000" cy="7905900"/>
            </a:xfrm>
            <a:prstGeom prst="rect">
              <a:avLst/>
            </a:prstGeom>
            <a:solidFill>
              <a:srgbClr val="F4F9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6" name="Google Shape;226;p21"/>
            <p:cNvGrpSpPr/>
            <p:nvPr/>
          </p:nvGrpSpPr>
          <p:grpSpPr>
            <a:xfrm>
              <a:off x="285750" y="1085850"/>
              <a:ext cx="9715500" cy="1428900"/>
              <a:chOff x="0" y="0"/>
              <a:chExt cx="9715500" cy="1428900"/>
            </a:xfrm>
          </p:grpSpPr>
          <p:sp>
            <p:nvSpPr>
              <p:cNvPr id="227" name="Google Shape;227;p21"/>
              <p:cNvSpPr/>
              <p:nvPr/>
            </p:nvSpPr>
            <p:spPr>
              <a:xfrm>
                <a:off x="0" y="0"/>
                <a:ext cx="609600" cy="6096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1</a:t>
                </a:r>
                <a:endParaRPr b="1" sz="4000">
                  <a:solidFill>
                    <a:srgbClr val="FFFFFF"/>
                  </a:solidFill>
                  <a:latin typeface="Arial"/>
                  <a:ea typeface="Arial"/>
                  <a:cs typeface="Arial"/>
                  <a:sym typeface="Arial"/>
                </a:endParaRPr>
              </a:p>
            </p:txBody>
          </p:sp>
          <p:sp>
            <p:nvSpPr>
              <p:cNvPr id="229" name="Google Shape;229;p21"/>
              <p:cNvSpPr txBox="1"/>
              <p:nvPr/>
            </p:nvSpPr>
            <p:spPr>
              <a:xfrm>
                <a:off x="800100" y="0"/>
                <a:ext cx="8915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520">
                    <a:solidFill>
                      <a:srgbClr val="7BC148"/>
                    </a:solidFill>
                    <a:latin typeface="Arial"/>
                    <a:ea typeface="Arial"/>
                    <a:cs typeface="Arial"/>
                    <a:sym typeface="Arial"/>
                  </a:rPr>
                  <a:t>Comma Separation</a:t>
                </a:r>
                <a:endParaRPr b="1" sz="2520">
                  <a:solidFill>
                    <a:srgbClr val="7BC148"/>
                  </a:solidFill>
                  <a:latin typeface="Arial"/>
                  <a:ea typeface="Arial"/>
                  <a:cs typeface="Arial"/>
                  <a:sym typeface="Arial"/>
                </a:endParaRPr>
              </a:p>
              <a:p>
                <a:pPr indent="0" lvl="0" marL="0" rtl="0" algn="l">
                  <a:spcBef>
                    <a:spcPts val="600"/>
                  </a:spcBef>
                  <a:spcAft>
                    <a:spcPts val="600"/>
                  </a:spcAft>
                  <a:buNone/>
                </a:pPr>
                <a:r>
                  <a:rPr b="0" lang="en" sz="2240">
                    <a:solidFill>
                      <a:srgbClr val="1A1A1A"/>
                    </a:solidFill>
                    <a:latin typeface="Arial"/>
                    <a:ea typeface="Arial"/>
                    <a:cs typeface="Arial"/>
                    <a:sym typeface="Arial"/>
                  </a:rPr>
                  <a:t>Commas must separate CTE definitions. However, there must be </a:t>
                </a:r>
                <a:r>
                  <a:rPr b="1" lang="en" sz="2240">
                    <a:solidFill>
                      <a:srgbClr val="1A1A1A"/>
                    </a:solidFill>
                    <a:latin typeface="Arial"/>
                    <a:ea typeface="Arial"/>
                    <a:cs typeface="Arial"/>
                    <a:sym typeface="Arial"/>
                  </a:rPr>
                  <a:t>NO comma</a:t>
                </a:r>
                <a:r>
                  <a:rPr b="0" lang="en" sz="2240">
                    <a:solidFill>
                      <a:srgbClr val="1A1A1A"/>
                    </a:solidFill>
                    <a:latin typeface="Arial"/>
                    <a:ea typeface="Arial"/>
                    <a:cs typeface="Arial"/>
                    <a:sym typeface="Arial"/>
                  </a:rPr>
                  <a:t> after the final CTE right before the main SELECT statement.</a:t>
                </a:r>
                <a:endParaRPr b="0" sz="2240">
                  <a:solidFill>
                    <a:srgbClr val="1A1A1A"/>
                  </a:solidFill>
                  <a:latin typeface="Arial"/>
                  <a:ea typeface="Arial"/>
                  <a:cs typeface="Arial"/>
                  <a:sym typeface="Arial"/>
                </a:endParaRPr>
              </a:p>
            </p:txBody>
          </p:sp>
        </p:grpSp>
        <p:grpSp>
          <p:nvGrpSpPr>
            <p:cNvPr id="230" name="Google Shape;230;p21"/>
            <p:cNvGrpSpPr/>
            <p:nvPr/>
          </p:nvGrpSpPr>
          <p:grpSpPr>
            <a:xfrm>
              <a:off x="285750" y="2857500"/>
              <a:ext cx="9715500" cy="1428900"/>
              <a:chOff x="0" y="0"/>
              <a:chExt cx="9715500" cy="1428900"/>
            </a:xfrm>
          </p:grpSpPr>
          <p:sp>
            <p:nvSpPr>
              <p:cNvPr id="231" name="Google Shape;231;p21"/>
              <p:cNvSpPr/>
              <p:nvPr/>
            </p:nvSpPr>
            <p:spPr>
              <a:xfrm>
                <a:off x="0" y="0"/>
                <a:ext cx="609600" cy="6096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2</a:t>
                </a:r>
                <a:endParaRPr b="1" sz="4000">
                  <a:solidFill>
                    <a:srgbClr val="FFFFFF"/>
                  </a:solidFill>
                  <a:latin typeface="Arial"/>
                  <a:ea typeface="Arial"/>
                  <a:cs typeface="Arial"/>
                  <a:sym typeface="Arial"/>
                </a:endParaRPr>
              </a:p>
            </p:txBody>
          </p:sp>
          <p:sp>
            <p:nvSpPr>
              <p:cNvPr id="233" name="Google Shape;233;p21"/>
              <p:cNvSpPr txBox="1"/>
              <p:nvPr/>
            </p:nvSpPr>
            <p:spPr>
              <a:xfrm>
                <a:off x="800100" y="0"/>
                <a:ext cx="8915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520">
                    <a:solidFill>
                      <a:srgbClr val="7BC148"/>
                    </a:solidFill>
                    <a:latin typeface="Arial"/>
                    <a:ea typeface="Arial"/>
                    <a:cs typeface="Arial"/>
                    <a:sym typeface="Arial"/>
                  </a:rPr>
                  <a:t>Single WITH Keyword</a:t>
                </a:r>
                <a:endParaRPr b="1" sz="2520">
                  <a:solidFill>
                    <a:srgbClr val="7BC148"/>
                  </a:solidFill>
                  <a:latin typeface="Arial"/>
                  <a:ea typeface="Arial"/>
                  <a:cs typeface="Arial"/>
                  <a:sym typeface="Arial"/>
                </a:endParaRPr>
              </a:p>
              <a:p>
                <a:pPr indent="0" lvl="0" marL="0" rtl="0" algn="l">
                  <a:spcBef>
                    <a:spcPts val="600"/>
                  </a:spcBef>
                  <a:spcAft>
                    <a:spcPts val="600"/>
                  </a:spcAft>
                  <a:buNone/>
                </a:pPr>
                <a:r>
                  <a:rPr b="0" lang="en" sz="2240">
                    <a:solidFill>
                      <a:srgbClr val="1A1A1A"/>
                    </a:solidFill>
                    <a:latin typeface="Arial"/>
                    <a:ea typeface="Arial"/>
                    <a:cs typeface="Arial"/>
                    <a:sym typeface="Arial"/>
                  </a:rPr>
                  <a:t>Use only </a:t>
                </a:r>
                <a:r>
                  <a:rPr b="1" lang="en" sz="2240">
                    <a:solidFill>
                      <a:srgbClr val="1A1A1A"/>
                    </a:solidFill>
                    <a:latin typeface="Arial"/>
                    <a:ea typeface="Arial"/>
                    <a:cs typeface="Arial"/>
                    <a:sym typeface="Arial"/>
                  </a:rPr>
                  <a:t>ONE WITH keyword</a:t>
                </a:r>
                <a:r>
                  <a:rPr b="0" lang="en" sz="2240">
                    <a:solidFill>
                      <a:srgbClr val="1A1A1A"/>
                    </a:solidFill>
                    <a:latin typeface="Arial"/>
                    <a:ea typeface="Arial"/>
                    <a:cs typeface="Arial"/>
                    <a:sym typeface="Arial"/>
                  </a:rPr>
                  <a:t> at the very beginning of the query block. Do not repeat WITH for subsequent CTEs in the chain.</a:t>
                </a:r>
                <a:endParaRPr b="0" sz="2240">
                  <a:solidFill>
                    <a:srgbClr val="1A1A1A"/>
                  </a:solidFill>
                  <a:latin typeface="Arial"/>
                  <a:ea typeface="Arial"/>
                  <a:cs typeface="Arial"/>
                  <a:sym typeface="Arial"/>
                </a:endParaRPr>
              </a:p>
            </p:txBody>
          </p:sp>
        </p:grpSp>
        <p:grpSp>
          <p:nvGrpSpPr>
            <p:cNvPr id="234" name="Google Shape;234;p21"/>
            <p:cNvGrpSpPr/>
            <p:nvPr/>
          </p:nvGrpSpPr>
          <p:grpSpPr>
            <a:xfrm>
              <a:off x="285750" y="4629150"/>
              <a:ext cx="9715500" cy="1428900"/>
              <a:chOff x="0" y="0"/>
              <a:chExt cx="9715500" cy="1428900"/>
            </a:xfrm>
          </p:grpSpPr>
          <p:sp>
            <p:nvSpPr>
              <p:cNvPr id="235" name="Google Shape;235;p21"/>
              <p:cNvSpPr/>
              <p:nvPr/>
            </p:nvSpPr>
            <p:spPr>
              <a:xfrm>
                <a:off x="0" y="0"/>
                <a:ext cx="609600" cy="6096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3</a:t>
                </a:r>
                <a:endParaRPr b="1" sz="4000">
                  <a:solidFill>
                    <a:srgbClr val="FFFFFF"/>
                  </a:solidFill>
                  <a:latin typeface="Arial"/>
                  <a:ea typeface="Arial"/>
                  <a:cs typeface="Arial"/>
                  <a:sym typeface="Arial"/>
                </a:endParaRPr>
              </a:p>
            </p:txBody>
          </p:sp>
          <p:sp>
            <p:nvSpPr>
              <p:cNvPr id="237" name="Google Shape;237;p21"/>
              <p:cNvSpPr txBox="1"/>
              <p:nvPr/>
            </p:nvSpPr>
            <p:spPr>
              <a:xfrm>
                <a:off x="800100" y="0"/>
                <a:ext cx="8915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60">
                    <a:solidFill>
                      <a:srgbClr val="7BC148"/>
                    </a:solidFill>
                    <a:latin typeface="Arial"/>
                    <a:ea typeface="Arial"/>
                    <a:cs typeface="Arial"/>
                    <a:sym typeface="Arial"/>
                  </a:rPr>
                  <a:t>Sequential Referencing</a:t>
                </a:r>
                <a:endParaRPr b="1" sz="3060">
                  <a:solidFill>
                    <a:srgbClr val="7BC148"/>
                  </a:solidFill>
                  <a:latin typeface="Arial"/>
                  <a:ea typeface="Arial"/>
                  <a:cs typeface="Arial"/>
                  <a:sym typeface="Arial"/>
                </a:endParaRPr>
              </a:p>
              <a:p>
                <a:pPr indent="0" lvl="0" marL="0" rtl="0" algn="l">
                  <a:spcBef>
                    <a:spcPts val="600"/>
                  </a:spcBef>
                  <a:spcAft>
                    <a:spcPts val="600"/>
                  </a:spcAft>
                  <a:buNone/>
                </a:pPr>
                <a:r>
                  <a:rPr b="0" lang="en" sz="2720">
                    <a:solidFill>
                      <a:srgbClr val="1A1A1A"/>
                    </a:solidFill>
                    <a:latin typeface="Arial"/>
                    <a:ea typeface="Arial"/>
                    <a:cs typeface="Arial"/>
                    <a:sym typeface="Arial"/>
                  </a:rPr>
                  <a:t>A CTE can reference any CTE defined before it in the query sequence (e.g., step_two can reference step_one).</a:t>
                </a:r>
                <a:endParaRPr b="0" sz="2720">
                  <a:solidFill>
                    <a:srgbClr val="1A1A1A"/>
                  </a:solidFill>
                  <a:latin typeface="Arial"/>
                  <a:ea typeface="Arial"/>
                  <a:cs typeface="Arial"/>
                  <a:sym typeface="Arial"/>
                </a:endParaRPr>
              </a:p>
            </p:txBody>
          </p:sp>
        </p:grpSp>
        <p:grpSp>
          <p:nvGrpSpPr>
            <p:cNvPr id="238" name="Google Shape;238;p21"/>
            <p:cNvGrpSpPr/>
            <p:nvPr/>
          </p:nvGrpSpPr>
          <p:grpSpPr>
            <a:xfrm>
              <a:off x="285750" y="6400800"/>
              <a:ext cx="9715500" cy="1714500"/>
              <a:chOff x="0" y="0"/>
              <a:chExt cx="9715500" cy="1714500"/>
            </a:xfrm>
          </p:grpSpPr>
          <p:sp>
            <p:nvSpPr>
              <p:cNvPr id="239" name="Google Shape;239;p21"/>
              <p:cNvSpPr/>
              <p:nvPr/>
            </p:nvSpPr>
            <p:spPr>
              <a:xfrm>
                <a:off x="0" y="0"/>
                <a:ext cx="609600" cy="6096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4</a:t>
                </a:r>
                <a:endParaRPr b="1" sz="4000">
                  <a:solidFill>
                    <a:srgbClr val="FFFFFF"/>
                  </a:solidFill>
                  <a:latin typeface="Arial"/>
                  <a:ea typeface="Arial"/>
                  <a:cs typeface="Arial"/>
                  <a:sym typeface="Arial"/>
                </a:endParaRPr>
              </a:p>
            </p:txBody>
          </p:sp>
          <p:sp>
            <p:nvSpPr>
              <p:cNvPr id="241" name="Google Shape;241;p21"/>
              <p:cNvSpPr txBox="1"/>
              <p:nvPr/>
            </p:nvSpPr>
            <p:spPr>
              <a:xfrm>
                <a:off x="800100" y="0"/>
                <a:ext cx="8915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90">
                    <a:solidFill>
                      <a:srgbClr val="7BC148"/>
                    </a:solidFill>
                    <a:latin typeface="Arial"/>
                    <a:ea typeface="Arial"/>
                    <a:cs typeface="Arial"/>
                    <a:sym typeface="Arial"/>
                  </a:rPr>
                  <a:t>No Self-Referencing</a:t>
                </a:r>
                <a:endParaRPr b="1" sz="2790">
                  <a:solidFill>
                    <a:srgbClr val="7BC148"/>
                  </a:solidFill>
                  <a:latin typeface="Arial"/>
                  <a:ea typeface="Arial"/>
                  <a:cs typeface="Arial"/>
                  <a:sym typeface="Arial"/>
                </a:endParaRPr>
              </a:p>
              <a:p>
                <a:pPr indent="0" lvl="0" marL="0" rtl="0" algn="l">
                  <a:spcBef>
                    <a:spcPts val="600"/>
                  </a:spcBef>
                  <a:spcAft>
                    <a:spcPts val="600"/>
                  </a:spcAft>
                  <a:buNone/>
                </a:pPr>
                <a:r>
                  <a:rPr b="0" lang="en" sz="2480">
                    <a:solidFill>
                      <a:srgbClr val="1A1A1A"/>
                    </a:solidFill>
                    <a:latin typeface="Arial"/>
                    <a:ea typeface="Arial"/>
                    <a:cs typeface="Arial"/>
                    <a:sym typeface="Arial"/>
                  </a:rPr>
                  <a:t>A standard CTE cannot reference itself. (Recursive CTEs are an advanced exception requiring WITH RECURSIVE syntax).</a:t>
                </a:r>
                <a:endParaRPr b="0" sz="2480">
                  <a:solidFill>
                    <a:srgbClr val="1A1A1A"/>
                  </a:solidFill>
                  <a:latin typeface="Arial"/>
                  <a:ea typeface="Arial"/>
                  <a:cs typeface="Arial"/>
                  <a:sym typeface="Arial"/>
                </a:endParaRPr>
              </a:p>
            </p:txBody>
          </p:sp>
        </p:grpSp>
      </p:grpSp>
      <p:grpSp>
        <p:nvGrpSpPr>
          <p:cNvPr id="242" name="Google Shape;242;p21"/>
          <p:cNvGrpSpPr/>
          <p:nvPr/>
        </p:nvGrpSpPr>
        <p:grpSpPr>
          <a:xfrm>
            <a:off x="12545568" y="3429000"/>
            <a:ext cx="10287000" cy="8706000"/>
            <a:chOff x="0" y="0"/>
            <a:chExt cx="10287000" cy="8706000"/>
          </a:xfrm>
        </p:grpSpPr>
        <p:sp>
          <p:nvSpPr>
            <p:cNvPr id="243" name="Google Shape;243;p21"/>
            <p:cNvSpPr/>
            <p:nvPr/>
          </p:nvSpPr>
          <p:spPr>
            <a:xfrm>
              <a:off x="0" y="0"/>
              <a:ext cx="10287000" cy="8001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1"/>
            <p:cNvSpPr txBox="1"/>
            <p:nvPr/>
          </p:nvSpPr>
          <p:spPr>
            <a:xfrm>
              <a:off x="190500" y="0"/>
              <a:ext cx="99060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1" lang="en" sz="4000">
                  <a:solidFill>
                    <a:srgbClr val="FFFFFF"/>
                  </a:solidFill>
                  <a:latin typeface="Arial"/>
                  <a:ea typeface="Arial"/>
                  <a:cs typeface="Arial"/>
                  <a:sym typeface="Arial"/>
                </a:rPr>
                <a:t>COMMON ERROR PITFALLS</a:t>
              </a:r>
              <a:endParaRPr b="1" sz="4000">
                <a:solidFill>
                  <a:srgbClr val="FFFFFF"/>
                </a:solidFill>
                <a:latin typeface="Arial"/>
                <a:ea typeface="Arial"/>
                <a:cs typeface="Arial"/>
                <a:sym typeface="Arial"/>
              </a:endParaRPr>
            </a:p>
          </p:txBody>
        </p:sp>
        <p:sp>
          <p:nvSpPr>
            <p:cNvPr id="245" name="Google Shape;245;p21"/>
            <p:cNvSpPr/>
            <p:nvPr/>
          </p:nvSpPr>
          <p:spPr>
            <a:xfrm>
              <a:off x="0" y="800100"/>
              <a:ext cx="10287000" cy="7905900"/>
            </a:xfrm>
            <a:prstGeom prst="rect">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6" name="Google Shape;246;p21"/>
            <p:cNvGrpSpPr/>
            <p:nvPr/>
          </p:nvGrpSpPr>
          <p:grpSpPr>
            <a:xfrm>
              <a:off x="285750" y="1085850"/>
              <a:ext cx="9715500" cy="1428900"/>
              <a:chOff x="0" y="0"/>
              <a:chExt cx="9715500" cy="1428900"/>
            </a:xfrm>
          </p:grpSpPr>
          <p:sp>
            <p:nvSpPr>
              <p:cNvPr id="247" name="Google Shape;247;p21"/>
              <p:cNvSpPr/>
              <p:nvPr/>
            </p:nvSpPr>
            <p:spPr>
              <a:xfrm>
                <a:off x="0" y="0"/>
                <a:ext cx="609600" cy="6096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a:t>
                </a:r>
                <a:endParaRPr b="1" sz="4000">
                  <a:solidFill>
                    <a:srgbClr val="FFFFFF"/>
                  </a:solidFill>
                  <a:latin typeface="Arial"/>
                  <a:ea typeface="Arial"/>
                  <a:cs typeface="Arial"/>
                  <a:sym typeface="Arial"/>
                </a:endParaRPr>
              </a:p>
            </p:txBody>
          </p:sp>
          <p:sp>
            <p:nvSpPr>
              <p:cNvPr id="249" name="Google Shape;249;p21"/>
              <p:cNvSpPr txBox="1"/>
              <p:nvPr/>
            </p:nvSpPr>
            <p:spPr>
              <a:xfrm>
                <a:off x="800100" y="0"/>
                <a:ext cx="8915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90">
                    <a:solidFill>
                      <a:srgbClr val="44546A"/>
                    </a:solidFill>
                    <a:latin typeface="Arial"/>
                    <a:ea typeface="Arial"/>
                    <a:cs typeface="Arial"/>
                    <a:sym typeface="Arial"/>
                  </a:rPr>
                  <a:t>Misplaced / Trailing Commas</a:t>
                </a:r>
                <a:endParaRPr b="1" sz="2790">
                  <a:solidFill>
                    <a:srgbClr val="44546A"/>
                  </a:solidFill>
                  <a:latin typeface="Arial"/>
                  <a:ea typeface="Arial"/>
                  <a:cs typeface="Arial"/>
                  <a:sym typeface="Arial"/>
                </a:endParaRPr>
              </a:p>
              <a:p>
                <a:pPr indent="0" lvl="0" marL="0" rtl="0" algn="l">
                  <a:spcBef>
                    <a:spcPts val="600"/>
                  </a:spcBef>
                  <a:spcAft>
                    <a:spcPts val="600"/>
                  </a:spcAft>
                  <a:buNone/>
                </a:pPr>
                <a:r>
                  <a:rPr b="0" lang="en" sz="2480">
                    <a:solidFill>
                      <a:srgbClr val="1A1A1A"/>
                    </a:solidFill>
                    <a:latin typeface="Arial"/>
                    <a:ea typeface="Arial"/>
                    <a:cs typeface="Arial"/>
                    <a:sym typeface="Arial"/>
                  </a:rPr>
                  <a:t>Adding a comma after the final CTE block right before SELECT triggers an immediate SQL syntax compilation error.</a:t>
                </a:r>
                <a:endParaRPr b="0" sz="2480">
                  <a:solidFill>
                    <a:srgbClr val="1A1A1A"/>
                  </a:solidFill>
                  <a:latin typeface="Arial"/>
                  <a:ea typeface="Arial"/>
                  <a:cs typeface="Arial"/>
                  <a:sym typeface="Arial"/>
                </a:endParaRPr>
              </a:p>
            </p:txBody>
          </p:sp>
        </p:grpSp>
        <p:grpSp>
          <p:nvGrpSpPr>
            <p:cNvPr id="250" name="Google Shape;250;p21"/>
            <p:cNvGrpSpPr/>
            <p:nvPr/>
          </p:nvGrpSpPr>
          <p:grpSpPr>
            <a:xfrm>
              <a:off x="285750" y="2857500"/>
              <a:ext cx="9715500" cy="1428900"/>
              <a:chOff x="0" y="0"/>
              <a:chExt cx="9715500" cy="1428900"/>
            </a:xfrm>
          </p:grpSpPr>
          <p:sp>
            <p:nvSpPr>
              <p:cNvPr id="251" name="Google Shape;251;p21"/>
              <p:cNvSpPr/>
              <p:nvPr/>
            </p:nvSpPr>
            <p:spPr>
              <a:xfrm>
                <a:off x="0" y="0"/>
                <a:ext cx="609600" cy="6096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a:t>
                </a:r>
                <a:endParaRPr b="1" sz="4000">
                  <a:solidFill>
                    <a:srgbClr val="FFFFFF"/>
                  </a:solidFill>
                  <a:latin typeface="Arial"/>
                  <a:ea typeface="Arial"/>
                  <a:cs typeface="Arial"/>
                  <a:sym typeface="Arial"/>
                </a:endParaRPr>
              </a:p>
            </p:txBody>
          </p:sp>
          <p:sp>
            <p:nvSpPr>
              <p:cNvPr id="253" name="Google Shape;253;p21"/>
              <p:cNvSpPr txBox="1"/>
              <p:nvPr/>
            </p:nvSpPr>
            <p:spPr>
              <a:xfrm>
                <a:off x="800100" y="0"/>
                <a:ext cx="8915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60">
                    <a:solidFill>
                      <a:srgbClr val="44546A"/>
                    </a:solidFill>
                    <a:latin typeface="Arial"/>
                    <a:ea typeface="Arial"/>
                    <a:cs typeface="Arial"/>
                    <a:sym typeface="Arial"/>
                  </a:rPr>
                  <a:t>Repeated WITH Keywords</a:t>
                </a:r>
                <a:endParaRPr b="1" sz="3060">
                  <a:solidFill>
                    <a:srgbClr val="44546A"/>
                  </a:solidFill>
                  <a:latin typeface="Arial"/>
                  <a:ea typeface="Arial"/>
                  <a:cs typeface="Arial"/>
                  <a:sym typeface="Arial"/>
                </a:endParaRPr>
              </a:p>
              <a:p>
                <a:pPr indent="0" lvl="0" marL="0" rtl="0" algn="l">
                  <a:spcBef>
                    <a:spcPts val="600"/>
                  </a:spcBef>
                  <a:spcAft>
                    <a:spcPts val="600"/>
                  </a:spcAft>
                  <a:buNone/>
                </a:pPr>
                <a:r>
                  <a:rPr b="0" lang="en" sz="2720">
                    <a:solidFill>
                      <a:srgbClr val="1A1A1A"/>
                    </a:solidFill>
                    <a:latin typeface="Arial"/>
                    <a:ea typeface="Arial"/>
                    <a:cs typeface="Arial"/>
                    <a:sym typeface="Arial"/>
                  </a:rPr>
                  <a:t>Writing WITH cte_a AS (...), WITH cte_b AS (...) is invalid. Omit WITH on all subsequent CTE definitions.</a:t>
                </a:r>
                <a:endParaRPr b="0" sz="2720">
                  <a:solidFill>
                    <a:srgbClr val="1A1A1A"/>
                  </a:solidFill>
                  <a:latin typeface="Arial"/>
                  <a:ea typeface="Arial"/>
                  <a:cs typeface="Arial"/>
                  <a:sym typeface="Arial"/>
                </a:endParaRPr>
              </a:p>
            </p:txBody>
          </p:sp>
        </p:grpSp>
        <p:grpSp>
          <p:nvGrpSpPr>
            <p:cNvPr id="254" name="Google Shape;254;p21"/>
            <p:cNvGrpSpPr/>
            <p:nvPr/>
          </p:nvGrpSpPr>
          <p:grpSpPr>
            <a:xfrm>
              <a:off x="285750" y="4629150"/>
              <a:ext cx="9715500" cy="1428900"/>
              <a:chOff x="0" y="0"/>
              <a:chExt cx="9715500" cy="1428900"/>
            </a:xfrm>
          </p:grpSpPr>
          <p:sp>
            <p:nvSpPr>
              <p:cNvPr id="255" name="Google Shape;255;p21"/>
              <p:cNvSpPr/>
              <p:nvPr/>
            </p:nvSpPr>
            <p:spPr>
              <a:xfrm>
                <a:off x="0" y="0"/>
                <a:ext cx="609600" cy="6096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a:t>
                </a:r>
                <a:endParaRPr b="1" sz="4000">
                  <a:solidFill>
                    <a:srgbClr val="FFFFFF"/>
                  </a:solidFill>
                  <a:latin typeface="Arial"/>
                  <a:ea typeface="Arial"/>
                  <a:cs typeface="Arial"/>
                  <a:sym typeface="Arial"/>
                </a:endParaRPr>
              </a:p>
            </p:txBody>
          </p:sp>
          <p:sp>
            <p:nvSpPr>
              <p:cNvPr id="257" name="Google Shape;257;p21"/>
              <p:cNvSpPr txBox="1"/>
              <p:nvPr/>
            </p:nvSpPr>
            <p:spPr>
              <a:xfrm>
                <a:off x="800100" y="0"/>
                <a:ext cx="8915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90">
                    <a:solidFill>
                      <a:srgbClr val="44546A"/>
                    </a:solidFill>
                    <a:latin typeface="Arial"/>
                    <a:ea typeface="Arial"/>
                    <a:cs typeface="Arial"/>
                    <a:sym typeface="Arial"/>
                  </a:rPr>
                  <a:t>Forward Referencing Errors</a:t>
                </a:r>
                <a:endParaRPr b="1" sz="2790">
                  <a:solidFill>
                    <a:srgbClr val="44546A"/>
                  </a:solidFill>
                  <a:latin typeface="Arial"/>
                  <a:ea typeface="Arial"/>
                  <a:cs typeface="Arial"/>
                  <a:sym typeface="Arial"/>
                </a:endParaRPr>
              </a:p>
              <a:p>
                <a:pPr indent="0" lvl="0" marL="0" rtl="0" algn="l">
                  <a:spcBef>
                    <a:spcPts val="600"/>
                  </a:spcBef>
                  <a:spcAft>
                    <a:spcPts val="600"/>
                  </a:spcAft>
                  <a:buNone/>
                </a:pPr>
                <a:r>
                  <a:rPr b="0" lang="en" sz="2480">
                    <a:solidFill>
                      <a:srgbClr val="1A1A1A"/>
                    </a:solidFill>
                    <a:latin typeface="Arial"/>
                    <a:ea typeface="Arial"/>
                    <a:cs typeface="Arial"/>
                    <a:sym typeface="Arial"/>
                  </a:rPr>
                  <a:t>Attempting to reference step_two inside step_one fails because CTEs are parsed in strict top-to-bottom sequence.</a:t>
                </a:r>
                <a:endParaRPr b="0" sz="2480">
                  <a:solidFill>
                    <a:srgbClr val="1A1A1A"/>
                  </a:solidFill>
                  <a:latin typeface="Arial"/>
                  <a:ea typeface="Arial"/>
                  <a:cs typeface="Arial"/>
                  <a:sym typeface="Arial"/>
                </a:endParaRPr>
              </a:p>
            </p:txBody>
          </p:sp>
        </p:grpSp>
        <p:grpSp>
          <p:nvGrpSpPr>
            <p:cNvPr id="258" name="Google Shape;258;p21"/>
            <p:cNvGrpSpPr/>
            <p:nvPr/>
          </p:nvGrpSpPr>
          <p:grpSpPr>
            <a:xfrm>
              <a:off x="285750" y="6400800"/>
              <a:ext cx="9715500" cy="1714500"/>
              <a:chOff x="0" y="0"/>
              <a:chExt cx="9715500" cy="1714500"/>
            </a:xfrm>
          </p:grpSpPr>
          <p:sp>
            <p:nvSpPr>
              <p:cNvPr id="259" name="Google Shape;259;p21"/>
              <p:cNvSpPr/>
              <p:nvPr/>
            </p:nvSpPr>
            <p:spPr>
              <a:xfrm>
                <a:off x="0" y="0"/>
                <a:ext cx="609600" cy="6096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1"/>
              <p:cNvSpPr txBox="1"/>
              <p:nvPr/>
            </p:nvSpPr>
            <p:spPr>
              <a:xfrm>
                <a:off x="0" y="0"/>
                <a:ext cx="609600" cy="6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600"/>
                  </a:spcAft>
                  <a:buNone/>
                </a:pPr>
                <a:r>
                  <a:rPr b="1" lang="en" sz="4000">
                    <a:solidFill>
                      <a:srgbClr val="FFFFFF"/>
                    </a:solidFill>
                    <a:latin typeface="Arial"/>
                    <a:ea typeface="Arial"/>
                    <a:cs typeface="Arial"/>
                    <a:sym typeface="Arial"/>
                  </a:rPr>
                  <a:t>!</a:t>
                </a:r>
                <a:endParaRPr b="1" sz="4000">
                  <a:solidFill>
                    <a:srgbClr val="FFFFFF"/>
                  </a:solidFill>
                  <a:latin typeface="Arial"/>
                  <a:ea typeface="Arial"/>
                  <a:cs typeface="Arial"/>
                  <a:sym typeface="Arial"/>
                </a:endParaRPr>
              </a:p>
            </p:txBody>
          </p:sp>
          <p:sp>
            <p:nvSpPr>
              <p:cNvPr id="261" name="Google Shape;261;p21"/>
              <p:cNvSpPr txBox="1"/>
              <p:nvPr/>
            </p:nvSpPr>
            <p:spPr>
              <a:xfrm>
                <a:off x="800100" y="0"/>
                <a:ext cx="8915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060">
                    <a:solidFill>
                      <a:srgbClr val="44546A"/>
                    </a:solidFill>
                    <a:latin typeface="Arial"/>
                    <a:ea typeface="Arial"/>
                    <a:cs typeface="Arial"/>
                    <a:sym typeface="Arial"/>
                  </a:rPr>
                  <a:t>Self-Referencing Without RECURSIVE</a:t>
                </a:r>
                <a:endParaRPr b="1" sz="3060">
                  <a:solidFill>
                    <a:srgbClr val="44546A"/>
                  </a:solidFill>
                  <a:latin typeface="Arial"/>
                  <a:ea typeface="Arial"/>
                  <a:cs typeface="Arial"/>
                  <a:sym typeface="Arial"/>
                </a:endParaRPr>
              </a:p>
              <a:p>
                <a:pPr indent="0" lvl="0" marL="0" rtl="0" algn="l">
                  <a:spcBef>
                    <a:spcPts val="600"/>
                  </a:spcBef>
                  <a:spcAft>
                    <a:spcPts val="600"/>
                  </a:spcAft>
                  <a:buNone/>
                </a:pPr>
                <a:r>
                  <a:rPr b="0" lang="en" sz="2720">
                    <a:solidFill>
                      <a:srgbClr val="1A1A1A"/>
                    </a:solidFill>
                    <a:latin typeface="Arial"/>
                    <a:ea typeface="Arial"/>
                    <a:cs typeface="Arial"/>
                    <a:sym typeface="Arial"/>
                  </a:rPr>
                  <a:t>Calling step_one within step_one itself results in a missing relation error unless WITH RECURSIVE is declared.</a:t>
                </a:r>
                <a:endParaRPr b="0" sz="2720">
                  <a:solidFill>
                    <a:srgbClr val="1A1A1A"/>
                  </a:solidFill>
                  <a:latin typeface="Arial"/>
                  <a:ea typeface="Arial"/>
                  <a:cs typeface="Arial"/>
                  <a:sym typeface="Arial"/>
                </a:endParaRPr>
              </a:p>
            </p:txBody>
          </p:sp>
        </p:grpSp>
      </p:grpSp>
      <p:cxnSp>
        <p:nvCxnSpPr>
          <p:cNvPr id="262" name="Google Shape;262;p21"/>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263" name="Google Shape;263;p21"/>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60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264" name="Google Shape;264;p21"/>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2"/>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270" name="Google Shape;270;p22"/>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1" name="Google Shape;271;p22"/>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272" name="Google Shape;272;p22"/>
          <p:cNvSpPr txBox="1"/>
          <p:nvPr/>
        </p:nvSpPr>
        <p:spPr>
          <a:xfrm>
            <a:off x="1554480" y="714375"/>
            <a:ext cx="197511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340">
                <a:solidFill>
                  <a:srgbClr val="1A1A1A"/>
                </a:solidFill>
                <a:latin typeface="Arial"/>
                <a:ea typeface="Arial"/>
                <a:cs typeface="Arial"/>
                <a:sym typeface="Arial"/>
              </a:rPr>
              <a:t>Choose CTEs Over Subqueries for Multi-Step Logic and Complex Joins</a:t>
            </a:r>
            <a:endParaRPr b="1" sz="4340">
              <a:solidFill>
                <a:srgbClr val="1A1A1A"/>
              </a:solidFill>
              <a:latin typeface="Arial"/>
              <a:ea typeface="Arial"/>
              <a:cs typeface="Arial"/>
              <a:sym typeface="Arial"/>
            </a:endParaRPr>
          </a:p>
        </p:txBody>
      </p:sp>
      <p:grpSp>
        <p:nvGrpSpPr>
          <p:cNvPr id="273" name="Google Shape;273;p22"/>
          <p:cNvGrpSpPr/>
          <p:nvPr/>
        </p:nvGrpSpPr>
        <p:grpSpPr>
          <a:xfrm>
            <a:off x="1554480" y="2190750"/>
            <a:ext cx="21278100" cy="1238400"/>
            <a:chOff x="0" y="0"/>
            <a:chExt cx="21278100" cy="1238400"/>
          </a:xfrm>
        </p:grpSpPr>
        <p:sp>
          <p:nvSpPr>
            <p:cNvPr id="274" name="Google Shape;274;p22"/>
            <p:cNvSpPr/>
            <p:nvPr/>
          </p:nvSpPr>
          <p:spPr>
            <a:xfrm>
              <a:off x="0" y="0"/>
              <a:ext cx="21278100" cy="1238400"/>
            </a:xfrm>
            <a:prstGeom prst="roundRect">
              <a:avLst>
                <a:gd fmla="val 6153"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2"/>
            <p:cNvSpPr txBox="1"/>
            <p:nvPr/>
          </p:nvSpPr>
          <p:spPr>
            <a:xfrm>
              <a:off x="285750" y="0"/>
              <a:ext cx="207066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FFFFFF"/>
                  </a:solidFill>
                  <a:latin typeface="Arial"/>
                  <a:ea typeface="Arial"/>
                  <a:cs typeface="Arial"/>
                  <a:sym typeface="Arial"/>
                </a:rPr>
                <a:t>Under the hood, modern SQL query optimizers treat CTEs and subqueries as identical operations; there is generally no performance difference between the two. The choice is entirely about code readability and maintainability.</a:t>
              </a:r>
              <a:endParaRPr b="0" sz="2600">
                <a:solidFill>
                  <a:srgbClr val="FFFFFF"/>
                </a:solidFill>
                <a:latin typeface="Arial"/>
                <a:ea typeface="Arial"/>
                <a:cs typeface="Arial"/>
                <a:sym typeface="Arial"/>
              </a:endParaRPr>
            </a:p>
          </p:txBody>
        </p:sp>
      </p:grpSp>
      <p:grpSp>
        <p:nvGrpSpPr>
          <p:cNvPr id="276" name="Google Shape;276;p22"/>
          <p:cNvGrpSpPr/>
          <p:nvPr/>
        </p:nvGrpSpPr>
        <p:grpSpPr>
          <a:xfrm>
            <a:off x="1554480" y="3714750"/>
            <a:ext cx="10334700" cy="4191000"/>
            <a:chOff x="0" y="0"/>
            <a:chExt cx="10334700" cy="4191000"/>
          </a:xfrm>
        </p:grpSpPr>
        <p:sp>
          <p:nvSpPr>
            <p:cNvPr id="277" name="Google Shape;277;p22"/>
            <p:cNvSpPr/>
            <p:nvPr/>
          </p:nvSpPr>
          <p:spPr>
            <a:xfrm>
              <a:off x="0" y="0"/>
              <a:ext cx="10334700" cy="4191000"/>
            </a:xfrm>
            <a:prstGeom prst="roundRect">
              <a:avLst>
                <a:gd fmla="val 2272" name="adj"/>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2"/>
            <p:cNvSpPr txBox="1"/>
            <p:nvPr/>
          </p:nvSpPr>
          <p:spPr>
            <a:xfrm>
              <a:off x="333375" y="285750"/>
              <a:ext cx="96678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90">
                  <a:solidFill>
                    <a:srgbClr val="44546A"/>
                  </a:solidFill>
                  <a:latin typeface="Arial"/>
                  <a:ea typeface="Arial"/>
                  <a:cs typeface="Arial"/>
                  <a:sym typeface="Arial"/>
                </a:rPr>
                <a:t>When to Use a Subquery:</a:t>
              </a:r>
              <a:endParaRPr b="1" sz="2890">
                <a:solidFill>
                  <a:srgbClr val="44546A"/>
                </a:solidFill>
                <a:latin typeface="Arial"/>
                <a:ea typeface="Arial"/>
                <a:cs typeface="Arial"/>
                <a:sym typeface="Arial"/>
              </a:endParaRPr>
            </a:p>
          </p:txBody>
        </p:sp>
        <p:sp>
          <p:nvSpPr>
            <p:cNvPr id="279" name="Google Shape;279;p22"/>
            <p:cNvSpPr txBox="1"/>
            <p:nvPr/>
          </p:nvSpPr>
          <p:spPr>
            <a:xfrm>
              <a:off x="333375" y="904875"/>
              <a:ext cx="96678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1A1A1A"/>
                  </a:solidFill>
                  <a:latin typeface="Arial"/>
                  <a:ea typeface="Arial"/>
                  <a:cs typeface="Arial"/>
                  <a:sym typeface="Arial"/>
                </a:rPr>
                <a:t>Subqueries are appropriate when the logic is simple, short, and single-level.</a:t>
              </a:r>
              <a:endParaRPr b="0" sz="2600">
                <a:solidFill>
                  <a:srgbClr val="1A1A1A"/>
                </a:solidFill>
                <a:latin typeface="Arial"/>
                <a:ea typeface="Arial"/>
                <a:cs typeface="Arial"/>
                <a:sym typeface="Arial"/>
              </a:endParaRPr>
            </a:p>
          </p:txBody>
        </p:sp>
        <p:sp>
          <p:nvSpPr>
            <p:cNvPr id="280" name="Google Shape;280;p22"/>
            <p:cNvSpPr/>
            <p:nvPr/>
          </p:nvSpPr>
          <p:spPr>
            <a:xfrm>
              <a:off x="333375" y="2143125"/>
              <a:ext cx="9667800" cy="1714500"/>
            </a:xfrm>
            <a:prstGeom prst="roundRect">
              <a:avLst>
                <a:gd fmla="val 3333"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2"/>
            <p:cNvSpPr txBox="1"/>
            <p:nvPr/>
          </p:nvSpPr>
          <p:spPr>
            <a:xfrm>
              <a:off x="523875" y="2286000"/>
              <a:ext cx="92868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7BC148"/>
                  </a:solidFill>
                  <a:latin typeface="Arial"/>
                  <a:ea typeface="Arial"/>
                  <a:cs typeface="Arial"/>
                  <a:sym typeface="Arial"/>
                </a:rPr>
                <a:t>Example:</a:t>
              </a:r>
              <a:endParaRPr b="1" sz="2200">
                <a:solidFill>
                  <a:srgbClr val="7BC148"/>
                </a:solidFill>
                <a:latin typeface="Arial"/>
                <a:ea typeface="Arial"/>
                <a:cs typeface="Arial"/>
                <a:sym typeface="Arial"/>
              </a:endParaRPr>
            </a:p>
            <a:p>
              <a:pPr indent="0" lvl="0" marL="0" rtl="0" algn="l">
                <a:spcBef>
                  <a:spcPts val="600"/>
                </a:spcBef>
                <a:spcAft>
                  <a:spcPts val="0"/>
                </a:spcAft>
                <a:buNone/>
              </a:pPr>
              <a:r>
                <a:rPr b="0" lang="en" sz="2000">
                  <a:solidFill>
                    <a:srgbClr val="FFFFFF"/>
                  </a:solidFill>
                  <a:latin typeface="Arial"/>
                  <a:ea typeface="Arial"/>
                  <a:cs typeface="Arial"/>
                  <a:sym typeface="Arial"/>
                </a:rPr>
                <a:t>SELECT AVG(cnt) FROM (SELECT COUNT(*) AS cnt FROM cdm.drug_exposure GROUP BY person_id) drug_counts;</a:t>
              </a:r>
              <a:endParaRPr b="0" sz="2000">
                <a:solidFill>
                  <a:srgbClr val="FFFFFF"/>
                </a:solidFill>
                <a:latin typeface="Arial"/>
                <a:ea typeface="Arial"/>
                <a:cs typeface="Arial"/>
                <a:sym typeface="Arial"/>
              </a:endParaRPr>
            </a:p>
          </p:txBody>
        </p:sp>
      </p:grpSp>
      <p:grpSp>
        <p:nvGrpSpPr>
          <p:cNvPr id="282" name="Google Shape;282;p22"/>
          <p:cNvGrpSpPr/>
          <p:nvPr/>
        </p:nvGrpSpPr>
        <p:grpSpPr>
          <a:xfrm>
            <a:off x="12496800" y="3714750"/>
            <a:ext cx="10334700" cy="4191000"/>
            <a:chOff x="0" y="0"/>
            <a:chExt cx="10334700" cy="4191000"/>
          </a:xfrm>
        </p:grpSpPr>
        <p:sp>
          <p:nvSpPr>
            <p:cNvPr id="283" name="Google Shape;283;p22"/>
            <p:cNvSpPr/>
            <p:nvPr/>
          </p:nvSpPr>
          <p:spPr>
            <a:xfrm>
              <a:off x="0" y="0"/>
              <a:ext cx="10334700" cy="4191000"/>
            </a:xfrm>
            <a:prstGeom prst="roundRect">
              <a:avLst>
                <a:gd fmla="val 2272" name="adj"/>
              </a:avLst>
            </a:prstGeom>
            <a:solidFill>
              <a:srgbClr val="FFFFFF"/>
            </a:solidFill>
            <a:ln cap="flat" cmpd="sng" w="19050">
              <a:solidFill>
                <a:srgbClr val="7BC14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2"/>
            <p:cNvSpPr txBox="1"/>
            <p:nvPr/>
          </p:nvSpPr>
          <p:spPr>
            <a:xfrm>
              <a:off x="333375" y="285750"/>
              <a:ext cx="96678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90">
                  <a:solidFill>
                    <a:srgbClr val="7BC148"/>
                  </a:solidFill>
                  <a:latin typeface="Arial"/>
                  <a:ea typeface="Arial"/>
                  <a:cs typeface="Arial"/>
                  <a:sym typeface="Arial"/>
                </a:rPr>
                <a:t>When to Use a CTE:</a:t>
              </a:r>
              <a:endParaRPr b="1" sz="2890">
                <a:solidFill>
                  <a:srgbClr val="7BC148"/>
                </a:solidFill>
                <a:latin typeface="Arial"/>
                <a:ea typeface="Arial"/>
                <a:cs typeface="Arial"/>
                <a:sym typeface="Arial"/>
              </a:endParaRPr>
            </a:p>
          </p:txBody>
        </p:sp>
        <p:sp>
          <p:nvSpPr>
            <p:cNvPr id="285" name="Google Shape;285;p22"/>
            <p:cNvSpPr txBox="1"/>
            <p:nvPr/>
          </p:nvSpPr>
          <p:spPr>
            <a:xfrm>
              <a:off x="333375" y="904875"/>
              <a:ext cx="96678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1A1A1A"/>
                  </a:solidFill>
                  <a:latin typeface="Arial"/>
                  <a:ea typeface="Arial"/>
                  <a:cs typeface="Arial"/>
                  <a:sym typeface="Arial"/>
                </a:rPr>
                <a:t>CTEs should be utilized when your analysis requires multiple logical steps, complex joins across multiple domain tables, or when the same intermediate result needs to be referenced more than once in the main query.</a:t>
              </a:r>
              <a:endParaRPr b="0" sz="2600">
                <a:solidFill>
                  <a:srgbClr val="1A1A1A"/>
                </a:solidFill>
                <a:latin typeface="Arial"/>
                <a:ea typeface="Arial"/>
                <a:cs typeface="Arial"/>
                <a:sym typeface="Arial"/>
              </a:endParaRPr>
            </a:p>
          </p:txBody>
        </p:sp>
      </p:grpSp>
      <p:grpSp>
        <p:nvGrpSpPr>
          <p:cNvPr id="286" name="Google Shape;286;p22"/>
          <p:cNvGrpSpPr/>
          <p:nvPr/>
        </p:nvGrpSpPr>
        <p:grpSpPr>
          <a:xfrm>
            <a:off x="1554480" y="8191500"/>
            <a:ext cx="21278100" cy="3905400"/>
            <a:chOff x="0" y="0"/>
            <a:chExt cx="21278100" cy="3905400"/>
          </a:xfrm>
        </p:grpSpPr>
        <p:sp>
          <p:nvSpPr>
            <p:cNvPr id="287" name="Google Shape;287;p22"/>
            <p:cNvSpPr/>
            <p:nvPr/>
          </p:nvSpPr>
          <p:spPr>
            <a:xfrm>
              <a:off x="0" y="0"/>
              <a:ext cx="21278100" cy="3905400"/>
            </a:xfrm>
            <a:prstGeom prst="roundRect">
              <a:avLst>
                <a:gd fmla="val 2926" name="adj"/>
              </a:avLst>
            </a:prstGeom>
            <a:solidFill>
              <a:srgbClr val="F4F9EE"/>
            </a:solidFill>
            <a:ln cap="flat" cmpd="sng" w="28575">
              <a:solidFill>
                <a:srgbClr val="7BC14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2"/>
            <p:cNvSpPr/>
            <p:nvPr/>
          </p:nvSpPr>
          <p:spPr>
            <a:xfrm>
              <a:off x="0" y="0"/>
              <a:ext cx="190500" cy="3905400"/>
            </a:xfrm>
            <a:prstGeom prst="roundRect">
              <a:avLst>
                <a:gd fmla="val 20000"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22"/>
            <p:cNvSpPr txBox="1"/>
            <p:nvPr/>
          </p:nvSpPr>
          <p:spPr>
            <a:xfrm>
              <a:off x="571500" y="428625"/>
              <a:ext cx="20097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400">
                  <a:solidFill>
                    <a:srgbClr val="7BC148"/>
                  </a:solidFill>
                  <a:latin typeface="Arial"/>
                  <a:ea typeface="Arial"/>
                  <a:cs typeface="Arial"/>
                  <a:sym typeface="Arial"/>
                </a:rPr>
                <a:t>The Golden Rule of Thumb:</a:t>
              </a:r>
              <a:endParaRPr b="1" sz="3400">
                <a:solidFill>
                  <a:srgbClr val="7BC148"/>
                </a:solidFill>
                <a:latin typeface="Arial"/>
                <a:ea typeface="Arial"/>
                <a:cs typeface="Arial"/>
                <a:sym typeface="Arial"/>
              </a:endParaRPr>
            </a:p>
          </p:txBody>
        </p:sp>
        <p:sp>
          <p:nvSpPr>
            <p:cNvPr id="290" name="Google Shape;290;p22"/>
            <p:cNvSpPr txBox="1"/>
            <p:nvPr/>
          </p:nvSpPr>
          <p:spPr>
            <a:xfrm>
              <a:off x="571500" y="1190625"/>
              <a:ext cx="20097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000">
                  <a:solidFill>
                    <a:srgbClr val="1A1A1A"/>
                  </a:solidFill>
                  <a:latin typeface="Arial"/>
                  <a:ea typeface="Arial"/>
                  <a:cs typeface="Arial"/>
                  <a:sym typeface="Arial"/>
                </a:rPr>
                <a:t>If you find yourself nesting more than one subquery (a subquery inside a subquery), it is time to refactor your code into Common Table Expressions.</a:t>
              </a:r>
              <a:endParaRPr b="0" sz="3000">
                <a:solidFill>
                  <a:srgbClr val="1A1A1A"/>
                </a:solidFill>
                <a:latin typeface="Arial"/>
                <a:ea typeface="Arial"/>
                <a:cs typeface="Arial"/>
                <a:sym typeface="Arial"/>
              </a:endParaRPr>
            </a:p>
          </p:txBody>
        </p:sp>
      </p:grpSp>
      <p:cxnSp>
        <p:nvCxnSpPr>
          <p:cNvPr id="291" name="Google Shape;291;p22"/>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292" name="Google Shape;292;p22"/>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293" name="Google Shape;293;p22"/>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23"/>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299" name="Google Shape;299;p23"/>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00" name="Google Shape;300;p23"/>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301" name="Google Shape;301;p23"/>
          <p:cNvSpPr txBox="1"/>
          <p:nvPr/>
        </p:nvSpPr>
        <p:spPr>
          <a:xfrm>
            <a:off x="1554480" y="762000"/>
            <a:ext cx="197511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000">
                <a:solidFill>
                  <a:srgbClr val="1A1A1A"/>
                </a:solidFill>
                <a:latin typeface="Arial"/>
                <a:ea typeface="Arial"/>
                <a:cs typeface="Arial"/>
                <a:sym typeface="Arial"/>
              </a:rPr>
              <a:t>CTEs Isolate Domain-Specific Data Before Joining</a:t>
            </a:r>
            <a:endParaRPr b="1" sz="6000">
              <a:solidFill>
                <a:srgbClr val="1A1A1A"/>
              </a:solidFill>
              <a:latin typeface="Arial"/>
              <a:ea typeface="Arial"/>
              <a:cs typeface="Arial"/>
              <a:sym typeface="Arial"/>
            </a:endParaRPr>
          </a:p>
        </p:txBody>
      </p:sp>
      <p:sp>
        <p:nvSpPr>
          <p:cNvPr id="302" name="Google Shape;302;p23"/>
          <p:cNvSpPr txBox="1"/>
          <p:nvPr/>
        </p:nvSpPr>
        <p:spPr>
          <a:xfrm>
            <a:off x="1554480" y="2095500"/>
            <a:ext cx="212781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35">
                <a:solidFill>
                  <a:srgbClr val="7BC148"/>
                </a:solidFill>
                <a:latin typeface="Arial"/>
                <a:ea typeface="Arial"/>
                <a:cs typeface="Arial"/>
                <a:sym typeface="Arial"/>
              </a:rPr>
              <a:t>Scenario:</a:t>
            </a:r>
            <a:r>
              <a:rPr b="0" lang="en" sz="2635">
                <a:solidFill>
                  <a:srgbClr val="44546A"/>
                </a:solidFill>
                <a:latin typeface="Arial"/>
                <a:ea typeface="Arial"/>
                <a:cs typeface="Arial"/>
                <a:sym typeface="Arial"/>
              </a:rPr>
              <a:t> "Who had a diagnosis and a lab test on the same date?" — Isolate &amp; standardize data from two OMOP domains before joining.</a:t>
            </a:r>
            <a:endParaRPr b="0" sz="2635">
              <a:solidFill>
                <a:srgbClr val="44546A"/>
              </a:solidFill>
              <a:latin typeface="Arial"/>
              <a:ea typeface="Arial"/>
              <a:cs typeface="Arial"/>
              <a:sym typeface="Arial"/>
            </a:endParaRPr>
          </a:p>
        </p:txBody>
      </p:sp>
      <p:sp>
        <p:nvSpPr>
          <p:cNvPr id="303" name="Google Shape;303;p23"/>
          <p:cNvSpPr/>
          <p:nvPr/>
        </p:nvSpPr>
        <p:spPr>
          <a:xfrm>
            <a:off x="1554480" y="3048000"/>
            <a:ext cx="21278100" cy="16191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23"/>
          <p:cNvSpPr/>
          <p:nvPr/>
        </p:nvSpPr>
        <p:spPr>
          <a:xfrm>
            <a:off x="1554480" y="3048000"/>
            <a:ext cx="114300" cy="16191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3"/>
          <p:cNvSpPr txBox="1"/>
          <p:nvPr/>
        </p:nvSpPr>
        <p:spPr>
          <a:xfrm>
            <a:off x="1905000" y="3238500"/>
            <a:ext cx="4286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7BC148"/>
                </a:solidFill>
                <a:latin typeface="Arial"/>
                <a:ea typeface="Arial"/>
                <a:cs typeface="Arial"/>
                <a:sym typeface="Arial"/>
              </a:rPr>
              <a:t>CTE 1</a:t>
            </a:r>
            <a:endParaRPr b="1" sz="3600">
              <a:solidFill>
                <a:srgbClr val="7BC148"/>
              </a:solidFill>
              <a:latin typeface="Arial"/>
              <a:ea typeface="Arial"/>
              <a:cs typeface="Arial"/>
              <a:sym typeface="Arial"/>
            </a:endParaRPr>
          </a:p>
          <a:p>
            <a:pPr indent="0" lvl="0" marL="0" rtl="0" algn="l">
              <a:spcBef>
                <a:spcPts val="300"/>
              </a:spcBef>
              <a:spcAft>
                <a:spcPts val="0"/>
              </a:spcAft>
              <a:buNone/>
            </a:pPr>
            <a:r>
              <a:rPr b="0" lang="en" sz="2600">
                <a:solidFill>
                  <a:srgbClr val="6B6B6B"/>
                </a:solidFill>
                <a:latin typeface="Arial"/>
                <a:ea typeface="Arial"/>
                <a:cs typeface="Arial"/>
                <a:sym typeface="Arial"/>
              </a:rPr>
              <a:t>conditions_dated</a:t>
            </a:r>
            <a:endParaRPr b="0" sz="2600">
              <a:solidFill>
                <a:srgbClr val="6B6B6B"/>
              </a:solidFill>
              <a:latin typeface="Arial"/>
              <a:ea typeface="Arial"/>
              <a:cs typeface="Arial"/>
              <a:sym typeface="Arial"/>
            </a:endParaRPr>
          </a:p>
        </p:txBody>
      </p:sp>
      <p:sp>
        <p:nvSpPr>
          <p:cNvPr id="306" name="Google Shape;306;p23"/>
          <p:cNvSpPr txBox="1"/>
          <p:nvPr/>
        </p:nvSpPr>
        <p:spPr>
          <a:xfrm>
            <a:off x="6381750" y="3238500"/>
            <a:ext cx="16097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000">
                <a:solidFill>
                  <a:srgbClr val="7BC148"/>
                </a:solidFill>
                <a:latin typeface="Arial"/>
                <a:ea typeface="Arial"/>
                <a:cs typeface="Arial"/>
                <a:sym typeface="Arial"/>
              </a:rPr>
              <a:t>SELECT</a:t>
            </a:r>
            <a:r>
              <a:rPr b="0" lang="en" sz="3000">
                <a:solidFill>
                  <a:srgbClr val="1A1A1A"/>
                </a:solidFill>
                <a:latin typeface="Arial"/>
                <a:ea typeface="Arial"/>
                <a:cs typeface="Arial"/>
                <a:sym typeface="Arial"/>
              </a:rPr>
              <a:t> person_id, condition_concept_id, condition_start_date </a:t>
            </a:r>
            <a:r>
              <a:rPr b="1" lang="en" sz="3000">
                <a:solidFill>
                  <a:srgbClr val="7BC148"/>
                </a:solidFill>
                <a:latin typeface="Arial"/>
                <a:ea typeface="Arial"/>
                <a:cs typeface="Arial"/>
                <a:sym typeface="Arial"/>
              </a:rPr>
              <a:t>AS</a:t>
            </a:r>
            <a:r>
              <a:rPr b="0" lang="en" sz="3000">
                <a:solidFill>
                  <a:srgbClr val="1A1A1A"/>
                </a:solidFill>
                <a:latin typeface="Arial"/>
                <a:ea typeface="Arial"/>
                <a:cs typeface="Arial"/>
                <a:sym typeface="Arial"/>
              </a:rPr>
              <a:t> event_date</a:t>
            </a:r>
            <a:endParaRPr b="0" sz="3000">
              <a:solidFill>
                <a:srgbClr val="1A1A1A"/>
              </a:solidFill>
              <a:latin typeface="Arial"/>
              <a:ea typeface="Arial"/>
              <a:cs typeface="Arial"/>
              <a:sym typeface="Arial"/>
            </a:endParaRPr>
          </a:p>
          <a:p>
            <a:pPr indent="0" lvl="0" marL="0" rtl="0" algn="l">
              <a:spcBef>
                <a:spcPts val="600"/>
              </a:spcBef>
              <a:spcAft>
                <a:spcPts val="0"/>
              </a:spcAft>
              <a:buNone/>
            </a:pPr>
            <a:r>
              <a:rPr b="1" lang="en" sz="3000">
                <a:solidFill>
                  <a:srgbClr val="7BC148"/>
                </a:solidFill>
                <a:latin typeface="Arial"/>
                <a:ea typeface="Arial"/>
                <a:cs typeface="Arial"/>
                <a:sym typeface="Arial"/>
              </a:rPr>
              <a:t>FROM</a:t>
            </a:r>
            <a:r>
              <a:rPr b="0" lang="en" sz="3000">
                <a:solidFill>
                  <a:srgbClr val="1A1A1A"/>
                </a:solidFill>
                <a:latin typeface="Arial"/>
                <a:ea typeface="Arial"/>
                <a:cs typeface="Arial"/>
                <a:sym typeface="Arial"/>
              </a:rPr>
              <a:t> cdm.condition_occurrence</a:t>
            </a:r>
            <a:endParaRPr b="0" sz="3000">
              <a:solidFill>
                <a:srgbClr val="1A1A1A"/>
              </a:solidFill>
              <a:latin typeface="Arial"/>
              <a:ea typeface="Arial"/>
              <a:cs typeface="Arial"/>
              <a:sym typeface="Arial"/>
            </a:endParaRPr>
          </a:p>
        </p:txBody>
      </p:sp>
      <p:sp>
        <p:nvSpPr>
          <p:cNvPr id="307" name="Google Shape;307;p23"/>
          <p:cNvSpPr/>
          <p:nvPr/>
        </p:nvSpPr>
        <p:spPr>
          <a:xfrm>
            <a:off x="1554480" y="4810125"/>
            <a:ext cx="21278100" cy="1619100"/>
          </a:xfrm>
          <a:prstGeom prst="rect">
            <a:avLst/>
          </a:prstGeom>
          <a:solidFill>
            <a:srgbClr val="F4F9EE"/>
          </a:solidFill>
          <a:ln cap="flat" cmpd="sng" w="9525">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3"/>
          <p:cNvSpPr/>
          <p:nvPr/>
        </p:nvSpPr>
        <p:spPr>
          <a:xfrm>
            <a:off x="1554480" y="4810125"/>
            <a:ext cx="114300" cy="16191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3"/>
          <p:cNvSpPr txBox="1"/>
          <p:nvPr/>
        </p:nvSpPr>
        <p:spPr>
          <a:xfrm>
            <a:off x="1905000" y="5000625"/>
            <a:ext cx="4286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7BC148"/>
                </a:solidFill>
                <a:latin typeface="Arial"/>
                <a:ea typeface="Arial"/>
                <a:cs typeface="Arial"/>
                <a:sym typeface="Arial"/>
              </a:rPr>
              <a:t>CTE 2</a:t>
            </a:r>
            <a:endParaRPr b="1" sz="3600">
              <a:solidFill>
                <a:srgbClr val="7BC148"/>
              </a:solidFill>
              <a:latin typeface="Arial"/>
              <a:ea typeface="Arial"/>
              <a:cs typeface="Arial"/>
              <a:sym typeface="Arial"/>
            </a:endParaRPr>
          </a:p>
          <a:p>
            <a:pPr indent="0" lvl="0" marL="0" rtl="0" algn="l">
              <a:spcBef>
                <a:spcPts val="300"/>
              </a:spcBef>
              <a:spcAft>
                <a:spcPts val="0"/>
              </a:spcAft>
              <a:buNone/>
            </a:pPr>
            <a:r>
              <a:rPr b="0" lang="en" sz="2600">
                <a:solidFill>
                  <a:srgbClr val="6B6B6B"/>
                </a:solidFill>
                <a:latin typeface="Arial"/>
                <a:ea typeface="Arial"/>
                <a:cs typeface="Arial"/>
                <a:sym typeface="Arial"/>
              </a:rPr>
              <a:t>measurements_dated</a:t>
            </a:r>
            <a:endParaRPr b="0" sz="2600">
              <a:solidFill>
                <a:srgbClr val="6B6B6B"/>
              </a:solidFill>
              <a:latin typeface="Arial"/>
              <a:ea typeface="Arial"/>
              <a:cs typeface="Arial"/>
              <a:sym typeface="Arial"/>
            </a:endParaRPr>
          </a:p>
        </p:txBody>
      </p:sp>
      <p:sp>
        <p:nvSpPr>
          <p:cNvPr id="310" name="Google Shape;310;p23"/>
          <p:cNvSpPr txBox="1"/>
          <p:nvPr/>
        </p:nvSpPr>
        <p:spPr>
          <a:xfrm>
            <a:off x="6381750" y="5000625"/>
            <a:ext cx="16097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000">
                <a:solidFill>
                  <a:srgbClr val="7BC148"/>
                </a:solidFill>
                <a:latin typeface="Arial"/>
                <a:ea typeface="Arial"/>
                <a:cs typeface="Arial"/>
                <a:sym typeface="Arial"/>
              </a:rPr>
              <a:t>SELECT</a:t>
            </a:r>
            <a:r>
              <a:rPr b="0" lang="en" sz="3000">
                <a:solidFill>
                  <a:srgbClr val="1A1A1A"/>
                </a:solidFill>
                <a:latin typeface="Arial"/>
                <a:ea typeface="Arial"/>
                <a:cs typeface="Arial"/>
                <a:sym typeface="Arial"/>
              </a:rPr>
              <a:t> person_id, measurement_concept_id, measurement_date </a:t>
            </a:r>
            <a:r>
              <a:rPr b="1" lang="en" sz="3000">
                <a:solidFill>
                  <a:srgbClr val="7BC148"/>
                </a:solidFill>
                <a:latin typeface="Arial"/>
                <a:ea typeface="Arial"/>
                <a:cs typeface="Arial"/>
                <a:sym typeface="Arial"/>
              </a:rPr>
              <a:t>AS</a:t>
            </a:r>
            <a:r>
              <a:rPr b="0" lang="en" sz="3000">
                <a:solidFill>
                  <a:srgbClr val="1A1A1A"/>
                </a:solidFill>
                <a:latin typeface="Arial"/>
                <a:ea typeface="Arial"/>
                <a:cs typeface="Arial"/>
                <a:sym typeface="Arial"/>
              </a:rPr>
              <a:t> event_date</a:t>
            </a:r>
            <a:endParaRPr b="0" sz="3000">
              <a:solidFill>
                <a:srgbClr val="1A1A1A"/>
              </a:solidFill>
              <a:latin typeface="Arial"/>
              <a:ea typeface="Arial"/>
              <a:cs typeface="Arial"/>
              <a:sym typeface="Arial"/>
            </a:endParaRPr>
          </a:p>
          <a:p>
            <a:pPr indent="0" lvl="0" marL="0" rtl="0" algn="l">
              <a:spcBef>
                <a:spcPts val="600"/>
              </a:spcBef>
              <a:spcAft>
                <a:spcPts val="0"/>
              </a:spcAft>
              <a:buNone/>
            </a:pPr>
            <a:r>
              <a:rPr b="1" lang="en" sz="3000">
                <a:solidFill>
                  <a:srgbClr val="7BC148"/>
                </a:solidFill>
                <a:latin typeface="Arial"/>
                <a:ea typeface="Arial"/>
                <a:cs typeface="Arial"/>
                <a:sym typeface="Arial"/>
              </a:rPr>
              <a:t>FROM</a:t>
            </a:r>
            <a:r>
              <a:rPr b="0" lang="en" sz="3000">
                <a:solidFill>
                  <a:srgbClr val="1A1A1A"/>
                </a:solidFill>
                <a:latin typeface="Arial"/>
                <a:ea typeface="Arial"/>
                <a:cs typeface="Arial"/>
                <a:sym typeface="Arial"/>
              </a:rPr>
              <a:t> cdm.measurement</a:t>
            </a:r>
            <a:endParaRPr b="0" sz="3000">
              <a:solidFill>
                <a:srgbClr val="1A1A1A"/>
              </a:solidFill>
              <a:latin typeface="Arial"/>
              <a:ea typeface="Arial"/>
              <a:cs typeface="Arial"/>
              <a:sym typeface="Arial"/>
            </a:endParaRPr>
          </a:p>
        </p:txBody>
      </p:sp>
      <p:sp>
        <p:nvSpPr>
          <p:cNvPr id="311" name="Google Shape;311;p23"/>
          <p:cNvSpPr/>
          <p:nvPr/>
        </p:nvSpPr>
        <p:spPr>
          <a:xfrm>
            <a:off x="1554480" y="6572250"/>
            <a:ext cx="21278100" cy="34290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3"/>
          <p:cNvSpPr/>
          <p:nvPr/>
        </p:nvSpPr>
        <p:spPr>
          <a:xfrm>
            <a:off x="1554480" y="6572250"/>
            <a:ext cx="114300" cy="34290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3"/>
          <p:cNvSpPr txBox="1"/>
          <p:nvPr/>
        </p:nvSpPr>
        <p:spPr>
          <a:xfrm>
            <a:off x="1905000" y="6858000"/>
            <a:ext cx="4286400" cy="2857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600">
                <a:solidFill>
                  <a:srgbClr val="44546A"/>
                </a:solidFill>
                <a:latin typeface="Arial"/>
                <a:ea typeface="Arial"/>
                <a:cs typeface="Arial"/>
                <a:sym typeface="Arial"/>
              </a:rPr>
              <a:t>Main Query</a:t>
            </a:r>
            <a:endParaRPr b="1" sz="3600">
              <a:solidFill>
                <a:srgbClr val="44546A"/>
              </a:solidFill>
              <a:latin typeface="Arial"/>
              <a:ea typeface="Arial"/>
              <a:cs typeface="Arial"/>
              <a:sym typeface="Arial"/>
            </a:endParaRPr>
          </a:p>
          <a:p>
            <a:pPr indent="0" lvl="0" marL="0" rtl="0" algn="l">
              <a:spcBef>
                <a:spcPts val="300"/>
              </a:spcBef>
              <a:spcAft>
                <a:spcPts val="0"/>
              </a:spcAft>
              <a:buNone/>
            </a:pPr>
            <a:r>
              <a:rPr b="0" lang="en" sz="2600">
                <a:solidFill>
                  <a:srgbClr val="6B6B6B"/>
                </a:solidFill>
                <a:latin typeface="Arial"/>
                <a:ea typeface="Arial"/>
                <a:cs typeface="Arial"/>
                <a:sym typeface="Arial"/>
              </a:rPr>
              <a:t>Cross-Domain Join</a:t>
            </a:r>
            <a:endParaRPr b="0" sz="2600">
              <a:solidFill>
                <a:srgbClr val="6B6B6B"/>
              </a:solidFill>
              <a:latin typeface="Arial"/>
              <a:ea typeface="Arial"/>
              <a:cs typeface="Arial"/>
              <a:sym typeface="Arial"/>
            </a:endParaRPr>
          </a:p>
        </p:txBody>
      </p:sp>
      <p:sp>
        <p:nvSpPr>
          <p:cNvPr id="314" name="Google Shape;314;p23"/>
          <p:cNvSpPr txBox="1"/>
          <p:nvPr/>
        </p:nvSpPr>
        <p:spPr>
          <a:xfrm>
            <a:off x="6381750" y="6810375"/>
            <a:ext cx="16097400" cy="295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550">
                <a:solidFill>
                  <a:srgbClr val="7BC148"/>
                </a:solidFill>
                <a:latin typeface="Arial"/>
                <a:ea typeface="Arial"/>
                <a:cs typeface="Arial"/>
                <a:sym typeface="Arial"/>
              </a:rPr>
              <a:t>SELECT</a:t>
            </a:r>
            <a:r>
              <a:rPr b="0" lang="en" sz="2550">
                <a:solidFill>
                  <a:srgbClr val="1A1A1A"/>
                </a:solidFill>
                <a:latin typeface="Arial"/>
                <a:ea typeface="Arial"/>
                <a:cs typeface="Arial"/>
                <a:sym typeface="Arial"/>
              </a:rPr>
              <a:t> c.person_id, c.event_date, con1.concept_name </a:t>
            </a:r>
            <a:r>
              <a:rPr b="1" lang="en" sz="2550">
                <a:solidFill>
                  <a:srgbClr val="7BC148"/>
                </a:solidFill>
                <a:latin typeface="Arial"/>
                <a:ea typeface="Arial"/>
                <a:cs typeface="Arial"/>
                <a:sym typeface="Arial"/>
              </a:rPr>
              <a:t>AS</a:t>
            </a:r>
            <a:r>
              <a:rPr b="0" lang="en" sz="2550">
                <a:solidFill>
                  <a:srgbClr val="1A1A1A"/>
                </a:solidFill>
                <a:latin typeface="Arial"/>
                <a:ea typeface="Arial"/>
                <a:cs typeface="Arial"/>
                <a:sym typeface="Arial"/>
              </a:rPr>
              <a:t> condition, con2.concept_name </a:t>
            </a:r>
            <a:r>
              <a:rPr b="1" lang="en" sz="2550">
                <a:solidFill>
                  <a:srgbClr val="7BC148"/>
                </a:solidFill>
                <a:latin typeface="Arial"/>
                <a:ea typeface="Arial"/>
                <a:cs typeface="Arial"/>
                <a:sym typeface="Arial"/>
              </a:rPr>
              <a:t>AS</a:t>
            </a:r>
            <a:r>
              <a:rPr b="0" lang="en" sz="2550">
                <a:solidFill>
                  <a:srgbClr val="1A1A1A"/>
                </a:solidFill>
                <a:latin typeface="Arial"/>
                <a:ea typeface="Arial"/>
                <a:cs typeface="Arial"/>
                <a:sym typeface="Arial"/>
              </a:rPr>
              <a:t> lab_test</a:t>
            </a:r>
            <a:endParaRPr b="0" sz="2550">
              <a:solidFill>
                <a:srgbClr val="1A1A1A"/>
              </a:solidFill>
              <a:latin typeface="Arial"/>
              <a:ea typeface="Arial"/>
              <a:cs typeface="Arial"/>
              <a:sym typeface="Arial"/>
            </a:endParaRPr>
          </a:p>
          <a:p>
            <a:pPr indent="0" lvl="0" marL="0" rtl="0" algn="l">
              <a:spcBef>
                <a:spcPts val="600"/>
              </a:spcBef>
              <a:spcAft>
                <a:spcPts val="0"/>
              </a:spcAft>
              <a:buNone/>
            </a:pPr>
            <a:r>
              <a:rPr b="1" lang="en" sz="2550">
                <a:solidFill>
                  <a:srgbClr val="7BC148"/>
                </a:solidFill>
                <a:latin typeface="Arial"/>
                <a:ea typeface="Arial"/>
                <a:cs typeface="Arial"/>
                <a:sym typeface="Arial"/>
              </a:rPr>
              <a:t>FROM</a:t>
            </a:r>
            <a:r>
              <a:rPr b="0" lang="en" sz="2550">
                <a:solidFill>
                  <a:srgbClr val="1A1A1A"/>
                </a:solidFill>
                <a:latin typeface="Arial"/>
                <a:ea typeface="Arial"/>
                <a:cs typeface="Arial"/>
                <a:sym typeface="Arial"/>
              </a:rPr>
              <a:t> conditions_dated c</a:t>
            </a:r>
            <a:endParaRPr b="0" sz="2550">
              <a:solidFill>
                <a:srgbClr val="1A1A1A"/>
              </a:solidFill>
              <a:latin typeface="Arial"/>
              <a:ea typeface="Arial"/>
              <a:cs typeface="Arial"/>
              <a:sym typeface="Arial"/>
            </a:endParaRPr>
          </a:p>
          <a:p>
            <a:pPr indent="0" lvl="0" marL="0" rtl="0" algn="l">
              <a:spcBef>
                <a:spcPts val="600"/>
              </a:spcBef>
              <a:spcAft>
                <a:spcPts val="0"/>
              </a:spcAft>
              <a:buNone/>
            </a:pPr>
            <a:r>
              <a:rPr b="1" lang="en" sz="2550">
                <a:solidFill>
                  <a:srgbClr val="7BC148"/>
                </a:solidFill>
                <a:latin typeface="Arial"/>
                <a:ea typeface="Arial"/>
                <a:cs typeface="Arial"/>
                <a:sym typeface="Arial"/>
              </a:rPr>
              <a:t>INNER JOIN</a:t>
            </a:r>
            <a:r>
              <a:rPr b="0" lang="en" sz="2550">
                <a:solidFill>
                  <a:srgbClr val="1A1A1A"/>
                </a:solidFill>
                <a:latin typeface="Arial"/>
                <a:ea typeface="Arial"/>
                <a:cs typeface="Arial"/>
                <a:sym typeface="Arial"/>
              </a:rPr>
              <a:t> measurements_dated m </a:t>
            </a:r>
            <a:r>
              <a:rPr b="1" lang="en" sz="2550">
                <a:solidFill>
                  <a:srgbClr val="7BC148"/>
                </a:solidFill>
                <a:latin typeface="Arial"/>
                <a:ea typeface="Arial"/>
                <a:cs typeface="Arial"/>
                <a:sym typeface="Arial"/>
              </a:rPr>
              <a:t>ON</a:t>
            </a:r>
            <a:r>
              <a:rPr b="0" lang="en" sz="2550">
                <a:solidFill>
                  <a:srgbClr val="1A1A1A"/>
                </a:solidFill>
                <a:latin typeface="Arial"/>
                <a:ea typeface="Arial"/>
                <a:cs typeface="Arial"/>
                <a:sym typeface="Arial"/>
              </a:rPr>
              <a:t> c.person_id = m.person_id </a:t>
            </a:r>
            <a:r>
              <a:rPr b="1" lang="en" sz="2550">
                <a:solidFill>
                  <a:srgbClr val="7BC148"/>
                </a:solidFill>
                <a:latin typeface="Arial"/>
                <a:ea typeface="Arial"/>
                <a:cs typeface="Arial"/>
                <a:sym typeface="Arial"/>
              </a:rPr>
              <a:t>AND</a:t>
            </a:r>
            <a:r>
              <a:rPr b="0" lang="en" sz="2550">
                <a:solidFill>
                  <a:srgbClr val="1A1A1A"/>
                </a:solidFill>
                <a:latin typeface="Arial"/>
                <a:ea typeface="Arial"/>
                <a:cs typeface="Arial"/>
                <a:sym typeface="Arial"/>
              </a:rPr>
              <a:t> c.event_date = m.event_date</a:t>
            </a:r>
            <a:endParaRPr b="0" sz="2550">
              <a:solidFill>
                <a:srgbClr val="1A1A1A"/>
              </a:solidFill>
              <a:latin typeface="Arial"/>
              <a:ea typeface="Arial"/>
              <a:cs typeface="Arial"/>
              <a:sym typeface="Arial"/>
            </a:endParaRPr>
          </a:p>
          <a:p>
            <a:pPr indent="0" lvl="0" marL="0" rtl="0" algn="l">
              <a:spcBef>
                <a:spcPts val="600"/>
              </a:spcBef>
              <a:spcAft>
                <a:spcPts val="0"/>
              </a:spcAft>
              <a:buNone/>
            </a:pPr>
            <a:r>
              <a:rPr b="1" lang="en" sz="2550">
                <a:solidFill>
                  <a:srgbClr val="7BC148"/>
                </a:solidFill>
                <a:latin typeface="Arial"/>
                <a:ea typeface="Arial"/>
                <a:cs typeface="Arial"/>
                <a:sym typeface="Arial"/>
              </a:rPr>
              <a:t>JOIN</a:t>
            </a:r>
            <a:r>
              <a:rPr b="0" lang="en" sz="2550">
                <a:solidFill>
                  <a:srgbClr val="1A1A1A"/>
                </a:solidFill>
                <a:latin typeface="Arial"/>
                <a:ea typeface="Arial"/>
                <a:cs typeface="Arial"/>
                <a:sym typeface="Arial"/>
              </a:rPr>
              <a:t> cdm.concept con1 </a:t>
            </a:r>
            <a:r>
              <a:rPr b="1" lang="en" sz="2550">
                <a:solidFill>
                  <a:srgbClr val="7BC148"/>
                </a:solidFill>
                <a:latin typeface="Arial"/>
                <a:ea typeface="Arial"/>
                <a:cs typeface="Arial"/>
                <a:sym typeface="Arial"/>
              </a:rPr>
              <a:t>ON</a:t>
            </a:r>
            <a:r>
              <a:rPr b="0" lang="en" sz="2550">
                <a:solidFill>
                  <a:srgbClr val="1A1A1A"/>
                </a:solidFill>
                <a:latin typeface="Arial"/>
                <a:ea typeface="Arial"/>
                <a:cs typeface="Arial"/>
                <a:sym typeface="Arial"/>
              </a:rPr>
              <a:t> c.condition_concept_id = con1.concept_id</a:t>
            </a:r>
            <a:endParaRPr b="0" sz="2550">
              <a:solidFill>
                <a:srgbClr val="1A1A1A"/>
              </a:solidFill>
              <a:latin typeface="Arial"/>
              <a:ea typeface="Arial"/>
              <a:cs typeface="Arial"/>
              <a:sym typeface="Arial"/>
            </a:endParaRPr>
          </a:p>
          <a:p>
            <a:pPr indent="0" lvl="0" marL="0" rtl="0" algn="l">
              <a:spcBef>
                <a:spcPts val="600"/>
              </a:spcBef>
              <a:spcAft>
                <a:spcPts val="0"/>
              </a:spcAft>
              <a:buNone/>
            </a:pPr>
            <a:r>
              <a:rPr b="1" lang="en" sz="2550">
                <a:solidFill>
                  <a:srgbClr val="7BC148"/>
                </a:solidFill>
                <a:latin typeface="Arial"/>
                <a:ea typeface="Arial"/>
                <a:cs typeface="Arial"/>
                <a:sym typeface="Arial"/>
              </a:rPr>
              <a:t>JOIN</a:t>
            </a:r>
            <a:r>
              <a:rPr b="0" lang="en" sz="2550">
                <a:solidFill>
                  <a:srgbClr val="1A1A1A"/>
                </a:solidFill>
                <a:latin typeface="Arial"/>
                <a:ea typeface="Arial"/>
                <a:cs typeface="Arial"/>
                <a:sym typeface="Arial"/>
              </a:rPr>
              <a:t> cdm.concept con2 </a:t>
            </a:r>
            <a:r>
              <a:rPr b="1" lang="en" sz="2550">
                <a:solidFill>
                  <a:srgbClr val="7BC148"/>
                </a:solidFill>
                <a:latin typeface="Arial"/>
                <a:ea typeface="Arial"/>
                <a:cs typeface="Arial"/>
                <a:sym typeface="Arial"/>
              </a:rPr>
              <a:t>ON</a:t>
            </a:r>
            <a:r>
              <a:rPr b="0" lang="en" sz="2550">
                <a:solidFill>
                  <a:srgbClr val="1A1A1A"/>
                </a:solidFill>
                <a:latin typeface="Arial"/>
                <a:ea typeface="Arial"/>
                <a:cs typeface="Arial"/>
                <a:sym typeface="Arial"/>
              </a:rPr>
              <a:t> m.measurement_concept_id = con2.concept_id;</a:t>
            </a:r>
            <a:endParaRPr b="0" sz="2550">
              <a:solidFill>
                <a:srgbClr val="1A1A1A"/>
              </a:solidFill>
              <a:latin typeface="Arial"/>
              <a:ea typeface="Arial"/>
              <a:cs typeface="Arial"/>
              <a:sym typeface="Arial"/>
            </a:endParaRPr>
          </a:p>
        </p:txBody>
      </p:sp>
      <p:sp>
        <p:nvSpPr>
          <p:cNvPr id="315" name="Google Shape;315;p23"/>
          <p:cNvSpPr/>
          <p:nvPr/>
        </p:nvSpPr>
        <p:spPr>
          <a:xfrm>
            <a:off x="1554480" y="10287000"/>
            <a:ext cx="21278100" cy="1333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3"/>
          <p:cNvSpPr txBox="1"/>
          <p:nvPr/>
        </p:nvSpPr>
        <p:spPr>
          <a:xfrm>
            <a:off x="1905000" y="10287000"/>
            <a:ext cx="205740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Arial"/>
                <a:ea typeface="Arial"/>
                <a:cs typeface="Arial"/>
                <a:sym typeface="Arial"/>
              </a:rPr>
              <a:t>By aliasing both date columns to </a:t>
            </a:r>
            <a:r>
              <a:rPr b="1" lang="en" sz="3200" u="sng">
                <a:solidFill>
                  <a:srgbClr val="FFFFFF"/>
                </a:solidFill>
                <a:latin typeface="Arial"/>
                <a:ea typeface="Arial"/>
                <a:cs typeface="Arial"/>
                <a:sym typeface="Arial"/>
              </a:rPr>
              <a:t>event_date</a:t>
            </a:r>
            <a:r>
              <a:rPr b="1" lang="en" sz="3200">
                <a:solidFill>
                  <a:srgbClr val="FFFFFF"/>
                </a:solidFill>
                <a:latin typeface="Arial"/>
                <a:ea typeface="Arial"/>
                <a:cs typeface="Arial"/>
                <a:sym typeface="Arial"/>
              </a:rPr>
              <a:t> in the CTEs, the main </a:t>
            </a:r>
            <a:r>
              <a:rPr b="1" lang="en" sz="3200" u="sng">
                <a:solidFill>
                  <a:srgbClr val="FFFFFF"/>
                </a:solidFill>
                <a:latin typeface="Arial"/>
                <a:ea typeface="Arial"/>
                <a:cs typeface="Arial"/>
                <a:sym typeface="Arial"/>
              </a:rPr>
              <a:t>INNER JOIN</a:t>
            </a:r>
            <a:r>
              <a:rPr b="1" lang="en" sz="3200">
                <a:solidFill>
                  <a:srgbClr val="FFFFFF"/>
                </a:solidFill>
                <a:latin typeface="Arial"/>
                <a:ea typeface="Arial"/>
                <a:cs typeface="Arial"/>
                <a:sym typeface="Arial"/>
              </a:rPr>
              <a:t> logic becomes highly intuitive.</a:t>
            </a:r>
            <a:endParaRPr b="1" sz="3200">
              <a:solidFill>
                <a:srgbClr val="FFFFFF"/>
              </a:solidFill>
              <a:latin typeface="Arial"/>
              <a:ea typeface="Arial"/>
              <a:cs typeface="Arial"/>
              <a:sym typeface="Arial"/>
            </a:endParaRPr>
          </a:p>
        </p:txBody>
      </p:sp>
      <p:grpSp>
        <p:nvGrpSpPr>
          <p:cNvPr id="317" name="Google Shape;317;p23"/>
          <p:cNvGrpSpPr/>
          <p:nvPr/>
        </p:nvGrpSpPr>
        <p:grpSpPr>
          <a:xfrm>
            <a:off x="1554480" y="12600432"/>
            <a:ext cx="21278100" cy="795648"/>
            <a:chOff x="1554480" y="12600432"/>
            <a:chExt cx="21278100" cy="795648"/>
          </a:xfrm>
        </p:grpSpPr>
        <p:cxnSp>
          <p:nvCxnSpPr>
            <p:cNvPr id="318" name="Google Shape;318;p23"/>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319" name="Google Shape;319;p23"/>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24"/>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325" name="Google Shape;325;p24"/>
          <p:cNvSpPr/>
          <p:nvPr/>
        </p:nvSpPr>
        <p:spPr>
          <a:xfrm>
            <a:off x="0" y="0"/>
            <a:ext cx="24384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26" name="Google Shape;326;p24"/>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327" name="Google Shape;327;p24"/>
          <p:cNvSpPr txBox="1"/>
          <p:nvPr/>
        </p:nvSpPr>
        <p:spPr>
          <a:xfrm>
            <a:off x="1554480" y="809625"/>
            <a:ext cx="197511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040">
                <a:solidFill>
                  <a:srgbClr val="1A1A1A"/>
                </a:solidFill>
                <a:latin typeface="Arial"/>
                <a:ea typeface="Arial"/>
                <a:cs typeface="Arial"/>
                <a:sym typeface="Arial"/>
              </a:rPr>
              <a:t>CTEs Streamline First-Event Cohort Extraction and Filtering</a:t>
            </a:r>
            <a:endParaRPr b="1" sz="5040">
              <a:solidFill>
                <a:srgbClr val="1A1A1A"/>
              </a:solidFill>
              <a:latin typeface="Arial"/>
              <a:ea typeface="Arial"/>
              <a:cs typeface="Arial"/>
              <a:sym typeface="Arial"/>
            </a:endParaRPr>
          </a:p>
        </p:txBody>
      </p:sp>
      <p:grpSp>
        <p:nvGrpSpPr>
          <p:cNvPr id="328" name="Google Shape;328;p24"/>
          <p:cNvGrpSpPr/>
          <p:nvPr/>
        </p:nvGrpSpPr>
        <p:grpSpPr>
          <a:xfrm>
            <a:off x="1554480" y="2524125"/>
            <a:ext cx="21278100" cy="1428900"/>
            <a:chOff x="0" y="0"/>
            <a:chExt cx="21278100" cy="1428900"/>
          </a:xfrm>
        </p:grpSpPr>
        <p:sp>
          <p:nvSpPr>
            <p:cNvPr id="329" name="Google Shape;329;p24"/>
            <p:cNvSpPr/>
            <p:nvPr/>
          </p:nvSpPr>
          <p:spPr>
            <a:xfrm>
              <a:off x="0" y="0"/>
              <a:ext cx="21278100" cy="1428900"/>
            </a:xfrm>
            <a:prstGeom prst="roundRect">
              <a:avLst>
                <a:gd fmla="val 4000" name="adj"/>
              </a:avLst>
            </a:prstGeom>
            <a:solidFill>
              <a:srgbClr val="F4F9EE"/>
            </a:solidFill>
            <a:ln cap="flat" cmpd="sng" w="19050">
              <a:solidFill>
                <a:srgbClr val="7BC14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4"/>
            <p:cNvSpPr txBox="1"/>
            <p:nvPr/>
          </p:nvSpPr>
          <p:spPr>
            <a:xfrm>
              <a:off x="285750" y="190500"/>
              <a:ext cx="20706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90">
                  <a:solidFill>
                    <a:srgbClr val="7BC148"/>
                  </a:solidFill>
                  <a:latin typeface="Arial"/>
                  <a:ea typeface="Arial"/>
                  <a:cs typeface="Arial"/>
                  <a:sym typeface="Arial"/>
                </a:rPr>
                <a:t>Scenario:</a:t>
              </a:r>
              <a:r>
                <a:rPr b="0" lang="en" sz="2790">
                  <a:solidFill>
                    <a:srgbClr val="1A1A1A"/>
                  </a:solidFill>
                  <a:latin typeface="Arial"/>
                  <a:ea typeface="Arial"/>
                  <a:cs typeface="Arial"/>
                  <a:sym typeface="Arial"/>
                </a:rPr>
                <a:t> "Show me patients whose first ever visit was in 2022 or later."</a:t>
              </a:r>
              <a:endParaRPr b="0" sz="2790">
                <a:solidFill>
                  <a:srgbClr val="1A1A1A"/>
                </a:solidFill>
                <a:latin typeface="Arial"/>
                <a:ea typeface="Arial"/>
                <a:cs typeface="Arial"/>
                <a:sym typeface="Arial"/>
              </a:endParaRPr>
            </a:p>
            <a:p>
              <a:pPr indent="0" lvl="0" marL="0" rtl="0" algn="l">
                <a:spcBef>
                  <a:spcPts val="600"/>
                </a:spcBef>
                <a:spcAft>
                  <a:spcPts val="0"/>
                </a:spcAft>
                <a:buNone/>
              </a:pPr>
              <a:r>
                <a:rPr b="0" lang="en" sz="2480">
                  <a:solidFill>
                    <a:srgbClr val="44546A"/>
                  </a:solidFill>
                  <a:latin typeface="Arial"/>
                  <a:ea typeface="Arial"/>
                  <a:cs typeface="Arial"/>
                  <a:sym typeface="Arial"/>
                </a:rPr>
                <a:t>Finding a patient's 'first' event requires aggregation (</a:t>
              </a:r>
              <a:r>
                <a:rPr b="1" lang="en" sz="2480">
                  <a:solidFill>
                    <a:srgbClr val="44546A"/>
                  </a:solidFill>
                  <a:latin typeface="Arial"/>
                  <a:ea typeface="Arial"/>
                  <a:cs typeface="Arial"/>
                  <a:sym typeface="Arial"/>
                </a:rPr>
                <a:t>MIN()</a:t>
              </a:r>
              <a:r>
                <a:rPr b="0" lang="en" sz="2480">
                  <a:solidFill>
                    <a:srgbClr val="44546A"/>
                  </a:solidFill>
                  <a:latin typeface="Arial"/>
                  <a:ea typeface="Arial"/>
                  <a:cs typeface="Arial"/>
                  <a:sym typeface="Arial"/>
                </a:rPr>
                <a:t>). Joining tables before aggregating risks Cartesian products or incorrect groupings.</a:t>
              </a:r>
              <a:endParaRPr b="0" sz="2480">
                <a:solidFill>
                  <a:srgbClr val="44546A"/>
                </a:solidFill>
                <a:latin typeface="Arial"/>
                <a:ea typeface="Arial"/>
                <a:cs typeface="Arial"/>
                <a:sym typeface="Arial"/>
              </a:endParaRPr>
            </a:p>
          </p:txBody>
        </p:sp>
      </p:grpSp>
      <p:grpSp>
        <p:nvGrpSpPr>
          <p:cNvPr id="331" name="Google Shape;331;p24"/>
          <p:cNvGrpSpPr/>
          <p:nvPr/>
        </p:nvGrpSpPr>
        <p:grpSpPr>
          <a:xfrm>
            <a:off x="1554480" y="4238625"/>
            <a:ext cx="21278100" cy="3619500"/>
            <a:chOff x="0" y="0"/>
            <a:chExt cx="21278100" cy="3619500"/>
          </a:xfrm>
        </p:grpSpPr>
        <p:sp>
          <p:nvSpPr>
            <p:cNvPr id="332" name="Google Shape;332;p24"/>
            <p:cNvSpPr/>
            <p:nvPr/>
          </p:nvSpPr>
          <p:spPr>
            <a:xfrm>
              <a:off x="0" y="0"/>
              <a:ext cx="21278100" cy="3619500"/>
            </a:xfrm>
            <a:prstGeom prst="roundRect">
              <a:avLst>
                <a:gd fmla="val 1578" name="adj"/>
              </a:avLst>
            </a:prstGeom>
            <a:solidFill>
              <a:srgbClr val="FFFFFF"/>
            </a:solidFill>
            <a:ln cap="flat" cmpd="sng" w="1430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4"/>
            <p:cNvSpPr/>
            <p:nvPr/>
          </p:nvSpPr>
          <p:spPr>
            <a:xfrm>
              <a:off x="0" y="0"/>
              <a:ext cx="21278100" cy="619200"/>
            </a:xfrm>
            <a:prstGeom prst="roundRect">
              <a:avLst>
                <a:gd fmla="val 9230"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4"/>
            <p:cNvSpPr/>
            <p:nvPr/>
          </p:nvSpPr>
          <p:spPr>
            <a:xfrm>
              <a:off x="0" y="428625"/>
              <a:ext cx="21278100" cy="190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4"/>
            <p:cNvSpPr txBox="1"/>
            <p:nvPr/>
          </p:nvSpPr>
          <p:spPr>
            <a:xfrm>
              <a:off x="285750" y="95250"/>
              <a:ext cx="207066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635">
                  <a:solidFill>
                    <a:srgbClr val="FFFFFF"/>
                  </a:solidFill>
                  <a:latin typeface="Arial"/>
                  <a:ea typeface="Arial"/>
                  <a:cs typeface="Arial"/>
                  <a:sym typeface="Arial"/>
                </a:rPr>
                <a:t>1. CTE (</a:t>
              </a:r>
              <a:r>
                <a:rPr b="1" i="1" lang="en" sz="2635">
                  <a:solidFill>
                    <a:srgbClr val="FFFFFF"/>
                  </a:solidFill>
                  <a:latin typeface="Arial"/>
                  <a:ea typeface="Arial"/>
                  <a:cs typeface="Arial"/>
                  <a:sym typeface="Arial"/>
                </a:rPr>
                <a:t>first_visits</a:t>
              </a:r>
              <a:r>
                <a:rPr b="1" lang="en" sz="2635">
                  <a:solidFill>
                    <a:srgbClr val="FFFFFF"/>
                  </a:solidFill>
                  <a:latin typeface="Arial"/>
                  <a:ea typeface="Arial"/>
                  <a:cs typeface="Arial"/>
                  <a:sym typeface="Arial"/>
                </a:rPr>
                <a:t>): Isolate Aggregation Step</a:t>
              </a:r>
              <a:endParaRPr b="1" sz="2635">
                <a:solidFill>
                  <a:srgbClr val="FFFFFF"/>
                </a:solidFill>
                <a:latin typeface="Arial"/>
                <a:ea typeface="Arial"/>
                <a:cs typeface="Arial"/>
                <a:sym typeface="Arial"/>
              </a:endParaRPr>
            </a:p>
          </p:txBody>
        </p:sp>
        <p:sp>
          <p:nvSpPr>
            <p:cNvPr id="336" name="Google Shape;336;p24"/>
            <p:cNvSpPr txBox="1"/>
            <p:nvPr/>
          </p:nvSpPr>
          <p:spPr>
            <a:xfrm>
              <a:off x="285750" y="762000"/>
              <a:ext cx="20706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80">
                  <a:solidFill>
                    <a:srgbClr val="44546A"/>
                  </a:solidFill>
                  <a:latin typeface="Arial"/>
                  <a:ea typeface="Arial"/>
                  <a:cs typeface="Arial"/>
                  <a:sym typeface="Arial"/>
                </a:rPr>
                <a:t>Isolate the aggregation step to find the absolute minimum visit date per patient baseline.</a:t>
              </a:r>
              <a:endParaRPr b="0" sz="2480">
                <a:solidFill>
                  <a:srgbClr val="44546A"/>
                </a:solidFill>
                <a:latin typeface="Arial"/>
                <a:ea typeface="Arial"/>
                <a:cs typeface="Arial"/>
                <a:sym typeface="Arial"/>
              </a:endParaRPr>
            </a:p>
          </p:txBody>
        </p:sp>
        <p:grpSp>
          <p:nvGrpSpPr>
            <p:cNvPr id="337" name="Google Shape;337;p24"/>
            <p:cNvGrpSpPr/>
            <p:nvPr/>
          </p:nvGrpSpPr>
          <p:grpSpPr>
            <a:xfrm>
              <a:off x="285750" y="1238250"/>
              <a:ext cx="20706600" cy="2095500"/>
              <a:chOff x="0" y="0"/>
              <a:chExt cx="20706600" cy="2095500"/>
            </a:xfrm>
          </p:grpSpPr>
          <p:sp>
            <p:nvSpPr>
              <p:cNvPr id="338" name="Google Shape;338;p24"/>
              <p:cNvSpPr/>
              <p:nvPr/>
            </p:nvSpPr>
            <p:spPr>
              <a:xfrm>
                <a:off x="0" y="0"/>
                <a:ext cx="20706600" cy="2095500"/>
              </a:xfrm>
              <a:prstGeom prst="roundRect">
                <a:avLst>
                  <a:gd fmla="val 2727"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4"/>
              <p:cNvSpPr txBox="1"/>
              <p:nvPr/>
            </p:nvSpPr>
            <p:spPr>
              <a:xfrm>
                <a:off x="285750" y="190500"/>
                <a:ext cx="201351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75">
                    <a:solidFill>
                      <a:srgbClr val="B9D989"/>
                    </a:solidFill>
                    <a:latin typeface="Courier New"/>
                    <a:ea typeface="Courier New"/>
                    <a:cs typeface="Courier New"/>
                    <a:sym typeface="Courier New"/>
                  </a:rPr>
                  <a:t>WITH</a:t>
                </a:r>
                <a:r>
                  <a:rPr b="1" lang="en" sz="1875">
                    <a:solidFill>
                      <a:srgbClr val="7BC148"/>
                    </a:solidFill>
                    <a:latin typeface="Courier New"/>
                    <a:ea typeface="Courier New"/>
                    <a:cs typeface="Courier New"/>
                    <a:sym typeface="Courier New"/>
                  </a:rPr>
                  <a:t> first_visits </a:t>
                </a:r>
                <a:r>
                  <a:rPr b="1" lang="en" sz="1875">
                    <a:solidFill>
                      <a:srgbClr val="B9D989"/>
                    </a:solidFill>
                    <a:latin typeface="Courier New"/>
                    <a:ea typeface="Courier New"/>
                    <a:cs typeface="Courier New"/>
                    <a:sym typeface="Courier New"/>
                  </a:rPr>
                  <a:t>AS</a:t>
                </a:r>
                <a:r>
                  <a:rPr b="1" lang="en" sz="1875">
                    <a:solidFill>
                      <a:srgbClr val="7BC148"/>
                    </a:solidFill>
                    <a:latin typeface="Courier New"/>
                    <a:ea typeface="Courier New"/>
                    <a:cs typeface="Courier New"/>
                    <a:sym typeface="Courier New"/>
                  </a:rPr>
                  <a:t> (</a:t>
                </a:r>
                <a:endParaRPr b="1" sz="1875">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1875">
                    <a:solidFill>
                      <a:srgbClr val="7BC148"/>
                    </a:solidFill>
                    <a:latin typeface="Courier New"/>
                    <a:ea typeface="Courier New"/>
                    <a:cs typeface="Courier New"/>
                    <a:sym typeface="Courier New"/>
                  </a:rPr>
                  <a:t>  </a:t>
                </a:r>
                <a:r>
                  <a:rPr b="1" lang="en" sz="1875">
                    <a:solidFill>
                      <a:srgbClr val="B9D989"/>
                    </a:solidFill>
                    <a:latin typeface="Courier New"/>
                    <a:ea typeface="Courier New"/>
                    <a:cs typeface="Courier New"/>
                    <a:sym typeface="Courier New"/>
                  </a:rPr>
                  <a:t>SELECT</a:t>
                </a:r>
                <a:r>
                  <a:rPr b="1" lang="en" sz="1875">
                    <a:solidFill>
                      <a:srgbClr val="7BC148"/>
                    </a:solidFill>
                    <a:latin typeface="Courier New"/>
                    <a:ea typeface="Courier New"/>
                    <a:cs typeface="Courier New"/>
                    <a:sym typeface="Courier New"/>
                  </a:rPr>
                  <a:t> person_id, </a:t>
                </a:r>
                <a:r>
                  <a:rPr b="1" lang="en" sz="1875">
                    <a:solidFill>
                      <a:srgbClr val="B9D989"/>
                    </a:solidFill>
                    <a:latin typeface="Courier New"/>
                    <a:ea typeface="Courier New"/>
                    <a:cs typeface="Courier New"/>
                    <a:sym typeface="Courier New"/>
                  </a:rPr>
                  <a:t>MIN</a:t>
                </a:r>
                <a:r>
                  <a:rPr b="1" lang="en" sz="1875">
                    <a:solidFill>
                      <a:srgbClr val="7BC148"/>
                    </a:solidFill>
                    <a:latin typeface="Courier New"/>
                    <a:ea typeface="Courier New"/>
                    <a:cs typeface="Courier New"/>
                    <a:sym typeface="Courier New"/>
                  </a:rPr>
                  <a:t>(visit_start_date) </a:t>
                </a:r>
                <a:r>
                  <a:rPr b="1" lang="en" sz="1875">
                    <a:solidFill>
                      <a:srgbClr val="B9D989"/>
                    </a:solidFill>
                    <a:latin typeface="Courier New"/>
                    <a:ea typeface="Courier New"/>
                    <a:cs typeface="Courier New"/>
                    <a:sym typeface="Courier New"/>
                  </a:rPr>
                  <a:t>AS</a:t>
                </a:r>
                <a:r>
                  <a:rPr b="1" lang="en" sz="1875">
                    <a:solidFill>
                      <a:srgbClr val="7BC148"/>
                    </a:solidFill>
                    <a:latin typeface="Courier New"/>
                    <a:ea typeface="Courier New"/>
                    <a:cs typeface="Courier New"/>
                    <a:sym typeface="Courier New"/>
                  </a:rPr>
                  <a:t> first_visit_date</a:t>
                </a:r>
                <a:endParaRPr b="1" sz="1875">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1875">
                    <a:solidFill>
                      <a:srgbClr val="7BC148"/>
                    </a:solidFill>
                    <a:latin typeface="Courier New"/>
                    <a:ea typeface="Courier New"/>
                    <a:cs typeface="Courier New"/>
                    <a:sym typeface="Courier New"/>
                  </a:rPr>
                  <a:t>  </a:t>
                </a:r>
                <a:r>
                  <a:rPr b="1" lang="en" sz="1875">
                    <a:solidFill>
                      <a:srgbClr val="B9D989"/>
                    </a:solidFill>
                    <a:latin typeface="Courier New"/>
                    <a:ea typeface="Courier New"/>
                    <a:cs typeface="Courier New"/>
                    <a:sym typeface="Courier New"/>
                  </a:rPr>
                  <a:t>FROM</a:t>
                </a:r>
                <a:r>
                  <a:rPr b="1" lang="en" sz="1875">
                    <a:solidFill>
                      <a:srgbClr val="7BC148"/>
                    </a:solidFill>
                    <a:latin typeface="Courier New"/>
                    <a:ea typeface="Courier New"/>
                    <a:cs typeface="Courier New"/>
                    <a:sym typeface="Courier New"/>
                  </a:rPr>
                  <a:t> cdm.visit_occurrence</a:t>
                </a:r>
                <a:endParaRPr b="1" sz="1875">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1875">
                    <a:solidFill>
                      <a:srgbClr val="7BC148"/>
                    </a:solidFill>
                    <a:latin typeface="Courier New"/>
                    <a:ea typeface="Courier New"/>
                    <a:cs typeface="Courier New"/>
                    <a:sym typeface="Courier New"/>
                  </a:rPr>
                  <a:t>  </a:t>
                </a:r>
                <a:r>
                  <a:rPr b="1" lang="en" sz="1875">
                    <a:solidFill>
                      <a:srgbClr val="B9D989"/>
                    </a:solidFill>
                    <a:latin typeface="Courier New"/>
                    <a:ea typeface="Courier New"/>
                    <a:cs typeface="Courier New"/>
                    <a:sym typeface="Courier New"/>
                  </a:rPr>
                  <a:t>GROUP BY</a:t>
                </a:r>
                <a:r>
                  <a:rPr b="1" lang="en" sz="1875">
                    <a:solidFill>
                      <a:srgbClr val="7BC148"/>
                    </a:solidFill>
                    <a:latin typeface="Courier New"/>
                    <a:ea typeface="Courier New"/>
                    <a:cs typeface="Courier New"/>
                    <a:sym typeface="Courier New"/>
                  </a:rPr>
                  <a:t> person_id</a:t>
                </a:r>
                <a:endParaRPr b="1" sz="1875">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1875">
                    <a:solidFill>
                      <a:srgbClr val="7BC148"/>
                    </a:solidFill>
                    <a:latin typeface="Courier New"/>
                    <a:ea typeface="Courier New"/>
                    <a:cs typeface="Courier New"/>
                    <a:sym typeface="Courier New"/>
                  </a:rPr>
                  <a:t>)</a:t>
                </a:r>
                <a:endParaRPr b="1" sz="1875">
                  <a:solidFill>
                    <a:srgbClr val="7BC148"/>
                  </a:solidFill>
                  <a:latin typeface="Courier New"/>
                  <a:ea typeface="Courier New"/>
                  <a:cs typeface="Courier New"/>
                  <a:sym typeface="Courier New"/>
                </a:endParaRPr>
              </a:p>
            </p:txBody>
          </p:sp>
        </p:grpSp>
      </p:grpSp>
      <p:grpSp>
        <p:nvGrpSpPr>
          <p:cNvPr id="340" name="Google Shape;340;p24"/>
          <p:cNvGrpSpPr/>
          <p:nvPr/>
        </p:nvGrpSpPr>
        <p:grpSpPr>
          <a:xfrm>
            <a:off x="1554480" y="8143875"/>
            <a:ext cx="21278100" cy="4095900"/>
            <a:chOff x="0" y="0"/>
            <a:chExt cx="21278100" cy="4095900"/>
          </a:xfrm>
        </p:grpSpPr>
        <p:sp>
          <p:nvSpPr>
            <p:cNvPr id="341" name="Google Shape;341;p24"/>
            <p:cNvSpPr/>
            <p:nvPr/>
          </p:nvSpPr>
          <p:spPr>
            <a:xfrm>
              <a:off x="0" y="0"/>
              <a:ext cx="21278100" cy="4095900"/>
            </a:xfrm>
            <a:prstGeom prst="roundRect">
              <a:avLst>
                <a:gd fmla="val 1395" name="adj"/>
              </a:avLst>
            </a:prstGeom>
            <a:solidFill>
              <a:srgbClr val="FFFFFF"/>
            </a:solidFill>
            <a:ln cap="flat" cmpd="sng" w="1430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4"/>
            <p:cNvSpPr/>
            <p:nvPr/>
          </p:nvSpPr>
          <p:spPr>
            <a:xfrm>
              <a:off x="0" y="0"/>
              <a:ext cx="21278100" cy="619200"/>
            </a:xfrm>
            <a:prstGeom prst="roundRect">
              <a:avLst>
                <a:gd fmla="val 9230" name="adj"/>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4"/>
            <p:cNvSpPr/>
            <p:nvPr/>
          </p:nvSpPr>
          <p:spPr>
            <a:xfrm>
              <a:off x="0" y="428625"/>
              <a:ext cx="21278100" cy="1905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24"/>
            <p:cNvSpPr txBox="1"/>
            <p:nvPr/>
          </p:nvSpPr>
          <p:spPr>
            <a:xfrm>
              <a:off x="285750" y="95250"/>
              <a:ext cx="207066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635">
                  <a:solidFill>
                    <a:srgbClr val="FFFFFF"/>
                  </a:solidFill>
                  <a:latin typeface="Arial"/>
                  <a:ea typeface="Arial"/>
                  <a:cs typeface="Arial"/>
                  <a:sym typeface="Arial"/>
                </a:rPr>
                <a:t>2. Main Query: Demographic Joining &amp; Temporal Filtering</a:t>
              </a:r>
              <a:endParaRPr b="1" sz="2635">
                <a:solidFill>
                  <a:srgbClr val="FFFFFF"/>
                </a:solidFill>
                <a:latin typeface="Arial"/>
                <a:ea typeface="Arial"/>
                <a:cs typeface="Arial"/>
                <a:sym typeface="Arial"/>
              </a:endParaRPr>
            </a:p>
          </p:txBody>
        </p:sp>
        <p:sp>
          <p:nvSpPr>
            <p:cNvPr id="345" name="Google Shape;345;p24"/>
            <p:cNvSpPr txBox="1"/>
            <p:nvPr/>
          </p:nvSpPr>
          <p:spPr>
            <a:xfrm>
              <a:off x="285750" y="762000"/>
              <a:ext cx="20706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80">
                  <a:solidFill>
                    <a:srgbClr val="44546A"/>
                  </a:solidFill>
                  <a:latin typeface="Arial"/>
                  <a:ea typeface="Arial"/>
                  <a:cs typeface="Arial"/>
                  <a:sym typeface="Arial"/>
                </a:rPr>
                <a:t>Join the aggregated baseline data back to demographic tables and apply the temporal cohort filter.</a:t>
              </a:r>
              <a:endParaRPr b="0" sz="2480">
                <a:solidFill>
                  <a:srgbClr val="44546A"/>
                </a:solidFill>
                <a:latin typeface="Arial"/>
                <a:ea typeface="Arial"/>
                <a:cs typeface="Arial"/>
                <a:sym typeface="Arial"/>
              </a:endParaRPr>
            </a:p>
          </p:txBody>
        </p:sp>
        <p:grpSp>
          <p:nvGrpSpPr>
            <p:cNvPr id="346" name="Google Shape;346;p24"/>
            <p:cNvGrpSpPr/>
            <p:nvPr/>
          </p:nvGrpSpPr>
          <p:grpSpPr>
            <a:xfrm>
              <a:off x="285750" y="1238250"/>
              <a:ext cx="20706600" cy="2571900"/>
              <a:chOff x="0" y="0"/>
              <a:chExt cx="20706600" cy="2571900"/>
            </a:xfrm>
          </p:grpSpPr>
          <p:sp>
            <p:nvSpPr>
              <p:cNvPr id="347" name="Google Shape;347;p24"/>
              <p:cNvSpPr/>
              <p:nvPr/>
            </p:nvSpPr>
            <p:spPr>
              <a:xfrm>
                <a:off x="0" y="0"/>
                <a:ext cx="20706600" cy="2571900"/>
              </a:xfrm>
              <a:prstGeom prst="roundRect">
                <a:avLst>
                  <a:gd fmla="val 2222"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4"/>
              <p:cNvSpPr txBox="1"/>
              <p:nvPr/>
            </p:nvSpPr>
            <p:spPr>
              <a:xfrm>
                <a:off x="285750" y="190500"/>
                <a:ext cx="20135100" cy="219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550">
                    <a:solidFill>
                      <a:srgbClr val="B9D989"/>
                    </a:solidFill>
                    <a:latin typeface="Courier New"/>
                    <a:ea typeface="Courier New"/>
                    <a:cs typeface="Courier New"/>
                    <a:sym typeface="Courier New"/>
                  </a:rPr>
                  <a:t>SELECT</a:t>
                </a:r>
                <a:r>
                  <a:rPr b="1" lang="en" sz="2550">
                    <a:solidFill>
                      <a:srgbClr val="7BC148"/>
                    </a:solidFill>
                    <a:latin typeface="Courier New"/>
                    <a:ea typeface="Courier New"/>
                    <a:cs typeface="Courier New"/>
                    <a:sym typeface="Courier New"/>
                  </a:rPr>
                  <a:t> p.person_id, c.concept_name </a:t>
                </a:r>
                <a:r>
                  <a:rPr b="1" lang="en" sz="2550">
                    <a:solidFill>
                      <a:srgbClr val="B9D989"/>
                    </a:solidFill>
                    <a:latin typeface="Courier New"/>
                    <a:ea typeface="Courier New"/>
                    <a:cs typeface="Courier New"/>
                    <a:sym typeface="Courier New"/>
                  </a:rPr>
                  <a:t>AS</a:t>
                </a:r>
                <a:r>
                  <a:rPr b="1" lang="en" sz="2550">
                    <a:solidFill>
                      <a:srgbClr val="7BC148"/>
                    </a:solidFill>
                    <a:latin typeface="Courier New"/>
                    <a:ea typeface="Courier New"/>
                    <a:cs typeface="Courier New"/>
                    <a:sym typeface="Courier New"/>
                  </a:rPr>
                  <a:t> gender, fv.first_visit_date</a:t>
                </a:r>
                <a:endParaRPr b="1" sz="2550">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2550">
                    <a:solidFill>
                      <a:srgbClr val="B9D989"/>
                    </a:solidFill>
                    <a:latin typeface="Courier New"/>
                    <a:ea typeface="Courier New"/>
                    <a:cs typeface="Courier New"/>
                    <a:sym typeface="Courier New"/>
                  </a:rPr>
                  <a:t>FROM</a:t>
                </a:r>
                <a:r>
                  <a:rPr b="1" lang="en" sz="2550">
                    <a:solidFill>
                      <a:srgbClr val="7BC148"/>
                    </a:solidFill>
                    <a:latin typeface="Courier New"/>
                    <a:ea typeface="Courier New"/>
                    <a:cs typeface="Courier New"/>
                    <a:sym typeface="Courier New"/>
                  </a:rPr>
                  <a:t> first_visits fv</a:t>
                </a:r>
                <a:endParaRPr b="1" sz="2550">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2550">
                    <a:solidFill>
                      <a:srgbClr val="B9D989"/>
                    </a:solidFill>
                    <a:latin typeface="Courier New"/>
                    <a:ea typeface="Courier New"/>
                    <a:cs typeface="Courier New"/>
                    <a:sym typeface="Courier New"/>
                  </a:rPr>
                  <a:t>JOIN</a:t>
                </a:r>
                <a:r>
                  <a:rPr b="1" lang="en" sz="2550">
                    <a:solidFill>
                      <a:srgbClr val="7BC148"/>
                    </a:solidFill>
                    <a:latin typeface="Courier New"/>
                    <a:ea typeface="Courier New"/>
                    <a:cs typeface="Courier New"/>
                    <a:sym typeface="Courier New"/>
                  </a:rPr>
                  <a:t> cdm.person p </a:t>
                </a:r>
                <a:r>
                  <a:rPr b="1" lang="en" sz="2550">
                    <a:solidFill>
                      <a:srgbClr val="B9D989"/>
                    </a:solidFill>
                    <a:latin typeface="Courier New"/>
                    <a:ea typeface="Courier New"/>
                    <a:cs typeface="Courier New"/>
                    <a:sym typeface="Courier New"/>
                  </a:rPr>
                  <a:t>ON</a:t>
                </a:r>
                <a:r>
                  <a:rPr b="1" lang="en" sz="2550">
                    <a:solidFill>
                      <a:srgbClr val="7BC148"/>
                    </a:solidFill>
                    <a:latin typeface="Courier New"/>
                    <a:ea typeface="Courier New"/>
                    <a:cs typeface="Courier New"/>
                    <a:sym typeface="Courier New"/>
                  </a:rPr>
                  <a:t> fv.person_id = p.person_id</a:t>
                </a:r>
                <a:endParaRPr b="1" sz="2550">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2550">
                    <a:solidFill>
                      <a:srgbClr val="B9D989"/>
                    </a:solidFill>
                    <a:latin typeface="Courier New"/>
                    <a:ea typeface="Courier New"/>
                    <a:cs typeface="Courier New"/>
                    <a:sym typeface="Courier New"/>
                  </a:rPr>
                  <a:t>JOIN</a:t>
                </a:r>
                <a:r>
                  <a:rPr b="1" lang="en" sz="2550">
                    <a:solidFill>
                      <a:srgbClr val="7BC148"/>
                    </a:solidFill>
                    <a:latin typeface="Courier New"/>
                    <a:ea typeface="Courier New"/>
                    <a:cs typeface="Courier New"/>
                    <a:sym typeface="Courier New"/>
                  </a:rPr>
                  <a:t> cdm.concept c </a:t>
                </a:r>
                <a:r>
                  <a:rPr b="1" lang="en" sz="2550">
                    <a:solidFill>
                      <a:srgbClr val="B9D989"/>
                    </a:solidFill>
                    <a:latin typeface="Courier New"/>
                    <a:ea typeface="Courier New"/>
                    <a:cs typeface="Courier New"/>
                    <a:sym typeface="Courier New"/>
                  </a:rPr>
                  <a:t>ON</a:t>
                </a:r>
                <a:r>
                  <a:rPr b="1" lang="en" sz="2550">
                    <a:solidFill>
                      <a:srgbClr val="7BC148"/>
                    </a:solidFill>
                    <a:latin typeface="Courier New"/>
                    <a:ea typeface="Courier New"/>
                    <a:cs typeface="Courier New"/>
                    <a:sym typeface="Courier New"/>
                  </a:rPr>
                  <a:t> p.gender_concept_id = c.concept_id</a:t>
                </a:r>
                <a:endParaRPr b="1" sz="2550">
                  <a:solidFill>
                    <a:srgbClr val="7BC148"/>
                  </a:solidFill>
                  <a:latin typeface="Courier New"/>
                  <a:ea typeface="Courier New"/>
                  <a:cs typeface="Courier New"/>
                  <a:sym typeface="Courier New"/>
                </a:endParaRPr>
              </a:p>
              <a:p>
                <a:pPr indent="0" lvl="0" marL="0" rtl="0" algn="l">
                  <a:spcBef>
                    <a:spcPts val="450"/>
                  </a:spcBef>
                  <a:spcAft>
                    <a:spcPts val="0"/>
                  </a:spcAft>
                  <a:buNone/>
                </a:pPr>
                <a:r>
                  <a:rPr b="1" lang="en" sz="2550">
                    <a:solidFill>
                      <a:srgbClr val="B9D989"/>
                    </a:solidFill>
                    <a:latin typeface="Courier New"/>
                    <a:ea typeface="Courier New"/>
                    <a:cs typeface="Courier New"/>
                    <a:sym typeface="Courier New"/>
                  </a:rPr>
                  <a:t>WHERE</a:t>
                </a:r>
                <a:r>
                  <a:rPr b="1" lang="en" sz="2550">
                    <a:solidFill>
                      <a:srgbClr val="7BC148"/>
                    </a:solidFill>
                    <a:latin typeface="Courier New"/>
                    <a:ea typeface="Courier New"/>
                    <a:cs typeface="Courier New"/>
                    <a:sym typeface="Courier New"/>
                  </a:rPr>
                  <a:t> fv.first_visit_date &gt;= </a:t>
                </a:r>
                <a:r>
                  <a:rPr b="0" lang="en" sz="2550">
                    <a:solidFill>
                      <a:srgbClr val="B9D989"/>
                    </a:solidFill>
                    <a:latin typeface="Courier New"/>
                    <a:ea typeface="Courier New"/>
                    <a:cs typeface="Courier New"/>
                    <a:sym typeface="Courier New"/>
                  </a:rPr>
                  <a:t>'2022-01-01'</a:t>
                </a:r>
                <a:r>
                  <a:rPr b="1" lang="en" sz="2550">
                    <a:solidFill>
                      <a:srgbClr val="7BC148"/>
                    </a:solidFill>
                    <a:latin typeface="Courier New"/>
                    <a:ea typeface="Courier New"/>
                    <a:cs typeface="Courier New"/>
                    <a:sym typeface="Courier New"/>
                  </a:rPr>
                  <a:t>;</a:t>
                </a:r>
                <a:endParaRPr b="1" sz="2550">
                  <a:solidFill>
                    <a:srgbClr val="7BC148"/>
                  </a:solidFill>
                  <a:latin typeface="Courier New"/>
                  <a:ea typeface="Courier New"/>
                  <a:cs typeface="Courier New"/>
                  <a:sym typeface="Courier New"/>
                </a:endParaRPr>
              </a:p>
            </p:txBody>
          </p:sp>
        </p:grpSp>
      </p:grpSp>
      <p:cxnSp>
        <p:nvCxnSpPr>
          <p:cNvPr id="349" name="Google Shape;349;p24"/>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350" name="Google Shape;350;p24"/>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25"/>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356" name="Google Shape;356;p25"/>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57" name="Google Shape;357;p25"/>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358" name="Google Shape;358;p25"/>
          <p:cNvSpPr txBox="1"/>
          <p:nvPr/>
        </p:nvSpPr>
        <p:spPr>
          <a:xfrm>
            <a:off x="1554480" y="714375"/>
            <a:ext cx="197511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930">
                <a:solidFill>
                  <a:srgbClr val="1A1A1A"/>
                </a:solidFill>
                <a:latin typeface="Arial"/>
                <a:ea typeface="Arial"/>
                <a:cs typeface="Arial"/>
                <a:sym typeface="Arial"/>
              </a:rPr>
              <a:t>CTEs Facilitate Complex Comparisons Across Visit Types Using COALESCE</a:t>
            </a:r>
            <a:endParaRPr b="1" sz="4930">
              <a:solidFill>
                <a:srgbClr val="1A1A1A"/>
              </a:solidFill>
              <a:latin typeface="Arial"/>
              <a:ea typeface="Arial"/>
              <a:cs typeface="Arial"/>
              <a:sym typeface="Arial"/>
            </a:endParaRPr>
          </a:p>
        </p:txBody>
      </p:sp>
      <p:sp>
        <p:nvSpPr>
          <p:cNvPr id="359" name="Google Shape;359;p25"/>
          <p:cNvSpPr txBox="1"/>
          <p:nvPr/>
        </p:nvSpPr>
        <p:spPr>
          <a:xfrm>
            <a:off x="1554480" y="2333625"/>
            <a:ext cx="212781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7BC148"/>
                </a:solidFill>
                <a:latin typeface="Arial"/>
                <a:ea typeface="Arial"/>
                <a:cs typeface="Arial"/>
                <a:sym typeface="Arial"/>
              </a:rPr>
              <a:t>Scenario:</a:t>
            </a:r>
            <a:r>
              <a:rPr b="0" lang="en" sz="3200">
                <a:solidFill>
                  <a:srgbClr val="44546A"/>
                </a:solidFill>
                <a:latin typeface="Arial"/>
                <a:ea typeface="Arial"/>
                <a:cs typeface="Arial"/>
                <a:sym typeface="Arial"/>
              </a:rPr>
              <a:t> "How do condition counts differ between inpatient and outpatient visits?"</a:t>
            </a:r>
            <a:endParaRPr b="0" sz="3200">
              <a:solidFill>
                <a:srgbClr val="44546A"/>
              </a:solidFill>
              <a:latin typeface="Arial"/>
              <a:ea typeface="Arial"/>
              <a:cs typeface="Arial"/>
              <a:sym typeface="Arial"/>
            </a:endParaRPr>
          </a:p>
        </p:txBody>
      </p:sp>
      <p:grpSp>
        <p:nvGrpSpPr>
          <p:cNvPr id="360" name="Google Shape;360;p25"/>
          <p:cNvGrpSpPr/>
          <p:nvPr/>
        </p:nvGrpSpPr>
        <p:grpSpPr>
          <a:xfrm>
            <a:off x="1554480" y="3143250"/>
            <a:ext cx="6838200" cy="3429000"/>
            <a:chOff x="0" y="0"/>
            <a:chExt cx="6838200" cy="3429000"/>
          </a:xfrm>
        </p:grpSpPr>
        <p:sp>
          <p:nvSpPr>
            <p:cNvPr id="361" name="Google Shape;361;p25"/>
            <p:cNvSpPr/>
            <p:nvPr/>
          </p:nvSpPr>
          <p:spPr>
            <a:xfrm>
              <a:off x="0" y="0"/>
              <a:ext cx="6838200" cy="3429000"/>
            </a:xfrm>
            <a:prstGeom prst="roundRect">
              <a:avLst>
                <a:gd fmla="val 1666" name="adj"/>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5"/>
            <p:cNvSpPr/>
            <p:nvPr/>
          </p:nvSpPr>
          <p:spPr>
            <a:xfrm>
              <a:off x="0" y="0"/>
              <a:ext cx="6838200" cy="714300"/>
            </a:xfrm>
            <a:prstGeom prst="roundRect">
              <a:avLst>
                <a:gd fmla="val 8000"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5"/>
            <p:cNvSpPr/>
            <p:nvPr/>
          </p:nvSpPr>
          <p:spPr>
            <a:xfrm>
              <a:off x="0" y="619125"/>
              <a:ext cx="6838200" cy="9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5"/>
            <p:cNvSpPr txBox="1"/>
            <p:nvPr/>
          </p:nvSpPr>
          <p:spPr>
            <a:xfrm>
              <a:off x="228600" y="0"/>
              <a:ext cx="6381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Arial"/>
                  <a:ea typeface="Arial"/>
                  <a:cs typeface="Arial"/>
                  <a:sym typeface="Arial"/>
                </a:rPr>
                <a:t>CTE 1: visit_conditions</a:t>
              </a:r>
              <a:endParaRPr b="1" sz="2800">
                <a:solidFill>
                  <a:srgbClr val="FFFFFF"/>
                </a:solidFill>
                <a:latin typeface="Arial"/>
                <a:ea typeface="Arial"/>
                <a:cs typeface="Arial"/>
                <a:sym typeface="Arial"/>
              </a:endParaRPr>
            </a:p>
          </p:txBody>
        </p:sp>
        <p:sp>
          <p:nvSpPr>
            <p:cNvPr id="365" name="Google Shape;365;p25"/>
            <p:cNvSpPr txBox="1"/>
            <p:nvPr/>
          </p:nvSpPr>
          <p:spPr>
            <a:xfrm>
              <a:off x="228600" y="904875"/>
              <a:ext cx="638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44546A"/>
                  </a:solidFill>
                  <a:latin typeface="Arial"/>
                  <a:ea typeface="Arial"/>
                  <a:cs typeface="Arial"/>
                  <a:sym typeface="Arial"/>
                </a:rPr>
                <a:t>JOIN</a:t>
              </a:r>
              <a:r>
                <a:rPr b="0" lang="en" sz="2600">
                  <a:solidFill>
                    <a:srgbClr val="1A1A1A"/>
                  </a:solidFill>
                  <a:latin typeface="Arial"/>
                  <a:ea typeface="Arial"/>
                  <a:cs typeface="Arial"/>
                  <a:sym typeface="Arial"/>
                </a:rPr>
                <a:t> visit_occurrence &amp; condition_occurrence</a:t>
              </a:r>
              <a:endParaRPr b="0" sz="2600">
                <a:solidFill>
                  <a:srgbClr val="1A1A1A"/>
                </a:solidFill>
                <a:latin typeface="Arial"/>
                <a:ea typeface="Arial"/>
                <a:cs typeface="Arial"/>
                <a:sym typeface="Arial"/>
              </a:endParaRPr>
            </a:p>
            <a:p>
              <a:pPr indent="0" lvl="0" marL="0" rtl="0" algn="l">
                <a:spcBef>
                  <a:spcPts val="900"/>
                </a:spcBef>
                <a:spcAft>
                  <a:spcPts val="0"/>
                </a:spcAft>
                <a:buNone/>
              </a:pPr>
              <a:r>
                <a:rPr b="0" lang="en" sz="2600">
                  <a:solidFill>
                    <a:srgbClr val="1A1A1A"/>
                  </a:solidFill>
                  <a:latin typeface="Arial"/>
                  <a:ea typeface="Arial"/>
                  <a:cs typeface="Arial"/>
                  <a:sym typeface="Arial"/>
                </a:rPr>
                <a:t>Links conditions directly to their visit types.</a:t>
              </a:r>
              <a:endParaRPr b="0" sz="2600">
                <a:solidFill>
                  <a:srgbClr val="1A1A1A"/>
                </a:solidFill>
                <a:latin typeface="Arial"/>
                <a:ea typeface="Arial"/>
                <a:cs typeface="Arial"/>
                <a:sym typeface="Arial"/>
              </a:endParaRPr>
            </a:p>
          </p:txBody>
        </p:sp>
      </p:grpSp>
      <p:grpSp>
        <p:nvGrpSpPr>
          <p:cNvPr id="366" name="Google Shape;366;p25"/>
          <p:cNvGrpSpPr/>
          <p:nvPr/>
        </p:nvGrpSpPr>
        <p:grpSpPr>
          <a:xfrm>
            <a:off x="8773668" y="3143250"/>
            <a:ext cx="6838200" cy="3429000"/>
            <a:chOff x="0" y="0"/>
            <a:chExt cx="6838200" cy="3429000"/>
          </a:xfrm>
        </p:grpSpPr>
        <p:sp>
          <p:nvSpPr>
            <p:cNvPr id="367" name="Google Shape;367;p25"/>
            <p:cNvSpPr/>
            <p:nvPr/>
          </p:nvSpPr>
          <p:spPr>
            <a:xfrm>
              <a:off x="0" y="0"/>
              <a:ext cx="6838200" cy="3429000"/>
            </a:xfrm>
            <a:prstGeom prst="roundRect">
              <a:avLst>
                <a:gd fmla="val 1666" name="adj"/>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5"/>
            <p:cNvSpPr/>
            <p:nvPr/>
          </p:nvSpPr>
          <p:spPr>
            <a:xfrm>
              <a:off x="0" y="0"/>
              <a:ext cx="6838200" cy="714300"/>
            </a:xfrm>
            <a:prstGeom prst="roundRect">
              <a:avLst>
                <a:gd fmla="val 8000"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5"/>
            <p:cNvSpPr/>
            <p:nvPr/>
          </p:nvSpPr>
          <p:spPr>
            <a:xfrm>
              <a:off x="0" y="619125"/>
              <a:ext cx="6838200" cy="9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5"/>
            <p:cNvSpPr txBox="1"/>
            <p:nvPr/>
          </p:nvSpPr>
          <p:spPr>
            <a:xfrm>
              <a:off x="228600" y="0"/>
              <a:ext cx="6381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Arial"/>
                  <a:ea typeface="Arial"/>
                  <a:cs typeface="Arial"/>
                  <a:sym typeface="Arial"/>
                </a:rPr>
                <a:t>CTE 2: inpatient_counts</a:t>
              </a:r>
              <a:endParaRPr b="1" sz="2800">
                <a:solidFill>
                  <a:srgbClr val="FFFFFF"/>
                </a:solidFill>
                <a:latin typeface="Arial"/>
                <a:ea typeface="Arial"/>
                <a:cs typeface="Arial"/>
                <a:sym typeface="Arial"/>
              </a:endParaRPr>
            </a:p>
          </p:txBody>
        </p:sp>
        <p:sp>
          <p:nvSpPr>
            <p:cNvPr id="371" name="Google Shape;371;p25"/>
            <p:cNvSpPr txBox="1"/>
            <p:nvPr/>
          </p:nvSpPr>
          <p:spPr>
            <a:xfrm>
              <a:off x="228600" y="904875"/>
              <a:ext cx="638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1A1A1A"/>
                  </a:solidFill>
                  <a:latin typeface="Arial"/>
                  <a:ea typeface="Arial"/>
                  <a:cs typeface="Arial"/>
                  <a:sym typeface="Arial"/>
                </a:rPr>
                <a:t>Filter </a:t>
              </a:r>
              <a:r>
                <a:rPr b="1" lang="en" sz="2600">
                  <a:solidFill>
                    <a:srgbClr val="44546A"/>
                  </a:solidFill>
                  <a:latin typeface="Arial"/>
                  <a:ea typeface="Arial"/>
                  <a:cs typeface="Arial"/>
                  <a:sym typeface="Arial"/>
                </a:rPr>
                <a:t>visit_conditions</a:t>
              </a:r>
              <a:r>
                <a:rPr b="0" lang="en" sz="2600">
                  <a:solidFill>
                    <a:srgbClr val="1A1A1A"/>
                  </a:solidFill>
                  <a:latin typeface="Arial"/>
                  <a:ea typeface="Arial"/>
                  <a:cs typeface="Arial"/>
                  <a:sym typeface="Arial"/>
                </a:rPr>
                <a:t> for:</a:t>
              </a:r>
              <a:endParaRPr b="0" sz="2600">
                <a:solidFill>
                  <a:srgbClr val="1A1A1A"/>
                </a:solidFill>
                <a:latin typeface="Arial"/>
                <a:ea typeface="Arial"/>
                <a:cs typeface="Arial"/>
                <a:sym typeface="Arial"/>
              </a:endParaRPr>
            </a:p>
            <a:p>
              <a:pPr indent="0" lvl="0" marL="0" rtl="0" algn="l">
                <a:spcBef>
                  <a:spcPts val="900"/>
                </a:spcBef>
                <a:spcAft>
                  <a:spcPts val="0"/>
                </a:spcAft>
                <a:buNone/>
              </a:pPr>
              <a:r>
                <a:rPr b="1" lang="en" sz="2600">
                  <a:solidFill>
                    <a:srgbClr val="7BC148"/>
                  </a:solidFill>
                  <a:latin typeface="Arial"/>
                  <a:ea typeface="Arial"/>
                  <a:cs typeface="Arial"/>
                  <a:sym typeface="Arial"/>
                </a:rPr>
                <a:t>visit_concept_id = 9201</a:t>
              </a:r>
              <a:r>
                <a:rPr b="0" lang="en" sz="2600">
                  <a:solidFill>
                    <a:srgbClr val="1A1A1A"/>
                  </a:solidFill>
                  <a:latin typeface="Arial"/>
                  <a:ea typeface="Arial"/>
                  <a:cs typeface="Arial"/>
                  <a:sym typeface="Arial"/>
                </a:rPr>
                <a:t> (Inpatient)</a:t>
              </a:r>
              <a:endParaRPr b="0" sz="2600">
                <a:solidFill>
                  <a:srgbClr val="1A1A1A"/>
                </a:solidFill>
                <a:latin typeface="Arial"/>
                <a:ea typeface="Arial"/>
                <a:cs typeface="Arial"/>
                <a:sym typeface="Arial"/>
              </a:endParaRPr>
            </a:p>
            <a:p>
              <a:pPr indent="0" lvl="0" marL="0" rtl="0" algn="l">
                <a:spcBef>
                  <a:spcPts val="900"/>
                </a:spcBef>
                <a:spcAft>
                  <a:spcPts val="0"/>
                </a:spcAft>
                <a:buNone/>
              </a:pPr>
              <a:r>
                <a:rPr b="0" lang="en" sz="2600">
                  <a:solidFill>
                    <a:srgbClr val="1A1A1A"/>
                  </a:solidFill>
                  <a:latin typeface="Arial"/>
                  <a:ea typeface="Arial"/>
                  <a:cs typeface="Arial"/>
                  <a:sym typeface="Arial"/>
                </a:rPr>
                <a:t>Counts conditions by concept.</a:t>
              </a:r>
              <a:endParaRPr b="0" sz="2600">
                <a:solidFill>
                  <a:srgbClr val="1A1A1A"/>
                </a:solidFill>
                <a:latin typeface="Arial"/>
                <a:ea typeface="Arial"/>
                <a:cs typeface="Arial"/>
                <a:sym typeface="Arial"/>
              </a:endParaRPr>
            </a:p>
          </p:txBody>
        </p:sp>
      </p:grpSp>
      <p:grpSp>
        <p:nvGrpSpPr>
          <p:cNvPr id="372" name="Google Shape;372;p25"/>
          <p:cNvGrpSpPr/>
          <p:nvPr/>
        </p:nvGrpSpPr>
        <p:grpSpPr>
          <a:xfrm>
            <a:off x="15992856" y="3143250"/>
            <a:ext cx="6838200" cy="3429000"/>
            <a:chOff x="0" y="0"/>
            <a:chExt cx="6838200" cy="3429000"/>
          </a:xfrm>
        </p:grpSpPr>
        <p:sp>
          <p:nvSpPr>
            <p:cNvPr id="373" name="Google Shape;373;p25"/>
            <p:cNvSpPr/>
            <p:nvPr/>
          </p:nvSpPr>
          <p:spPr>
            <a:xfrm>
              <a:off x="0" y="0"/>
              <a:ext cx="6838200" cy="3429000"/>
            </a:xfrm>
            <a:prstGeom prst="roundRect">
              <a:avLst>
                <a:gd fmla="val 1666" name="adj"/>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5"/>
            <p:cNvSpPr/>
            <p:nvPr/>
          </p:nvSpPr>
          <p:spPr>
            <a:xfrm>
              <a:off x="0" y="0"/>
              <a:ext cx="6838200" cy="714300"/>
            </a:xfrm>
            <a:prstGeom prst="roundRect">
              <a:avLst>
                <a:gd fmla="val 8000"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5"/>
            <p:cNvSpPr/>
            <p:nvPr/>
          </p:nvSpPr>
          <p:spPr>
            <a:xfrm>
              <a:off x="0" y="619125"/>
              <a:ext cx="6838200" cy="9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5"/>
            <p:cNvSpPr txBox="1"/>
            <p:nvPr/>
          </p:nvSpPr>
          <p:spPr>
            <a:xfrm>
              <a:off x="228600" y="0"/>
              <a:ext cx="6381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Arial"/>
                  <a:ea typeface="Arial"/>
                  <a:cs typeface="Arial"/>
                  <a:sym typeface="Arial"/>
                </a:rPr>
                <a:t>CTE 3: outpatient_counts</a:t>
              </a:r>
              <a:endParaRPr b="1" sz="2800">
                <a:solidFill>
                  <a:srgbClr val="FFFFFF"/>
                </a:solidFill>
                <a:latin typeface="Arial"/>
                <a:ea typeface="Arial"/>
                <a:cs typeface="Arial"/>
                <a:sym typeface="Arial"/>
              </a:endParaRPr>
            </a:p>
          </p:txBody>
        </p:sp>
        <p:sp>
          <p:nvSpPr>
            <p:cNvPr id="377" name="Google Shape;377;p25"/>
            <p:cNvSpPr txBox="1"/>
            <p:nvPr/>
          </p:nvSpPr>
          <p:spPr>
            <a:xfrm>
              <a:off x="228600" y="904875"/>
              <a:ext cx="638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00">
                  <a:solidFill>
                    <a:srgbClr val="1A1A1A"/>
                  </a:solidFill>
                  <a:latin typeface="Arial"/>
                  <a:ea typeface="Arial"/>
                  <a:cs typeface="Arial"/>
                  <a:sym typeface="Arial"/>
                </a:rPr>
                <a:t>Filter </a:t>
              </a:r>
              <a:r>
                <a:rPr b="1" lang="en" sz="2600">
                  <a:solidFill>
                    <a:srgbClr val="44546A"/>
                  </a:solidFill>
                  <a:latin typeface="Arial"/>
                  <a:ea typeface="Arial"/>
                  <a:cs typeface="Arial"/>
                  <a:sym typeface="Arial"/>
                </a:rPr>
                <a:t>visit_conditions</a:t>
              </a:r>
              <a:r>
                <a:rPr b="0" lang="en" sz="2600">
                  <a:solidFill>
                    <a:srgbClr val="1A1A1A"/>
                  </a:solidFill>
                  <a:latin typeface="Arial"/>
                  <a:ea typeface="Arial"/>
                  <a:cs typeface="Arial"/>
                  <a:sym typeface="Arial"/>
                </a:rPr>
                <a:t> for:</a:t>
              </a:r>
              <a:endParaRPr b="0" sz="2600">
                <a:solidFill>
                  <a:srgbClr val="1A1A1A"/>
                </a:solidFill>
                <a:latin typeface="Arial"/>
                <a:ea typeface="Arial"/>
                <a:cs typeface="Arial"/>
                <a:sym typeface="Arial"/>
              </a:endParaRPr>
            </a:p>
            <a:p>
              <a:pPr indent="0" lvl="0" marL="0" rtl="0" algn="l">
                <a:spcBef>
                  <a:spcPts val="900"/>
                </a:spcBef>
                <a:spcAft>
                  <a:spcPts val="0"/>
                </a:spcAft>
                <a:buNone/>
              </a:pPr>
              <a:r>
                <a:rPr b="1" lang="en" sz="2600">
                  <a:solidFill>
                    <a:srgbClr val="7BC148"/>
                  </a:solidFill>
                  <a:latin typeface="Arial"/>
                  <a:ea typeface="Arial"/>
                  <a:cs typeface="Arial"/>
                  <a:sym typeface="Arial"/>
                </a:rPr>
                <a:t>visit_concept_id = 9202</a:t>
              </a:r>
              <a:r>
                <a:rPr b="0" lang="en" sz="2600">
                  <a:solidFill>
                    <a:srgbClr val="1A1A1A"/>
                  </a:solidFill>
                  <a:latin typeface="Arial"/>
                  <a:ea typeface="Arial"/>
                  <a:cs typeface="Arial"/>
                  <a:sym typeface="Arial"/>
                </a:rPr>
                <a:t> (Outpatient)</a:t>
              </a:r>
              <a:endParaRPr b="0" sz="2600">
                <a:solidFill>
                  <a:srgbClr val="1A1A1A"/>
                </a:solidFill>
                <a:latin typeface="Arial"/>
                <a:ea typeface="Arial"/>
                <a:cs typeface="Arial"/>
                <a:sym typeface="Arial"/>
              </a:endParaRPr>
            </a:p>
            <a:p>
              <a:pPr indent="0" lvl="0" marL="0" rtl="0" algn="l">
                <a:spcBef>
                  <a:spcPts val="900"/>
                </a:spcBef>
                <a:spcAft>
                  <a:spcPts val="0"/>
                </a:spcAft>
                <a:buNone/>
              </a:pPr>
              <a:r>
                <a:rPr b="0" lang="en" sz="2600">
                  <a:solidFill>
                    <a:srgbClr val="1A1A1A"/>
                  </a:solidFill>
                  <a:latin typeface="Arial"/>
                  <a:ea typeface="Arial"/>
                  <a:cs typeface="Arial"/>
                  <a:sym typeface="Arial"/>
                </a:rPr>
                <a:t>Counts conditions by concept.</a:t>
              </a:r>
              <a:endParaRPr b="0" sz="2600">
                <a:solidFill>
                  <a:srgbClr val="1A1A1A"/>
                </a:solidFill>
                <a:latin typeface="Arial"/>
                <a:ea typeface="Arial"/>
                <a:cs typeface="Arial"/>
                <a:sym typeface="Arial"/>
              </a:endParaRPr>
            </a:p>
          </p:txBody>
        </p:sp>
      </p:grpSp>
      <p:grpSp>
        <p:nvGrpSpPr>
          <p:cNvPr id="378" name="Google Shape;378;p25"/>
          <p:cNvGrpSpPr/>
          <p:nvPr/>
        </p:nvGrpSpPr>
        <p:grpSpPr>
          <a:xfrm>
            <a:off x="1554480" y="6953250"/>
            <a:ext cx="10396800" cy="5143500"/>
            <a:chOff x="0" y="0"/>
            <a:chExt cx="10396800" cy="5143500"/>
          </a:xfrm>
        </p:grpSpPr>
        <p:sp>
          <p:nvSpPr>
            <p:cNvPr id="379" name="Google Shape;379;p25"/>
            <p:cNvSpPr/>
            <p:nvPr/>
          </p:nvSpPr>
          <p:spPr>
            <a:xfrm>
              <a:off x="0" y="0"/>
              <a:ext cx="10396800" cy="5143500"/>
            </a:xfrm>
            <a:prstGeom prst="roundRect">
              <a:avLst>
                <a:gd fmla="val 1481" name="adj"/>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25"/>
            <p:cNvSpPr txBox="1"/>
            <p:nvPr/>
          </p:nvSpPr>
          <p:spPr>
            <a:xfrm>
              <a:off x="428625" y="428625"/>
              <a:ext cx="95394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200">
                  <a:solidFill>
                    <a:srgbClr val="FFFFFF"/>
                  </a:solidFill>
                  <a:latin typeface="Arial"/>
                  <a:ea typeface="Arial"/>
                  <a:cs typeface="Arial"/>
                  <a:sym typeface="Arial"/>
                </a:rPr>
                <a:t>Main Query: FULL OUTER JOIN</a:t>
              </a:r>
              <a:endParaRPr b="1" sz="4200">
                <a:solidFill>
                  <a:srgbClr val="FFFFFF"/>
                </a:solidFill>
                <a:latin typeface="Arial"/>
                <a:ea typeface="Arial"/>
                <a:cs typeface="Arial"/>
                <a:sym typeface="Arial"/>
              </a:endParaRPr>
            </a:p>
          </p:txBody>
        </p:sp>
        <p:sp>
          <p:nvSpPr>
            <p:cNvPr id="381" name="Google Shape;381;p25"/>
            <p:cNvSpPr txBox="1"/>
            <p:nvPr/>
          </p:nvSpPr>
          <p:spPr>
            <a:xfrm>
              <a:off x="428625" y="1381125"/>
              <a:ext cx="95394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200">
                  <a:solidFill>
                    <a:srgbClr val="FFFFFF"/>
                  </a:solidFill>
                  <a:latin typeface="Arial"/>
                  <a:ea typeface="Arial"/>
                  <a:cs typeface="Arial"/>
                  <a:sym typeface="Arial"/>
                </a:rPr>
                <a:t>To compare visit types, use a </a:t>
              </a:r>
              <a:r>
                <a:rPr b="1" lang="en" sz="3200">
                  <a:solidFill>
                    <a:srgbClr val="B9D989"/>
                  </a:solidFill>
                  <a:latin typeface="Arial"/>
                  <a:ea typeface="Arial"/>
                  <a:cs typeface="Arial"/>
                  <a:sym typeface="Arial"/>
                </a:rPr>
                <a:t>FULL OUTER JOIN</a:t>
              </a:r>
              <a:r>
                <a:rPr b="0" lang="en" sz="3200">
                  <a:solidFill>
                    <a:srgbClr val="FFFFFF"/>
                  </a:solidFill>
                  <a:latin typeface="Arial"/>
                  <a:ea typeface="Arial"/>
                  <a:cs typeface="Arial"/>
                  <a:sym typeface="Arial"/>
                </a:rPr>
                <a:t> on </a:t>
              </a:r>
              <a:r>
                <a:rPr b="1" lang="en" sz="3200">
                  <a:solidFill>
                    <a:srgbClr val="FFFFFF"/>
                  </a:solidFill>
                  <a:latin typeface="Arial"/>
                  <a:ea typeface="Arial"/>
                  <a:cs typeface="Arial"/>
                  <a:sym typeface="Arial"/>
                </a:rPr>
                <a:t>condition_concept_id</a:t>
              </a:r>
              <a:r>
                <a:rPr b="0" lang="en" sz="3200">
                  <a:solidFill>
                    <a:srgbClr val="FFFFFF"/>
                  </a:solidFill>
                  <a:latin typeface="Arial"/>
                  <a:ea typeface="Arial"/>
                  <a:cs typeface="Arial"/>
                  <a:sym typeface="Arial"/>
                </a:rPr>
                <a:t>.</a:t>
              </a:r>
              <a:endParaRPr b="0" sz="3200">
                <a:solidFill>
                  <a:srgbClr val="FFFFFF"/>
                </a:solidFill>
                <a:latin typeface="Arial"/>
                <a:ea typeface="Arial"/>
                <a:cs typeface="Arial"/>
                <a:sym typeface="Arial"/>
              </a:endParaRPr>
            </a:p>
            <a:p>
              <a:pPr indent="0" lvl="0" marL="0" rtl="0" algn="l">
                <a:spcBef>
                  <a:spcPts val="1500"/>
                </a:spcBef>
                <a:spcAft>
                  <a:spcPts val="0"/>
                </a:spcAft>
                <a:buNone/>
              </a:pPr>
              <a:r>
                <a:rPr b="0" lang="en" sz="3200">
                  <a:solidFill>
                    <a:srgbClr val="F4F9EE"/>
                  </a:solidFill>
                  <a:latin typeface="Arial"/>
                  <a:ea typeface="Arial"/>
                  <a:cs typeface="Arial"/>
                  <a:sym typeface="Arial"/>
                </a:rPr>
                <a:t>Necessary because some conditions occur exclusively in one setting (inpatient or outpatient).</a:t>
              </a:r>
              <a:endParaRPr b="0" sz="3200">
                <a:solidFill>
                  <a:srgbClr val="F4F9EE"/>
                </a:solidFill>
                <a:latin typeface="Arial"/>
                <a:ea typeface="Arial"/>
                <a:cs typeface="Arial"/>
                <a:sym typeface="Arial"/>
              </a:endParaRPr>
            </a:p>
          </p:txBody>
        </p:sp>
      </p:grpSp>
      <p:grpSp>
        <p:nvGrpSpPr>
          <p:cNvPr id="382" name="Google Shape;382;p25"/>
          <p:cNvGrpSpPr/>
          <p:nvPr/>
        </p:nvGrpSpPr>
        <p:grpSpPr>
          <a:xfrm>
            <a:off x="12435840" y="6953250"/>
            <a:ext cx="10396800" cy="5143500"/>
            <a:chOff x="0" y="0"/>
            <a:chExt cx="10396800" cy="5143500"/>
          </a:xfrm>
        </p:grpSpPr>
        <p:sp>
          <p:nvSpPr>
            <p:cNvPr id="383" name="Google Shape;383;p25"/>
            <p:cNvSpPr/>
            <p:nvPr/>
          </p:nvSpPr>
          <p:spPr>
            <a:xfrm>
              <a:off x="0" y="0"/>
              <a:ext cx="10396800" cy="5143500"/>
            </a:xfrm>
            <a:prstGeom prst="roundRect">
              <a:avLst>
                <a:gd fmla="val 1481" name="adj"/>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5"/>
            <p:cNvSpPr txBox="1"/>
            <p:nvPr/>
          </p:nvSpPr>
          <p:spPr>
            <a:xfrm>
              <a:off x="428625" y="428625"/>
              <a:ext cx="95394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200">
                  <a:solidFill>
                    <a:srgbClr val="FFFFFF"/>
                  </a:solidFill>
                  <a:latin typeface="Arial"/>
                  <a:ea typeface="Arial"/>
                  <a:cs typeface="Arial"/>
                  <a:sym typeface="Arial"/>
                </a:rPr>
                <a:t>COALESCE(value, 0) Function</a:t>
              </a:r>
              <a:endParaRPr b="1" sz="4200">
                <a:solidFill>
                  <a:srgbClr val="FFFFFF"/>
                </a:solidFill>
                <a:latin typeface="Arial"/>
                <a:ea typeface="Arial"/>
                <a:cs typeface="Arial"/>
                <a:sym typeface="Arial"/>
              </a:endParaRPr>
            </a:p>
          </p:txBody>
        </p:sp>
        <p:sp>
          <p:nvSpPr>
            <p:cNvPr id="385" name="Google Shape;385;p25"/>
            <p:cNvSpPr txBox="1"/>
            <p:nvPr/>
          </p:nvSpPr>
          <p:spPr>
            <a:xfrm>
              <a:off x="428625" y="1381125"/>
              <a:ext cx="95394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200">
                  <a:solidFill>
                    <a:srgbClr val="FFFFFF"/>
                  </a:solidFill>
                  <a:latin typeface="Arial"/>
                  <a:ea typeface="Arial"/>
                  <a:cs typeface="Arial"/>
                  <a:sym typeface="Arial"/>
                </a:rPr>
                <a:t>Use </a:t>
              </a:r>
              <a:r>
                <a:rPr b="1" lang="en" sz="3200">
                  <a:solidFill>
                    <a:srgbClr val="1A1A1A"/>
                  </a:solidFill>
                  <a:latin typeface="Arial"/>
                  <a:ea typeface="Arial"/>
                  <a:cs typeface="Arial"/>
                  <a:sym typeface="Arial"/>
                </a:rPr>
                <a:t>COALESCE(value, 0)</a:t>
              </a:r>
              <a:r>
                <a:rPr b="0" lang="en" sz="3200">
                  <a:solidFill>
                    <a:srgbClr val="FFFFFF"/>
                  </a:solidFill>
                  <a:latin typeface="Arial"/>
                  <a:ea typeface="Arial"/>
                  <a:cs typeface="Arial"/>
                  <a:sym typeface="Arial"/>
                </a:rPr>
                <a:t> to handle resulting </a:t>
              </a:r>
              <a:r>
                <a:rPr b="1" lang="en" sz="3200">
                  <a:solidFill>
                    <a:srgbClr val="FFFFFF"/>
                  </a:solidFill>
                  <a:latin typeface="Arial"/>
                  <a:ea typeface="Arial"/>
                  <a:cs typeface="Arial"/>
                  <a:sym typeface="Arial"/>
                </a:rPr>
                <a:t>NULL</a:t>
              </a:r>
              <a:r>
                <a:rPr b="0" lang="en" sz="3200">
                  <a:solidFill>
                    <a:srgbClr val="FFFFFF"/>
                  </a:solidFill>
                  <a:latin typeface="Arial"/>
                  <a:ea typeface="Arial"/>
                  <a:cs typeface="Arial"/>
                  <a:sym typeface="Arial"/>
                </a:rPr>
                <a:t> values.</a:t>
              </a:r>
              <a:endParaRPr b="0" sz="3200">
                <a:solidFill>
                  <a:srgbClr val="FFFFFF"/>
                </a:solidFill>
                <a:latin typeface="Arial"/>
                <a:ea typeface="Arial"/>
                <a:cs typeface="Arial"/>
                <a:sym typeface="Arial"/>
              </a:endParaRPr>
            </a:p>
            <a:p>
              <a:pPr indent="0" lvl="0" marL="0" rtl="0" algn="l">
                <a:spcBef>
                  <a:spcPts val="1500"/>
                </a:spcBef>
                <a:spcAft>
                  <a:spcPts val="0"/>
                </a:spcAft>
                <a:buNone/>
              </a:pPr>
              <a:r>
                <a:rPr b="0" lang="en" sz="3200">
                  <a:solidFill>
                    <a:srgbClr val="FFFFFF"/>
                  </a:solidFill>
                  <a:latin typeface="Arial"/>
                  <a:ea typeface="Arial"/>
                  <a:cs typeface="Arial"/>
                  <a:sym typeface="Arial"/>
                </a:rPr>
                <a:t>When a condition appears in only one visit type, COALESCE converts NULLs to zero, ensuring accurate mathematical comparisons.</a:t>
              </a:r>
              <a:endParaRPr b="0" sz="3200">
                <a:solidFill>
                  <a:srgbClr val="FFFFFF"/>
                </a:solidFill>
                <a:latin typeface="Arial"/>
                <a:ea typeface="Arial"/>
                <a:cs typeface="Arial"/>
                <a:sym typeface="Arial"/>
              </a:endParaRPr>
            </a:p>
          </p:txBody>
        </p:sp>
      </p:grpSp>
      <p:cxnSp>
        <p:nvCxnSpPr>
          <p:cNvPr id="386" name="Google Shape;386;p25"/>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387" name="Google Shape;387;p25"/>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
        <p:nvSpPr>
          <p:cNvPr id="388" name="Google Shape;388;p25"/>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26"/>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394" name="Google Shape;394;p26"/>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95" name="Google Shape;395;p26"/>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396" name="Google Shape;396;p26"/>
          <p:cNvSpPr txBox="1"/>
          <p:nvPr/>
        </p:nvSpPr>
        <p:spPr>
          <a:xfrm>
            <a:off x="1554480" y="868680"/>
            <a:ext cx="197511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660">
                <a:solidFill>
                  <a:srgbClr val="1A1A1A"/>
                </a:solidFill>
                <a:latin typeface="Arial"/>
                <a:ea typeface="Arial"/>
                <a:cs typeface="Arial"/>
                <a:sym typeface="Arial"/>
              </a:rPr>
              <a:t>CTEs and Window Functions Enable Chronological Patient Timelines</a:t>
            </a:r>
            <a:endParaRPr b="1" sz="6660">
              <a:solidFill>
                <a:srgbClr val="1A1A1A"/>
              </a:solidFill>
              <a:latin typeface="Arial"/>
              <a:ea typeface="Arial"/>
              <a:cs typeface="Arial"/>
              <a:sym typeface="Arial"/>
            </a:endParaRPr>
          </a:p>
        </p:txBody>
      </p:sp>
      <p:grpSp>
        <p:nvGrpSpPr>
          <p:cNvPr id="397" name="Google Shape;397;p26"/>
          <p:cNvGrpSpPr/>
          <p:nvPr/>
        </p:nvGrpSpPr>
        <p:grpSpPr>
          <a:xfrm>
            <a:off x="1554480" y="3143250"/>
            <a:ext cx="21278100" cy="1333500"/>
            <a:chOff x="0" y="0"/>
            <a:chExt cx="21278100" cy="1333500"/>
          </a:xfrm>
        </p:grpSpPr>
        <p:sp>
          <p:nvSpPr>
            <p:cNvPr id="398" name="Google Shape;398;p26"/>
            <p:cNvSpPr/>
            <p:nvPr/>
          </p:nvSpPr>
          <p:spPr>
            <a:xfrm>
              <a:off x="0" y="0"/>
              <a:ext cx="21278100" cy="1333500"/>
            </a:xfrm>
            <a:prstGeom prst="roundRect">
              <a:avLst>
                <a:gd fmla="val 0" name="adj"/>
              </a:avLst>
            </a:prstGeom>
            <a:solidFill>
              <a:srgbClr val="F4F9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6"/>
            <p:cNvSpPr/>
            <p:nvPr/>
          </p:nvSpPr>
          <p:spPr>
            <a:xfrm>
              <a:off x="0" y="0"/>
              <a:ext cx="114300" cy="1333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6"/>
            <p:cNvSpPr txBox="1"/>
            <p:nvPr/>
          </p:nvSpPr>
          <p:spPr>
            <a:xfrm>
              <a:off x="342900" y="152400"/>
              <a:ext cx="20574000" cy="10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000">
                  <a:solidFill>
                    <a:srgbClr val="7BC148"/>
                  </a:solidFill>
                  <a:latin typeface="Arial"/>
                  <a:ea typeface="Arial"/>
                  <a:cs typeface="Arial"/>
                  <a:sym typeface="Arial"/>
                </a:rPr>
                <a:t>Scenario:</a:t>
              </a:r>
              <a:r>
                <a:rPr lang="en" sz="3000">
                  <a:solidFill>
                    <a:srgbClr val="1A1A1A"/>
                  </a:solidFill>
                  <a:latin typeface="Arial"/>
                  <a:ea typeface="Arial"/>
                  <a:cs typeface="Arial"/>
                  <a:sym typeface="Arial"/>
                </a:rPr>
                <a:t> "For a specific patient, show all their conditions in chronological order with the time gap between each one."</a:t>
              </a:r>
              <a:endParaRPr sz="3000">
                <a:solidFill>
                  <a:srgbClr val="1A1A1A"/>
                </a:solidFill>
                <a:latin typeface="Arial"/>
                <a:ea typeface="Arial"/>
                <a:cs typeface="Arial"/>
                <a:sym typeface="Arial"/>
              </a:endParaRPr>
            </a:p>
            <a:p>
              <a:pPr indent="0" lvl="0" marL="0" rtl="0" algn="l">
                <a:spcBef>
                  <a:spcPts val="600"/>
                </a:spcBef>
                <a:spcAft>
                  <a:spcPts val="0"/>
                </a:spcAft>
                <a:buNone/>
              </a:pPr>
              <a:r>
                <a:rPr lang="en" sz="2600">
                  <a:solidFill>
                    <a:srgbClr val="44546A"/>
                  </a:solidFill>
                  <a:latin typeface="Arial"/>
                  <a:ea typeface="Arial"/>
                  <a:cs typeface="Arial"/>
                  <a:sym typeface="Arial"/>
                </a:rPr>
                <a:t>To calculate time gaps, we need to compare a row to the row preceding it. CTEs paired with Window Functions make this possible.</a:t>
              </a:r>
              <a:endParaRPr sz="2600">
                <a:solidFill>
                  <a:srgbClr val="44546A"/>
                </a:solidFill>
                <a:latin typeface="Arial"/>
                <a:ea typeface="Arial"/>
                <a:cs typeface="Arial"/>
                <a:sym typeface="Arial"/>
              </a:endParaRPr>
            </a:p>
          </p:txBody>
        </p:sp>
      </p:grpSp>
      <p:grpSp>
        <p:nvGrpSpPr>
          <p:cNvPr id="401" name="Google Shape;401;p26"/>
          <p:cNvGrpSpPr/>
          <p:nvPr/>
        </p:nvGrpSpPr>
        <p:grpSpPr>
          <a:xfrm>
            <a:off x="1554480" y="4762500"/>
            <a:ext cx="21278100" cy="3524400"/>
            <a:chOff x="0" y="0"/>
            <a:chExt cx="21278100" cy="3524400"/>
          </a:xfrm>
        </p:grpSpPr>
        <p:sp>
          <p:nvSpPr>
            <p:cNvPr id="402" name="Google Shape;402;p26"/>
            <p:cNvSpPr/>
            <p:nvPr/>
          </p:nvSpPr>
          <p:spPr>
            <a:xfrm>
              <a:off x="0" y="0"/>
              <a:ext cx="21278100" cy="3524400"/>
            </a:xfrm>
            <a:prstGeom prst="rect">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26"/>
            <p:cNvSpPr/>
            <p:nvPr/>
          </p:nvSpPr>
          <p:spPr>
            <a:xfrm>
              <a:off x="0" y="0"/>
              <a:ext cx="21278100" cy="6096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6"/>
            <p:cNvSpPr txBox="1"/>
            <p:nvPr/>
          </p:nvSpPr>
          <p:spPr>
            <a:xfrm>
              <a:off x="285750" y="0"/>
              <a:ext cx="20669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Arial"/>
                  <a:ea typeface="Arial"/>
                  <a:cs typeface="Arial"/>
                  <a:sym typeface="Arial"/>
                </a:rPr>
                <a:t>1. CTE (patient_conditions) — Extracting Previous Row Date</a:t>
              </a:r>
              <a:endParaRPr b="1" sz="2800">
                <a:solidFill>
                  <a:srgbClr val="FFFFFF"/>
                </a:solidFill>
                <a:latin typeface="Arial"/>
                <a:ea typeface="Arial"/>
                <a:cs typeface="Arial"/>
                <a:sym typeface="Arial"/>
              </a:endParaRPr>
            </a:p>
          </p:txBody>
        </p:sp>
        <p:sp>
          <p:nvSpPr>
            <p:cNvPr id="405" name="Google Shape;405;p26"/>
            <p:cNvSpPr txBox="1"/>
            <p:nvPr/>
          </p:nvSpPr>
          <p:spPr>
            <a:xfrm>
              <a:off x="285750" y="857250"/>
              <a:ext cx="5905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550">
                  <a:solidFill>
                    <a:srgbClr val="1A1A1A"/>
                  </a:solidFill>
                  <a:latin typeface="Arial"/>
                  <a:ea typeface="Arial"/>
                  <a:cs typeface="Arial"/>
                  <a:sym typeface="Arial"/>
                </a:rPr>
                <a:t>We use the </a:t>
              </a:r>
              <a:r>
                <a:rPr b="1" lang="en" sz="2550">
                  <a:solidFill>
                    <a:srgbClr val="7BC148"/>
                  </a:solidFill>
                  <a:latin typeface="Arial"/>
                  <a:ea typeface="Arial"/>
                  <a:cs typeface="Arial"/>
                  <a:sym typeface="Arial"/>
                </a:rPr>
                <a:t>LAG</a:t>
              </a:r>
              <a:r>
                <a:rPr b="0" lang="en" sz="2550">
                  <a:solidFill>
                    <a:srgbClr val="1A1A1A"/>
                  </a:solidFill>
                  <a:latin typeface="Arial"/>
                  <a:ea typeface="Arial"/>
                  <a:cs typeface="Arial"/>
                  <a:sym typeface="Arial"/>
                </a:rPr>
                <a:t> window function to pull the previous row's date onto the current row.</a:t>
              </a:r>
              <a:endParaRPr b="0" sz="2550">
                <a:solidFill>
                  <a:srgbClr val="1A1A1A"/>
                </a:solidFill>
                <a:latin typeface="Arial"/>
                <a:ea typeface="Arial"/>
                <a:cs typeface="Arial"/>
                <a:sym typeface="Arial"/>
              </a:endParaRPr>
            </a:p>
            <a:p>
              <a:pPr indent="0" lvl="0" marL="0" rtl="0" algn="l">
                <a:spcBef>
                  <a:spcPts val="1125"/>
                </a:spcBef>
                <a:spcAft>
                  <a:spcPts val="0"/>
                </a:spcAft>
                <a:buNone/>
              </a:pPr>
              <a:r>
                <a:rPr b="0" lang="en" sz="2210">
                  <a:solidFill>
                    <a:srgbClr val="6B6B6B"/>
                  </a:solidFill>
                  <a:latin typeface="Arial"/>
                  <a:ea typeface="Arial"/>
                  <a:cs typeface="Arial"/>
                  <a:sym typeface="Arial"/>
                </a:rPr>
                <a:t>This aligns both current and prior timestamps in the same tuple for immediate downstream comparison.</a:t>
              </a:r>
              <a:endParaRPr b="0" sz="2210">
                <a:solidFill>
                  <a:srgbClr val="6B6B6B"/>
                </a:solidFill>
                <a:latin typeface="Arial"/>
                <a:ea typeface="Arial"/>
                <a:cs typeface="Arial"/>
                <a:sym typeface="Arial"/>
              </a:endParaRPr>
            </a:p>
          </p:txBody>
        </p:sp>
        <p:sp>
          <p:nvSpPr>
            <p:cNvPr id="406" name="Google Shape;406;p26"/>
            <p:cNvSpPr/>
            <p:nvPr/>
          </p:nvSpPr>
          <p:spPr>
            <a:xfrm>
              <a:off x="6477000" y="762000"/>
              <a:ext cx="14382900" cy="25719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6"/>
            <p:cNvSpPr txBox="1"/>
            <p:nvPr/>
          </p:nvSpPr>
          <p:spPr>
            <a:xfrm>
              <a:off x="6762750" y="904875"/>
              <a:ext cx="13811400" cy="22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60">
                  <a:solidFill>
                    <a:srgbClr val="7BC148"/>
                  </a:solidFill>
                  <a:latin typeface="Courier New"/>
                  <a:ea typeface="Courier New"/>
                  <a:cs typeface="Courier New"/>
                  <a:sym typeface="Courier New"/>
                </a:rPr>
                <a:t>WITH</a:t>
              </a:r>
              <a:r>
                <a:rPr lang="en" sz="1860">
                  <a:latin typeface="Courier New"/>
                  <a:ea typeface="Courier New"/>
                  <a:cs typeface="Courier New"/>
                  <a:sym typeface="Courier New"/>
                </a:rPr>
                <a:t> </a:t>
              </a:r>
              <a:r>
                <a:rPr lang="en" sz="1860">
                  <a:solidFill>
                    <a:srgbClr val="FFFFFF"/>
                  </a:solidFill>
                  <a:latin typeface="Courier New"/>
                  <a:ea typeface="Courier New"/>
                  <a:cs typeface="Courier New"/>
                  <a:sym typeface="Courier New"/>
                </a:rPr>
                <a:t>patient_conditions</a:t>
              </a: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AS</a:t>
              </a:r>
              <a:r>
                <a:rPr lang="en" sz="1860">
                  <a:latin typeface="Courier New"/>
                  <a:ea typeface="Courier New"/>
                  <a:cs typeface="Courier New"/>
                  <a:sym typeface="Courier New"/>
                </a:rPr>
                <a:t> (</a:t>
              </a:r>
              <a:endParaRPr sz="1860">
                <a:latin typeface="Courier New"/>
                <a:ea typeface="Courier New"/>
                <a:cs typeface="Courier New"/>
                <a:sym typeface="Courier New"/>
              </a:endParaRPr>
            </a:p>
            <a:p>
              <a:pPr indent="0" lvl="0" marL="0" rtl="0" algn="l">
                <a:spcBef>
                  <a:spcPts val="450"/>
                </a:spcBef>
                <a:spcAft>
                  <a:spcPts val="0"/>
                </a:spcAft>
                <a:buNone/>
              </a:pP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SELECT</a:t>
              </a:r>
              <a:r>
                <a:rPr lang="en" sz="1860">
                  <a:latin typeface="Courier New"/>
                  <a:ea typeface="Courier New"/>
                  <a:cs typeface="Courier New"/>
                  <a:sym typeface="Courier New"/>
                </a:rPr>
                <a:t> </a:t>
              </a:r>
              <a:r>
                <a:rPr lang="en" sz="1860">
                  <a:solidFill>
                    <a:srgbClr val="FFFFFF"/>
                  </a:solidFill>
                  <a:latin typeface="Courier New"/>
                  <a:ea typeface="Courier New"/>
                  <a:cs typeface="Courier New"/>
                  <a:sym typeface="Courier New"/>
                </a:rPr>
                <a:t>condition_start_date, concept_name,</a:t>
              </a:r>
              <a:endParaRPr sz="1860">
                <a:latin typeface="Courier New"/>
                <a:ea typeface="Courier New"/>
                <a:cs typeface="Courier New"/>
                <a:sym typeface="Courier New"/>
              </a:endParaRPr>
            </a:p>
            <a:p>
              <a:pPr indent="0" lvl="0" marL="0" rtl="0" algn="l">
                <a:spcBef>
                  <a:spcPts val="450"/>
                </a:spcBef>
                <a:spcAft>
                  <a:spcPts val="0"/>
                </a:spcAft>
                <a:buNone/>
              </a:pPr>
              <a:r>
                <a:rPr lang="en" sz="1860">
                  <a:latin typeface="Courier New"/>
                  <a:ea typeface="Courier New"/>
                  <a:cs typeface="Courier New"/>
                  <a:sym typeface="Courier New"/>
                </a:rPr>
                <a:t>    </a:t>
              </a:r>
              <a:r>
                <a:rPr b="1" lang="en" sz="1860">
                  <a:solidFill>
                    <a:srgbClr val="B9D989"/>
                  </a:solidFill>
                  <a:latin typeface="Courier New"/>
                  <a:ea typeface="Courier New"/>
                  <a:cs typeface="Courier New"/>
                  <a:sym typeface="Courier New"/>
                </a:rPr>
                <a:t>LAG</a:t>
              </a:r>
              <a:r>
                <a:rPr lang="en" sz="1860">
                  <a:latin typeface="Courier New"/>
                  <a:ea typeface="Courier New"/>
                  <a:cs typeface="Courier New"/>
                  <a:sym typeface="Courier New"/>
                </a:rPr>
                <a:t>(</a:t>
              </a:r>
              <a:r>
                <a:rPr lang="en" sz="1860">
                  <a:solidFill>
                    <a:srgbClr val="FFFFFF"/>
                  </a:solidFill>
                  <a:latin typeface="Courier New"/>
                  <a:ea typeface="Courier New"/>
                  <a:cs typeface="Courier New"/>
                  <a:sym typeface="Courier New"/>
                </a:rPr>
                <a:t>co.condition_start_date</a:t>
              </a: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OVER</a:t>
              </a: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ORDER BY</a:t>
              </a:r>
              <a:r>
                <a:rPr lang="en" sz="1860">
                  <a:latin typeface="Courier New"/>
                  <a:ea typeface="Courier New"/>
                  <a:cs typeface="Courier New"/>
                  <a:sym typeface="Courier New"/>
                </a:rPr>
                <a:t> </a:t>
              </a:r>
              <a:r>
                <a:rPr lang="en" sz="1860">
                  <a:solidFill>
                    <a:srgbClr val="FFFFFF"/>
                  </a:solidFill>
                  <a:latin typeface="Courier New"/>
                  <a:ea typeface="Courier New"/>
                  <a:cs typeface="Courier New"/>
                  <a:sym typeface="Courier New"/>
                </a:rPr>
                <a:t>co.condition_start_date</a:t>
              </a: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AS</a:t>
              </a:r>
              <a:r>
                <a:rPr lang="en" sz="1860">
                  <a:latin typeface="Courier New"/>
                  <a:ea typeface="Courier New"/>
                  <a:cs typeface="Courier New"/>
                  <a:sym typeface="Courier New"/>
                </a:rPr>
                <a:t> </a:t>
              </a:r>
              <a:r>
                <a:rPr lang="en" sz="1860">
                  <a:solidFill>
                    <a:srgbClr val="FFFFFF"/>
                  </a:solidFill>
                  <a:latin typeface="Courier New"/>
                  <a:ea typeface="Courier New"/>
                  <a:cs typeface="Courier New"/>
                  <a:sym typeface="Courier New"/>
                </a:rPr>
                <a:t>previous_condition_date</a:t>
              </a:r>
              <a:endParaRPr sz="1860">
                <a:latin typeface="Courier New"/>
                <a:ea typeface="Courier New"/>
                <a:cs typeface="Courier New"/>
                <a:sym typeface="Courier New"/>
              </a:endParaRPr>
            </a:p>
            <a:p>
              <a:pPr indent="0" lvl="0" marL="0" rtl="0" algn="l">
                <a:spcBef>
                  <a:spcPts val="450"/>
                </a:spcBef>
                <a:spcAft>
                  <a:spcPts val="0"/>
                </a:spcAft>
                <a:buNone/>
              </a:pP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FROM</a:t>
              </a:r>
              <a:r>
                <a:rPr lang="en" sz="1860">
                  <a:latin typeface="Courier New"/>
                  <a:ea typeface="Courier New"/>
                  <a:cs typeface="Courier New"/>
                  <a:sym typeface="Courier New"/>
                </a:rPr>
                <a:t> </a:t>
              </a:r>
              <a:r>
                <a:rPr lang="en" sz="1860">
                  <a:solidFill>
                    <a:srgbClr val="FFFFFF"/>
                  </a:solidFill>
                  <a:latin typeface="Courier New"/>
                  <a:ea typeface="Courier New"/>
                  <a:cs typeface="Courier New"/>
                  <a:sym typeface="Courier New"/>
                </a:rPr>
                <a:t>cdm.condition_occurrence co</a:t>
              </a:r>
              <a:endParaRPr sz="1860">
                <a:latin typeface="Courier New"/>
                <a:ea typeface="Courier New"/>
                <a:cs typeface="Courier New"/>
                <a:sym typeface="Courier New"/>
              </a:endParaRPr>
            </a:p>
            <a:p>
              <a:pPr indent="0" lvl="0" marL="0" rtl="0" algn="l">
                <a:spcBef>
                  <a:spcPts val="450"/>
                </a:spcBef>
                <a:spcAft>
                  <a:spcPts val="0"/>
                </a:spcAft>
                <a:buNone/>
              </a:pPr>
              <a:r>
                <a:rPr lang="en" sz="1860">
                  <a:latin typeface="Courier New"/>
                  <a:ea typeface="Courier New"/>
                  <a:cs typeface="Courier New"/>
                  <a:sym typeface="Courier New"/>
                </a:rPr>
                <a:t>  </a:t>
              </a:r>
              <a:r>
                <a:rPr b="1" lang="en" sz="1860">
                  <a:solidFill>
                    <a:srgbClr val="7BC148"/>
                  </a:solidFill>
                  <a:latin typeface="Courier New"/>
                  <a:ea typeface="Courier New"/>
                  <a:cs typeface="Courier New"/>
                  <a:sym typeface="Courier New"/>
                </a:rPr>
                <a:t>WHERE</a:t>
              </a:r>
              <a:r>
                <a:rPr lang="en" sz="1860">
                  <a:latin typeface="Courier New"/>
                  <a:ea typeface="Courier New"/>
                  <a:cs typeface="Courier New"/>
                  <a:sym typeface="Courier New"/>
                </a:rPr>
                <a:t> </a:t>
              </a:r>
              <a:r>
                <a:rPr lang="en" sz="1860">
                  <a:solidFill>
                    <a:srgbClr val="FFFFFF"/>
                  </a:solidFill>
                  <a:latin typeface="Courier New"/>
                  <a:ea typeface="Courier New"/>
                  <a:cs typeface="Courier New"/>
                  <a:sym typeface="Courier New"/>
                </a:rPr>
                <a:t>person_id =</a:t>
              </a:r>
              <a:r>
                <a:rPr lang="en" sz="1860">
                  <a:latin typeface="Courier New"/>
                  <a:ea typeface="Courier New"/>
                  <a:cs typeface="Courier New"/>
                  <a:sym typeface="Courier New"/>
                </a:rPr>
                <a:t> </a:t>
              </a:r>
              <a:r>
                <a:rPr lang="en" sz="1860">
                  <a:solidFill>
                    <a:srgbClr val="9ACD69"/>
                  </a:solidFill>
                  <a:latin typeface="Courier New"/>
                  <a:ea typeface="Courier New"/>
                  <a:cs typeface="Courier New"/>
                  <a:sym typeface="Courier New"/>
                </a:rPr>
                <a:t>12345</a:t>
              </a:r>
              <a:endParaRPr sz="1860">
                <a:latin typeface="Courier New"/>
                <a:ea typeface="Courier New"/>
                <a:cs typeface="Courier New"/>
                <a:sym typeface="Courier New"/>
              </a:endParaRPr>
            </a:p>
            <a:p>
              <a:pPr indent="0" lvl="0" marL="0" rtl="0" algn="l">
                <a:spcBef>
                  <a:spcPts val="450"/>
                </a:spcBef>
                <a:spcAft>
                  <a:spcPts val="0"/>
                </a:spcAft>
                <a:buNone/>
              </a:pPr>
              <a:r>
                <a:rPr lang="en" sz="1860">
                  <a:solidFill>
                    <a:srgbClr val="FFFFFF"/>
                  </a:solidFill>
                  <a:latin typeface="Courier New"/>
                  <a:ea typeface="Courier New"/>
                  <a:cs typeface="Courier New"/>
                  <a:sym typeface="Courier New"/>
                </a:rPr>
                <a:t>)</a:t>
              </a:r>
              <a:endParaRPr sz="1860">
                <a:latin typeface="Courier New"/>
                <a:ea typeface="Courier New"/>
                <a:cs typeface="Courier New"/>
                <a:sym typeface="Courier New"/>
              </a:endParaRPr>
            </a:p>
          </p:txBody>
        </p:sp>
      </p:grpSp>
      <p:grpSp>
        <p:nvGrpSpPr>
          <p:cNvPr id="408" name="Google Shape;408;p26"/>
          <p:cNvGrpSpPr/>
          <p:nvPr/>
        </p:nvGrpSpPr>
        <p:grpSpPr>
          <a:xfrm>
            <a:off x="1554480" y="8572500"/>
            <a:ext cx="21278100" cy="3333900"/>
            <a:chOff x="0" y="0"/>
            <a:chExt cx="21278100" cy="3333900"/>
          </a:xfrm>
        </p:grpSpPr>
        <p:sp>
          <p:nvSpPr>
            <p:cNvPr id="409" name="Google Shape;409;p26"/>
            <p:cNvSpPr/>
            <p:nvPr/>
          </p:nvSpPr>
          <p:spPr>
            <a:xfrm>
              <a:off x="0" y="0"/>
              <a:ext cx="21278100" cy="3333900"/>
            </a:xfrm>
            <a:prstGeom prst="rect">
              <a:avLst/>
            </a:prstGeom>
            <a:solidFill>
              <a:srgbClr val="FFFFFF"/>
            </a:solidFill>
            <a:ln cap="flat" cmpd="sng" w="19050">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6"/>
            <p:cNvSpPr/>
            <p:nvPr/>
          </p:nvSpPr>
          <p:spPr>
            <a:xfrm>
              <a:off x="0" y="0"/>
              <a:ext cx="21278100" cy="609600"/>
            </a:xfrm>
            <a:prstGeom prst="rect">
              <a:avLst/>
            </a:prstGeom>
            <a:solidFill>
              <a:srgbClr val="44546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6"/>
            <p:cNvSpPr txBox="1"/>
            <p:nvPr/>
          </p:nvSpPr>
          <p:spPr>
            <a:xfrm>
              <a:off x="285750" y="0"/>
              <a:ext cx="206694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Arial"/>
                  <a:ea typeface="Arial"/>
                  <a:cs typeface="Arial"/>
                  <a:sym typeface="Arial"/>
                </a:rPr>
                <a:t>2. Main Query — Calculating Days Difference</a:t>
              </a:r>
              <a:endParaRPr b="1" sz="2800">
                <a:solidFill>
                  <a:srgbClr val="FFFFFF"/>
                </a:solidFill>
                <a:latin typeface="Arial"/>
                <a:ea typeface="Arial"/>
                <a:cs typeface="Arial"/>
                <a:sym typeface="Arial"/>
              </a:endParaRPr>
            </a:p>
          </p:txBody>
        </p:sp>
        <p:sp>
          <p:nvSpPr>
            <p:cNvPr id="412" name="Google Shape;412;p26"/>
            <p:cNvSpPr txBox="1"/>
            <p:nvPr/>
          </p:nvSpPr>
          <p:spPr>
            <a:xfrm>
              <a:off x="285750" y="857250"/>
              <a:ext cx="59055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550">
                  <a:solidFill>
                    <a:srgbClr val="1A1A1A"/>
                  </a:solidFill>
                  <a:latin typeface="Arial"/>
                  <a:ea typeface="Arial"/>
                  <a:cs typeface="Arial"/>
                  <a:sym typeface="Arial"/>
                </a:rPr>
                <a:t>Because the CTE prepared both dates on a single row, the main query is a </a:t>
              </a:r>
              <a:r>
                <a:rPr b="1" lang="en" sz="2550">
                  <a:solidFill>
                    <a:srgbClr val="44546A"/>
                  </a:solidFill>
                  <a:latin typeface="Arial"/>
                  <a:ea typeface="Arial"/>
                  <a:cs typeface="Arial"/>
                  <a:sym typeface="Arial"/>
                </a:rPr>
                <a:t>simple subtraction</a:t>
              </a:r>
              <a:r>
                <a:rPr b="0" lang="en" sz="2550">
                  <a:solidFill>
                    <a:srgbClr val="1A1A1A"/>
                  </a:solidFill>
                  <a:latin typeface="Arial"/>
                  <a:ea typeface="Arial"/>
                  <a:cs typeface="Arial"/>
                  <a:sym typeface="Arial"/>
                </a:rPr>
                <a:t>.</a:t>
              </a:r>
              <a:endParaRPr b="0" sz="2550">
                <a:solidFill>
                  <a:srgbClr val="1A1A1A"/>
                </a:solidFill>
                <a:latin typeface="Arial"/>
                <a:ea typeface="Arial"/>
                <a:cs typeface="Arial"/>
                <a:sym typeface="Arial"/>
              </a:endParaRPr>
            </a:p>
            <a:p>
              <a:pPr indent="0" lvl="0" marL="0" rtl="0" algn="l">
                <a:spcBef>
                  <a:spcPts val="1125"/>
                </a:spcBef>
                <a:spcAft>
                  <a:spcPts val="0"/>
                </a:spcAft>
                <a:buNone/>
              </a:pPr>
              <a:r>
                <a:rPr b="0" lang="en" sz="2210">
                  <a:solidFill>
                    <a:srgbClr val="6B6B6B"/>
                  </a:solidFill>
                  <a:latin typeface="Arial"/>
                  <a:ea typeface="Arial"/>
                  <a:cs typeface="Arial"/>
                  <a:sym typeface="Arial"/>
                </a:rPr>
                <a:t>Yields the precise elapsed time in days since the patient's last recorded medical condition.</a:t>
              </a:r>
              <a:endParaRPr b="0" sz="2210">
                <a:solidFill>
                  <a:srgbClr val="6B6B6B"/>
                </a:solidFill>
                <a:latin typeface="Arial"/>
                <a:ea typeface="Arial"/>
                <a:cs typeface="Arial"/>
                <a:sym typeface="Arial"/>
              </a:endParaRPr>
            </a:p>
          </p:txBody>
        </p:sp>
        <p:sp>
          <p:nvSpPr>
            <p:cNvPr id="413" name="Google Shape;413;p26"/>
            <p:cNvSpPr/>
            <p:nvPr/>
          </p:nvSpPr>
          <p:spPr>
            <a:xfrm>
              <a:off x="6477000" y="762000"/>
              <a:ext cx="14382900" cy="2286000"/>
            </a:xfrm>
            <a:prstGeom prst="rect">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6"/>
            <p:cNvSpPr txBox="1"/>
            <p:nvPr/>
          </p:nvSpPr>
          <p:spPr>
            <a:xfrm>
              <a:off x="6762750" y="904875"/>
              <a:ext cx="13811400" cy="20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7BC148"/>
                  </a:solidFill>
                  <a:latin typeface="Courier New"/>
                  <a:ea typeface="Courier New"/>
                  <a:cs typeface="Courier New"/>
                  <a:sym typeface="Courier New"/>
                </a:rPr>
                <a:t>SELECT</a:t>
              </a:r>
              <a:r>
                <a:rPr lang="en" sz="2400">
                  <a:latin typeface="Courier New"/>
                  <a:ea typeface="Courier New"/>
                  <a:cs typeface="Courier New"/>
                  <a:sym typeface="Courier New"/>
                </a:rPr>
                <a:t> </a:t>
              </a:r>
              <a:r>
                <a:rPr lang="en" sz="2400">
                  <a:solidFill>
                    <a:srgbClr val="FFFFFF"/>
                  </a:solidFill>
                  <a:latin typeface="Courier New"/>
                  <a:ea typeface="Courier New"/>
                  <a:cs typeface="Courier New"/>
                  <a:sym typeface="Courier New"/>
                </a:rPr>
                <a:t>condition_start_date, concept_name,</a:t>
              </a:r>
              <a:endParaRPr sz="2400">
                <a:latin typeface="Courier New"/>
                <a:ea typeface="Courier New"/>
                <a:cs typeface="Courier New"/>
                <a:sym typeface="Courier New"/>
              </a:endParaRPr>
            </a:p>
            <a:p>
              <a:pPr indent="0" lvl="0" marL="0" rtl="0" algn="l">
                <a:spcBef>
                  <a:spcPts val="600"/>
                </a:spcBef>
                <a:spcAft>
                  <a:spcPts val="0"/>
                </a:spcAft>
                <a:buNone/>
              </a:pPr>
              <a:r>
                <a:rPr lang="en" sz="2400">
                  <a:latin typeface="Courier New"/>
                  <a:ea typeface="Courier New"/>
                  <a:cs typeface="Courier New"/>
                  <a:sym typeface="Courier New"/>
                </a:rPr>
                <a:t>    </a:t>
              </a:r>
              <a:r>
                <a:rPr lang="en" sz="2400">
                  <a:solidFill>
                    <a:srgbClr val="FFFFFF"/>
                  </a:solidFill>
                  <a:latin typeface="Courier New"/>
                  <a:ea typeface="Courier New"/>
                  <a:cs typeface="Courier New"/>
                  <a:sym typeface="Courier New"/>
                </a:rPr>
                <a:t>(condition_start_date - previous_condition_date)</a:t>
              </a:r>
              <a:r>
                <a:rPr lang="en" sz="2400">
                  <a:latin typeface="Courier New"/>
                  <a:ea typeface="Courier New"/>
                  <a:cs typeface="Courier New"/>
                  <a:sym typeface="Courier New"/>
                </a:rPr>
                <a:t> </a:t>
              </a:r>
              <a:r>
                <a:rPr b="1" lang="en" sz="2400">
                  <a:solidFill>
                    <a:srgbClr val="7BC148"/>
                  </a:solidFill>
                  <a:latin typeface="Courier New"/>
                  <a:ea typeface="Courier New"/>
                  <a:cs typeface="Courier New"/>
                  <a:sym typeface="Courier New"/>
                </a:rPr>
                <a:t>AS</a:t>
              </a:r>
              <a:r>
                <a:rPr lang="en" sz="2400">
                  <a:latin typeface="Courier New"/>
                  <a:ea typeface="Courier New"/>
                  <a:cs typeface="Courier New"/>
                  <a:sym typeface="Courier New"/>
                </a:rPr>
                <a:t> </a:t>
              </a:r>
              <a:r>
                <a:rPr lang="en" sz="2400">
                  <a:solidFill>
                    <a:srgbClr val="FFFFFF"/>
                  </a:solidFill>
                  <a:latin typeface="Courier New"/>
                  <a:ea typeface="Courier New"/>
                  <a:cs typeface="Courier New"/>
                  <a:sym typeface="Courier New"/>
                </a:rPr>
                <a:t>days_since_last</a:t>
              </a:r>
              <a:endParaRPr sz="2400">
                <a:latin typeface="Courier New"/>
                <a:ea typeface="Courier New"/>
                <a:cs typeface="Courier New"/>
                <a:sym typeface="Courier New"/>
              </a:endParaRPr>
            </a:p>
            <a:p>
              <a:pPr indent="0" lvl="0" marL="0" rtl="0" algn="l">
                <a:spcBef>
                  <a:spcPts val="600"/>
                </a:spcBef>
                <a:spcAft>
                  <a:spcPts val="0"/>
                </a:spcAft>
                <a:buNone/>
              </a:pPr>
              <a:r>
                <a:rPr b="1" lang="en" sz="2400">
                  <a:solidFill>
                    <a:srgbClr val="7BC148"/>
                  </a:solidFill>
                  <a:latin typeface="Courier New"/>
                  <a:ea typeface="Courier New"/>
                  <a:cs typeface="Courier New"/>
                  <a:sym typeface="Courier New"/>
                </a:rPr>
                <a:t>FROM</a:t>
              </a:r>
              <a:r>
                <a:rPr lang="en" sz="2400">
                  <a:latin typeface="Courier New"/>
                  <a:ea typeface="Courier New"/>
                  <a:cs typeface="Courier New"/>
                  <a:sym typeface="Courier New"/>
                </a:rPr>
                <a:t> </a:t>
              </a:r>
              <a:r>
                <a:rPr lang="en" sz="2400">
                  <a:solidFill>
                    <a:srgbClr val="FFFFFF"/>
                  </a:solidFill>
                  <a:latin typeface="Courier New"/>
                  <a:ea typeface="Courier New"/>
                  <a:cs typeface="Courier New"/>
                  <a:sym typeface="Courier New"/>
                </a:rPr>
                <a:t>patient_conditions;</a:t>
              </a:r>
              <a:endParaRPr sz="2400">
                <a:latin typeface="Courier New"/>
                <a:ea typeface="Courier New"/>
                <a:cs typeface="Courier New"/>
                <a:sym typeface="Courier New"/>
              </a:endParaRPr>
            </a:p>
          </p:txBody>
        </p:sp>
      </p:grpSp>
      <p:cxnSp>
        <p:nvCxnSpPr>
          <p:cNvPr id="415" name="Google Shape;415;p26"/>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416" name="Google Shape;416;p26"/>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27"/>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422" name="Google Shape;422;p27"/>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23" name="Google Shape;423;p27"/>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424" name="Google Shape;424;p27"/>
          <p:cNvSpPr txBox="1"/>
          <p:nvPr/>
        </p:nvSpPr>
        <p:spPr>
          <a:xfrm>
            <a:off x="1554480" y="868680"/>
            <a:ext cx="19751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1" lang="en" sz="5880">
                <a:solidFill>
                  <a:srgbClr val="1A1A1A"/>
                </a:solidFill>
                <a:latin typeface="Arial"/>
                <a:ea typeface="Arial"/>
                <a:cs typeface="Arial"/>
                <a:sym typeface="Arial"/>
              </a:rPr>
              <a:t>CTEs Create Clean, Auditable Steps for Data Quality Checks</a:t>
            </a:r>
            <a:endParaRPr b="1" sz="5880">
              <a:solidFill>
                <a:srgbClr val="1A1A1A"/>
              </a:solidFill>
              <a:latin typeface="Arial"/>
              <a:ea typeface="Arial"/>
              <a:cs typeface="Arial"/>
              <a:sym typeface="Arial"/>
            </a:endParaRPr>
          </a:p>
        </p:txBody>
      </p:sp>
      <p:sp>
        <p:nvSpPr>
          <p:cNvPr id="425" name="Google Shape;425;p27"/>
          <p:cNvSpPr txBox="1"/>
          <p:nvPr/>
        </p:nvSpPr>
        <p:spPr>
          <a:xfrm>
            <a:off x="1554480" y="2857500"/>
            <a:ext cx="212781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0" lang="en" sz="2875">
                <a:solidFill>
                  <a:srgbClr val="1A1A1A"/>
                </a:solidFill>
                <a:latin typeface="Arial"/>
                <a:ea typeface="Arial"/>
                <a:cs typeface="Arial"/>
                <a:sym typeface="Arial"/>
              </a:rPr>
              <a:t>Data Quality is paramount in OHDSI network studies. CTEs naturally break data quality checks into clean, auditable steps.</a:t>
            </a:r>
            <a:endParaRPr b="0" sz="2875">
              <a:solidFill>
                <a:srgbClr val="1A1A1A"/>
              </a:solidFill>
              <a:latin typeface="Arial"/>
              <a:ea typeface="Arial"/>
              <a:cs typeface="Arial"/>
              <a:sym typeface="Arial"/>
            </a:endParaRPr>
          </a:p>
        </p:txBody>
      </p:sp>
      <p:grpSp>
        <p:nvGrpSpPr>
          <p:cNvPr id="426" name="Google Shape;426;p27"/>
          <p:cNvGrpSpPr/>
          <p:nvPr/>
        </p:nvGrpSpPr>
        <p:grpSpPr>
          <a:xfrm>
            <a:off x="1554480" y="3810000"/>
            <a:ext cx="21278100" cy="1524000"/>
            <a:chOff x="0" y="0"/>
            <a:chExt cx="21278100" cy="1524000"/>
          </a:xfrm>
        </p:grpSpPr>
        <p:sp>
          <p:nvSpPr>
            <p:cNvPr id="427" name="Google Shape;427;p27"/>
            <p:cNvSpPr/>
            <p:nvPr/>
          </p:nvSpPr>
          <p:spPr>
            <a:xfrm>
              <a:off x="0" y="0"/>
              <a:ext cx="21278100" cy="15240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7"/>
            <p:cNvSpPr txBox="1"/>
            <p:nvPr/>
          </p:nvSpPr>
          <p:spPr>
            <a:xfrm>
              <a:off x="365760" y="0"/>
              <a:ext cx="33339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1" lang="en" sz="4600">
                  <a:solidFill>
                    <a:srgbClr val="7BC148"/>
                  </a:solidFill>
                  <a:latin typeface="Arial"/>
                  <a:ea typeface="Arial"/>
                  <a:cs typeface="Arial"/>
                  <a:sym typeface="Arial"/>
                </a:rPr>
                <a:t>Check:</a:t>
              </a:r>
              <a:endParaRPr b="1" sz="4600">
                <a:solidFill>
                  <a:srgbClr val="7BC148"/>
                </a:solidFill>
                <a:latin typeface="Arial"/>
                <a:ea typeface="Arial"/>
                <a:cs typeface="Arial"/>
                <a:sym typeface="Arial"/>
              </a:endParaRPr>
            </a:p>
          </p:txBody>
        </p:sp>
        <p:sp>
          <p:nvSpPr>
            <p:cNvPr id="429" name="Google Shape;429;p27"/>
            <p:cNvSpPr txBox="1"/>
            <p:nvPr/>
          </p:nvSpPr>
          <p:spPr>
            <a:xfrm>
              <a:off x="4000500" y="0"/>
              <a:ext cx="16911900" cy="15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0" lang="en" sz="4600">
                  <a:solidFill>
                    <a:srgbClr val="1A1A1A"/>
                  </a:solidFill>
                  <a:latin typeface="Arial"/>
                  <a:ea typeface="Arial"/>
                  <a:cs typeface="Arial"/>
                  <a:sym typeface="Arial"/>
                </a:rPr>
                <a:t>Identify condition occurrences recorded prior to a patient's birth date.</a:t>
              </a:r>
              <a:endParaRPr b="0" sz="4600">
                <a:solidFill>
                  <a:srgbClr val="1A1A1A"/>
                </a:solidFill>
                <a:latin typeface="Arial"/>
                <a:ea typeface="Arial"/>
                <a:cs typeface="Arial"/>
                <a:sym typeface="Arial"/>
              </a:endParaRPr>
            </a:p>
          </p:txBody>
        </p:sp>
      </p:grpSp>
      <p:grpSp>
        <p:nvGrpSpPr>
          <p:cNvPr id="430" name="Google Shape;430;p27"/>
          <p:cNvGrpSpPr/>
          <p:nvPr/>
        </p:nvGrpSpPr>
        <p:grpSpPr>
          <a:xfrm>
            <a:off x="1554480" y="5524500"/>
            <a:ext cx="21278100" cy="3048000"/>
            <a:chOff x="0" y="0"/>
            <a:chExt cx="21278100" cy="3048000"/>
          </a:xfrm>
        </p:grpSpPr>
        <p:sp>
          <p:nvSpPr>
            <p:cNvPr id="431" name="Google Shape;431;p27"/>
            <p:cNvSpPr/>
            <p:nvPr/>
          </p:nvSpPr>
          <p:spPr>
            <a:xfrm>
              <a:off x="0" y="0"/>
              <a:ext cx="21278100" cy="3048000"/>
            </a:xfrm>
            <a:prstGeom prst="rect">
              <a:avLst/>
            </a:prstGeom>
            <a:solidFill>
              <a:srgbClr val="F4F9EE"/>
            </a:solidFill>
            <a:ln cap="flat" cmpd="sng" w="9525">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27"/>
            <p:cNvSpPr txBox="1"/>
            <p:nvPr/>
          </p:nvSpPr>
          <p:spPr>
            <a:xfrm>
              <a:off x="365760" y="190500"/>
              <a:ext cx="33339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1" lang="en" sz="2875">
                  <a:solidFill>
                    <a:srgbClr val="7BC148"/>
                  </a:solidFill>
                  <a:latin typeface="Arial"/>
                  <a:ea typeface="Arial"/>
                  <a:cs typeface="Arial"/>
                  <a:sym typeface="Arial"/>
                </a:rPr>
                <a:t>CTE (</a:t>
              </a:r>
              <a:r>
                <a:rPr b="1" lang="en" sz="2875">
                  <a:solidFill>
                    <a:srgbClr val="7BC148"/>
                  </a:solidFill>
                  <a:latin typeface="Courier New"/>
                  <a:ea typeface="Courier New"/>
                  <a:cs typeface="Courier New"/>
                  <a:sym typeface="Courier New"/>
                </a:rPr>
                <a:t>patient_birth</a:t>
              </a:r>
              <a:r>
                <a:rPr b="1" lang="en" sz="2875">
                  <a:solidFill>
                    <a:srgbClr val="7BC148"/>
                  </a:solidFill>
                  <a:latin typeface="Arial"/>
                  <a:ea typeface="Arial"/>
                  <a:cs typeface="Arial"/>
                  <a:sym typeface="Arial"/>
                </a:rPr>
                <a:t>):</a:t>
              </a:r>
              <a:endParaRPr b="1" sz="2875">
                <a:solidFill>
                  <a:srgbClr val="7BC148"/>
                </a:solidFill>
                <a:latin typeface="Arial"/>
                <a:ea typeface="Arial"/>
                <a:cs typeface="Arial"/>
                <a:sym typeface="Arial"/>
              </a:endParaRPr>
            </a:p>
          </p:txBody>
        </p:sp>
        <p:sp>
          <p:nvSpPr>
            <p:cNvPr id="433" name="Google Shape;433;p27"/>
            <p:cNvSpPr txBox="1"/>
            <p:nvPr/>
          </p:nvSpPr>
          <p:spPr>
            <a:xfrm>
              <a:off x="4000500" y="190500"/>
              <a:ext cx="169119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530">
                  <a:solidFill>
                    <a:srgbClr val="1A1A1A"/>
                  </a:solidFill>
                  <a:latin typeface="Arial"/>
                  <a:ea typeface="Arial"/>
                  <a:cs typeface="Arial"/>
                  <a:sym typeface="Arial"/>
                </a:rPr>
                <a:t>The OMOP </a:t>
              </a:r>
              <a:r>
                <a:rPr b="1" lang="en" sz="2530">
                  <a:solidFill>
                    <a:srgbClr val="1A1A1A"/>
                  </a:solidFill>
                  <a:latin typeface="Courier New"/>
                  <a:ea typeface="Courier New"/>
                  <a:cs typeface="Courier New"/>
                  <a:sym typeface="Courier New"/>
                </a:rPr>
                <a:t>person</a:t>
              </a:r>
              <a:r>
                <a:rPr b="0" lang="en" sz="2530">
                  <a:solidFill>
                    <a:srgbClr val="1A1A1A"/>
                  </a:solidFill>
                  <a:latin typeface="Arial"/>
                  <a:ea typeface="Arial"/>
                  <a:cs typeface="Arial"/>
                  <a:sym typeface="Arial"/>
                </a:rPr>
                <a:t> table often only provides a </a:t>
              </a:r>
              <a:r>
                <a:rPr b="1" lang="en" sz="2530">
                  <a:solidFill>
                    <a:srgbClr val="1A1A1A"/>
                  </a:solidFill>
                  <a:latin typeface="Courier New"/>
                  <a:ea typeface="Courier New"/>
                  <a:cs typeface="Courier New"/>
                  <a:sym typeface="Courier New"/>
                </a:rPr>
                <a:t>year_of_birth</a:t>
              </a:r>
              <a:r>
                <a:rPr b="0" lang="en" sz="2530">
                  <a:solidFill>
                    <a:srgbClr val="1A1A1A"/>
                  </a:solidFill>
                  <a:latin typeface="Arial"/>
                  <a:ea typeface="Arial"/>
                  <a:cs typeface="Arial"/>
                  <a:sym typeface="Arial"/>
                </a:rPr>
                <a:t>. We must construct a comparable date.</a:t>
              </a:r>
              <a:endParaRPr b="0" sz="2530">
                <a:solidFill>
                  <a:srgbClr val="1A1A1A"/>
                </a:solidFill>
                <a:latin typeface="Arial"/>
                <a:ea typeface="Arial"/>
                <a:cs typeface="Arial"/>
                <a:sym typeface="Arial"/>
              </a:endParaRPr>
            </a:p>
            <a:p>
              <a:pPr indent="0" lvl="0" marL="0" rtl="0" algn="l">
                <a:spcBef>
                  <a:spcPts val="900"/>
                </a:spcBef>
                <a:spcAft>
                  <a:spcPts val="0"/>
                </a:spcAft>
                <a:buNone/>
              </a:pPr>
              <a:r>
                <a:rPr b="1" lang="en" sz="1870">
                  <a:solidFill>
                    <a:srgbClr val="44546A"/>
                  </a:solidFill>
                  <a:latin typeface="Courier New"/>
                  <a:ea typeface="Courier New"/>
                  <a:cs typeface="Courier New"/>
                  <a:sym typeface="Courier New"/>
                </a:rPr>
                <a:t>WITH patient_birth AS (</a:t>
              </a:r>
              <a:endParaRPr b="1" sz="1870">
                <a:solidFill>
                  <a:srgbClr val="44546A"/>
                </a:solidFill>
                <a:latin typeface="Courier New"/>
                <a:ea typeface="Courier New"/>
                <a:cs typeface="Courier New"/>
                <a:sym typeface="Courier New"/>
              </a:endParaRPr>
            </a:p>
            <a:p>
              <a:pPr indent="0" lvl="0" marL="381000" marR="0" rtl="0" algn="l">
                <a:spcBef>
                  <a:spcPts val="1125"/>
                </a:spcBef>
                <a:spcAft>
                  <a:spcPts val="0"/>
                </a:spcAft>
                <a:buNone/>
              </a:pPr>
              <a:r>
                <a:rPr b="1" lang="en" sz="1870">
                  <a:solidFill>
                    <a:srgbClr val="44546A"/>
                  </a:solidFill>
                  <a:latin typeface="Courier New"/>
                  <a:ea typeface="Courier New"/>
                  <a:cs typeface="Courier New"/>
                  <a:sym typeface="Courier New"/>
                </a:rPr>
                <a:t>SELECT person_id, MAKE_DATE(year_of_birth, 1, 1) AS approx_birth_date</a:t>
              </a:r>
              <a:endParaRPr b="1" sz="1870">
                <a:solidFill>
                  <a:srgbClr val="44546A"/>
                </a:solidFill>
                <a:latin typeface="Courier New"/>
                <a:ea typeface="Courier New"/>
                <a:cs typeface="Courier New"/>
                <a:sym typeface="Courier New"/>
              </a:endParaRPr>
            </a:p>
            <a:p>
              <a:pPr indent="0" lvl="0" marL="381000" marR="0" rtl="0" algn="l">
                <a:spcBef>
                  <a:spcPts val="1125"/>
                </a:spcBef>
                <a:spcAft>
                  <a:spcPts val="0"/>
                </a:spcAft>
                <a:buNone/>
              </a:pPr>
              <a:r>
                <a:rPr b="1" lang="en" sz="1870">
                  <a:solidFill>
                    <a:srgbClr val="44546A"/>
                  </a:solidFill>
                  <a:latin typeface="Courier New"/>
                  <a:ea typeface="Courier New"/>
                  <a:cs typeface="Courier New"/>
                  <a:sym typeface="Courier New"/>
                </a:rPr>
                <a:t>FROM cdm.person</a:t>
              </a:r>
              <a:endParaRPr b="1" sz="1870">
                <a:solidFill>
                  <a:srgbClr val="44546A"/>
                </a:solidFill>
                <a:latin typeface="Courier New"/>
                <a:ea typeface="Courier New"/>
                <a:cs typeface="Courier New"/>
                <a:sym typeface="Courier New"/>
              </a:endParaRPr>
            </a:p>
            <a:p>
              <a:pPr indent="0" lvl="0" marL="0" rtl="0" algn="l">
                <a:spcBef>
                  <a:spcPts val="1125"/>
                </a:spcBef>
                <a:spcAft>
                  <a:spcPts val="1125"/>
                </a:spcAft>
                <a:buNone/>
              </a:pPr>
              <a:r>
                <a:rPr b="1" lang="en" sz="1870">
                  <a:solidFill>
                    <a:srgbClr val="44546A"/>
                  </a:solidFill>
                  <a:latin typeface="Courier New"/>
                  <a:ea typeface="Courier New"/>
                  <a:cs typeface="Courier New"/>
                  <a:sym typeface="Courier New"/>
                </a:rPr>
                <a:t>)</a:t>
              </a:r>
              <a:endParaRPr b="1" sz="1870">
                <a:solidFill>
                  <a:srgbClr val="44546A"/>
                </a:solidFill>
                <a:latin typeface="Courier New"/>
                <a:ea typeface="Courier New"/>
                <a:cs typeface="Courier New"/>
                <a:sym typeface="Courier New"/>
              </a:endParaRPr>
            </a:p>
          </p:txBody>
        </p:sp>
      </p:grpSp>
      <p:grpSp>
        <p:nvGrpSpPr>
          <p:cNvPr id="434" name="Google Shape;434;p27"/>
          <p:cNvGrpSpPr/>
          <p:nvPr/>
        </p:nvGrpSpPr>
        <p:grpSpPr>
          <a:xfrm>
            <a:off x="1554480" y="8763000"/>
            <a:ext cx="21278100" cy="3429000"/>
            <a:chOff x="0" y="0"/>
            <a:chExt cx="21278100" cy="3429000"/>
          </a:xfrm>
        </p:grpSpPr>
        <p:sp>
          <p:nvSpPr>
            <p:cNvPr id="435" name="Google Shape;435;p27"/>
            <p:cNvSpPr/>
            <p:nvPr/>
          </p:nvSpPr>
          <p:spPr>
            <a:xfrm>
              <a:off x="0" y="0"/>
              <a:ext cx="21278100" cy="3429000"/>
            </a:xfrm>
            <a:prstGeom prst="rect">
              <a:avLst/>
            </a:prstGeom>
            <a:solidFill>
              <a:srgbClr val="FFFFFF"/>
            </a:solidFill>
            <a:ln cap="flat" cmpd="sng" w="9525">
              <a:solidFill>
                <a:srgbClr val="CCCCC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27"/>
            <p:cNvSpPr txBox="1"/>
            <p:nvPr/>
          </p:nvSpPr>
          <p:spPr>
            <a:xfrm>
              <a:off x="365760" y="190500"/>
              <a:ext cx="33339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1" lang="en" sz="4600">
                  <a:solidFill>
                    <a:srgbClr val="7BC148"/>
                  </a:solidFill>
                  <a:latin typeface="Arial"/>
                  <a:ea typeface="Arial"/>
                  <a:cs typeface="Arial"/>
                  <a:sym typeface="Arial"/>
                </a:rPr>
                <a:t>Main Query:</a:t>
              </a:r>
              <a:endParaRPr b="1" sz="4600">
                <a:solidFill>
                  <a:srgbClr val="7BC148"/>
                </a:solidFill>
                <a:latin typeface="Arial"/>
                <a:ea typeface="Arial"/>
                <a:cs typeface="Arial"/>
                <a:sym typeface="Arial"/>
              </a:endParaRPr>
            </a:p>
          </p:txBody>
        </p:sp>
        <p:sp>
          <p:nvSpPr>
            <p:cNvPr id="437" name="Google Shape;437;p27"/>
            <p:cNvSpPr txBox="1"/>
            <p:nvPr/>
          </p:nvSpPr>
          <p:spPr>
            <a:xfrm>
              <a:off x="4000500" y="190500"/>
              <a:ext cx="169119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220">
                  <a:solidFill>
                    <a:srgbClr val="1A1A1A"/>
                  </a:solidFill>
                  <a:latin typeface="Arial"/>
                  <a:ea typeface="Arial"/>
                  <a:cs typeface="Arial"/>
                  <a:sym typeface="Arial"/>
                </a:rPr>
                <a:t>We join the constructed birth dates to the condition records and filter for logical impossibilities.</a:t>
              </a:r>
              <a:endParaRPr b="0" sz="3220">
                <a:solidFill>
                  <a:srgbClr val="1A1A1A"/>
                </a:solidFill>
                <a:latin typeface="Arial"/>
                <a:ea typeface="Arial"/>
                <a:cs typeface="Arial"/>
                <a:sym typeface="Arial"/>
              </a:endParaRPr>
            </a:p>
            <a:p>
              <a:pPr indent="0" lvl="0" marL="0" rtl="0" algn="l">
                <a:spcBef>
                  <a:spcPts val="900"/>
                </a:spcBef>
                <a:spcAft>
                  <a:spcPts val="0"/>
                </a:spcAft>
                <a:buNone/>
              </a:pPr>
              <a:r>
                <a:rPr b="1" lang="en" sz="2380">
                  <a:solidFill>
                    <a:srgbClr val="44546A"/>
                  </a:solidFill>
                  <a:latin typeface="Courier New"/>
                  <a:ea typeface="Courier New"/>
                  <a:cs typeface="Courier New"/>
                  <a:sym typeface="Courier New"/>
                </a:rPr>
                <a:t>SELECT co.person_id, co.condition_start_date, pb.approx_birth_date</a:t>
              </a:r>
              <a:endParaRPr b="1" sz="2380">
                <a:solidFill>
                  <a:srgbClr val="44546A"/>
                </a:solidFill>
                <a:latin typeface="Courier New"/>
                <a:ea typeface="Courier New"/>
                <a:cs typeface="Courier New"/>
                <a:sym typeface="Courier New"/>
              </a:endParaRPr>
            </a:p>
            <a:p>
              <a:pPr indent="0" lvl="0" marL="0" rtl="0" algn="l">
                <a:spcBef>
                  <a:spcPts val="1125"/>
                </a:spcBef>
                <a:spcAft>
                  <a:spcPts val="0"/>
                </a:spcAft>
                <a:buNone/>
              </a:pPr>
              <a:r>
                <a:rPr b="1" lang="en" sz="2380">
                  <a:solidFill>
                    <a:srgbClr val="44546A"/>
                  </a:solidFill>
                  <a:latin typeface="Courier New"/>
                  <a:ea typeface="Courier New"/>
                  <a:cs typeface="Courier New"/>
                  <a:sym typeface="Courier New"/>
                </a:rPr>
                <a:t>FROM cdm.condition_occurrence co</a:t>
              </a:r>
              <a:endParaRPr b="1" sz="2380">
                <a:solidFill>
                  <a:srgbClr val="44546A"/>
                </a:solidFill>
                <a:latin typeface="Courier New"/>
                <a:ea typeface="Courier New"/>
                <a:cs typeface="Courier New"/>
                <a:sym typeface="Courier New"/>
              </a:endParaRPr>
            </a:p>
            <a:p>
              <a:pPr indent="0" lvl="0" marL="0" rtl="0" algn="l">
                <a:spcBef>
                  <a:spcPts val="1125"/>
                </a:spcBef>
                <a:spcAft>
                  <a:spcPts val="0"/>
                </a:spcAft>
                <a:buNone/>
              </a:pPr>
              <a:r>
                <a:rPr b="1" lang="en" sz="2380">
                  <a:solidFill>
                    <a:srgbClr val="44546A"/>
                  </a:solidFill>
                  <a:latin typeface="Courier New"/>
                  <a:ea typeface="Courier New"/>
                  <a:cs typeface="Courier New"/>
                  <a:sym typeface="Courier New"/>
                </a:rPr>
                <a:t>JOIN patient_birth pb ON co.person_id = pb.person_id</a:t>
              </a:r>
              <a:endParaRPr b="1" sz="2380">
                <a:solidFill>
                  <a:srgbClr val="44546A"/>
                </a:solidFill>
                <a:latin typeface="Courier New"/>
                <a:ea typeface="Courier New"/>
                <a:cs typeface="Courier New"/>
                <a:sym typeface="Courier New"/>
              </a:endParaRPr>
            </a:p>
            <a:p>
              <a:pPr indent="0" lvl="0" marL="0" rtl="0" algn="l">
                <a:spcBef>
                  <a:spcPts val="1125"/>
                </a:spcBef>
                <a:spcAft>
                  <a:spcPts val="1125"/>
                </a:spcAft>
                <a:buNone/>
              </a:pPr>
              <a:r>
                <a:rPr b="1" lang="en" sz="2380">
                  <a:solidFill>
                    <a:srgbClr val="44546A"/>
                  </a:solidFill>
                  <a:latin typeface="Courier New"/>
                  <a:ea typeface="Courier New"/>
                  <a:cs typeface="Courier New"/>
                  <a:sym typeface="Courier New"/>
                </a:rPr>
                <a:t>WHERE co.condition_start_date &lt; pb.approx_birth_date;</a:t>
              </a:r>
              <a:endParaRPr b="1" sz="2380">
                <a:solidFill>
                  <a:srgbClr val="44546A"/>
                </a:solidFill>
                <a:latin typeface="Courier New"/>
                <a:ea typeface="Courier New"/>
                <a:cs typeface="Courier New"/>
                <a:sym typeface="Courier New"/>
              </a:endParaRPr>
            </a:p>
          </p:txBody>
        </p:sp>
      </p:grpSp>
      <p:cxnSp>
        <p:nvCxnSpPr>
          <p:cNvPr id="438" name="Google Shape;438;p27"/>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grpSp>
        <p:nvGrpSpPr>
          <p:cNvPr id="439" name="Google Shape;439;p27"/>
          <p:cNvGrpSpPr/>
          <p:nvPr/>
        </p:nvGrpSpPr>
        <p:grpSpPr>
          <a:xfrm>
            <a:off x="1554480" y="12755880"/>
            <a:ext cx="12801600" cy="640200"/>
            <a:chOff x="0" y="0"/>
            <a:chExt cx="12801600" cy="640200"/>
          </a:xfrm>
        </p:grpSpPr>
        <p:sp>
          <p:nvSpPr>
            <p:cNvPr id="440" name="Google Shape;440;p27"/>
            <p:cNvSpPr/>
            <p:nvPr/>
          </p:nvSpPr>
          <p:spPr>
            <a:xfrm>
              <a:off x="0" y="0"/>
              <a:ext cx="12801600" cy="64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27"/>
            <p:cNvSpPr txBox="1"/>
            <p:nvPr/>
          </p:nvSpPr>
          <p:spPr>
            <a:xfrm>
              <a:off x="0" y="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grpSp>
      <p:sp>
        <p:nvSpPr>
          <p:cNvPr id="442" name="Google Shape;442;p27"/>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43" name="Google Shape;443;p27"/>
          <p:cNvGrpSpPr/>
          <p:nvPr/>
        </p:nvGrpSpPr>
        <p:grpSpPr>
          <a:xfrm>
            <a:off x="22265640" y="12710160"/>
            <a:ext cx="1051500" cy="777300"/>
            <a:chOff x="0" y="0"/>
            <a:chExt cx="1051500" cy="777300"/>
          </a:xfrm>
        </p:grpSpPr>
        <p:sp>
          <p:nvSpPr>
            <p:cNvPr id="444" name="Google Shape;444;p27"/>
            <p:cNvSpPr/>
            <p:nvPr/>
          </p:nvSpPr>
          <p:spPr>
            <a:xfrm>
              <a:off x="0" y="0"/>
              <a:ext cx="1051500" cy="777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27"/>
            <p:cNvSpPr txBox="1"/>
            <p:nvPr/>
          </p:nvSpPr>
          <p:spPr>
            <a:xfrm>
              <a:off x="0" y="0"/>
              <a:ext cx="1051500" cy="777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1125"/>
                </a:spcAft>
                <a:buNone/>
              </a:pPr>
              <a:r>
                <a:rPr b="1" lang="en" sz="3000">
                  <a:solidFill>
                    <a:srgbClr val="FFFFFF"/>
                  </a:solidFill>
                  <a:latin typeface="Arial"/>
                  <a:ea typeface="Arial"/>
                  <a:cs typeface="Arial"/>
                  <a:sym typeface="Arial"/>
                </a:rPr>
                <a:t>5</a:t>
              </a:r>
              <a:endParaRPr b="1" sz="3000">
                <a:solidFill>
                  <a:srgbClr val="FFFFFF"/>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28"/>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451" name="Google Shape;451;p28"/>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52" name="Google Shape;452;p28"/>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453" name="Google Shape;453;p28"/>
          <p:cNvSpPr txBox="1"/>
          <p:nvPr/>
        </p:nvSpPr>
        <p:spPr>
          <a:xfrm>
            <a:off x="1554480" y="868680"/>
            <a:ext cx="197511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1" lang="en" sz="5880">
                <a:solidFill>
                  <a:srgbClr val="1A1A1A"/>
                </a:solidFill>
                <a:latin typeface="Arial"/>
                <a:ea typeface="Arial"/>
                <a:cs typeface="Arial"/>
                <a:sym typeface="Arial"/>
              </a:rPr>
              <a:t>CTEs Simplify the Identification of Orphaned Records via Anti-Joins</a:t>
            </a:r>
            <a:endParaRPr b="1" sz="5880">
              <a:solidFill>
                <a:srgbClr val="1A1A1A"/>
              </a:solidFill>
              <a:latin typeface="Arial"/>
              <a:ea typeface="Arial"/>
              <a:cs typeface="Arial"/>
              <a:sym typeface="Arial"/>
            </a:endParaRPr>
          </a:p>
        </p:txBody>
      </p:sp>
      <p:sp>
        <p:nvSpPr>
          <p:cNvPr id="454" name="Google Shape;454;p28"/>
          <p:cNvSpPr txBox="1"/>
          <p:nvPr/>
        </p:nvSpPr>
        <p:spPr>
          <a:xfrm>
            <a:off x="1554480" y="2952750"/>
            <a:ext cx="212781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1" lang="en" sz="2875">
                <a:solidFill>
                  <a:srgbClr val="7BC148"/>
                </a:solidFill>
                <a:latin typeface="Arial"/>
                <a:ea typeface="Arial"/>
                <a:cs typeface="Arial"/>
                <a:sym typeface="Arial"/>
              </a:rPr>
              <a:t>Check:</a:t>
            </a:r>
            <a:r>
              <a:rPr b="0" lang="en" sz="2875">
                <a:solidFill>
                  <a:srgbClr val="1A1A1A"/>
                </a:solidFill>
                <a:latin typeface="Arial"/>
                <a:ea typeface="Arial"/>
                <a:cs typeface="Arial"/>
                <a:sym typeface="Arial"/>
              </a:rPr>
              <a:t> Identify patients who have visit records but zero condition records. While this can be solved with a NOT IN subquery, utilizing CTEs with a LEFT JOIN and IS NULL check (an "anti-join") is often more readable and sometimes more performant.</a:t>
            </a:r>
            <a:endParaRPr b="0" sz="2875">
              <a:solidFill>
                <a:srgbClr val="1A1A1A"/>
              </a:solidFill>
              <a:latin typeface="Arial"/>
              <a:ea typeface="Arial"/>
              <a:cs typeface="Arial"/>
              <a:sym typeface="Arial"/>
            </a:endParaRPr>
          </a:p>
        </p:txBody>
      </p:sp>
      <p:grpSp>
        <p:nvGrpSpPr>
          <p:cNvPr id="455" name="Google Shape;455;p28"/>
          <p:cNvGrpSpPr/>
          <p:nvPr/>
        </p:nvGrpSpPr>
        <p:grpSpPr>
          <a:xfrm>
            <a:off x="1554480" y="4286250"/>
            <a:ext cx="21278100" cy="1714500"/>
            <a:chOff x="0" y="0"/>
            <a:chExt cx="21278100" cy="1714500"/>
          </a:xfrm>
        </p:grpSpPr>
        <p:sp>
          <p:nvSpPr>
            <p:cNvPr id="456" name="Google Shape;456;p28"/>
            <p:cNvSpPr/>
            <p:nvPr/>
          </p:nvSpPr>
          <p:spPr>
            <a:xfrm>
              <a:off x="0" y="0"/>
              <a:ext cx="21278100" cy="1714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8"/>
            <p:cNvSpPr txBox="1"/>
            <p:nvPr/>
          </p:nvSpPr>
          <p:spPr>
            <a:xfrm>
              <a:off x="365760" y="0"/>
              <a:ext cx="52389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1" lang="en" sz="3910">
                  <a:solidFill>
                    <a:srgbClr val="7BC148"/>
                  </a:solidFill>
                  <a:latin typeface="Arial"/>
                  <a:ea typeface="Arial"/>
                  <a:cs typeface="Arial"/>
                  <a:sym typeface="Arial"/>
                </a:rPr>
                <a:t>CTE 1 (patients_with_visits)</a:t>
              </a:r>
              <a:endParaRPr b="1" sz="3910">
                <a:solidFill>
                  <a:srgbClr val="7BC148"/>
                </a:solidFill>
                <a:latin typeface="Arial"/>
                <a:ea typeface="Arial"/>
                <a:cs typeface="Arial"/>
                <a:sym typeface="Arial"/>
              </a:endParaRPr>
            </a:p>
          </p:txBody>
        </p:sp>
        <p:sp>
          <p:nvSpPr>
            <p:cNvPr id="458" name="Google Shape;458;p28"/>
            <p:cNvSpPr txBox="1"/>
            <p:nvPr/>
          </p:nvSpPr>
          <p:spPr>
            <a:xfrm>
              <a:off x="5905500" y="0"/>
              <a:ext cx="150069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1" lang="en" sz="3800">
                  <a:solidFill>
                    <a:srgbClr val="1A1A1A"/>
                  </a:solidFill>
                  <a:latin typeface="Courier New"/>
                  <a:ea typeface="Courier New"/>
                  <a:cs typeface="Courier New"/>
                  <a:sym typeface="Courier New"/>
                </a:rPr>
                <a:t>SELECT DISTINCT person_id FROM cdm.visit_occurrence</a:t>
              </a:r>
              <a:endParaRPr b="1" sz="3800">
                <a:solidFill>
                  <a:srgbClr val="1A1A1A"/>
                </a:solidFill>
                <a:latin typeface="Courier New"/>
                <a:ea typeface="Courier New"/>
                <a:cs typeface="Courier New"/>
                <a:sym typeface="Courier New"/>
              </a:endParaRPr>
            </a:p>
          </p:txBody>
        </p:sp>
      </p:grpSp>
      <p:grpSp>
        <p:nvGrpSpPr>
          <p:cNvPr id="459" name="Google Shape;459;p28"/>
          <p:cNvGrpSpPr/>
          <p:nvPr/>
        </p:nvGrpSpPr>
        <p:grpSpPr>
          <a:xfrm>
            <a:off x="1554480" y="6191250"/>
            <a:ext cx="21278100" cy="1714500"/>
            <a:chOff x="0" y="0"/>
            <a:chExt cx="21278100" cy="1714500"/>
          </a:xfrm>
        </p:grpSpPr>
        <p:sp>
          <p:nvSpPr>
            <p:cNvPr id="460" name="Google Shape;460;p28"/>
            <p:cNvSpPr/>
            <p:nvPr/>
          </p:nvSpPr>
          <p:spPr>
            <a:xfrm>
              <a:off x="0" y="0"/>
              <a:ext cx="21278100" cy="1714500"/>
            </a:xfrm>
            <a:prstGeom prst="rect">
              <a:avLst/>
            </a:prstGeom>
            <a:solidFill>
              <a:srgbClr val="F4F9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28"/>
            <p:cNvSpPr txBox="1"/>
            <p:nvPr/>
          </p:nvSpPr>
          <p:spPr>
            <a:xfrm>
              <a:off x="365760" y="0"/>
              <a:ext cx="52389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1" lang="en" sz="3220">
                  <a:solidFill>
                    <a:srgbClr val="7BC148"/>
                  </a:solidFill>
                  <a:latin typeface="Arial"/>
                  <a:ea typeface="Arial"/>
                  <a:cs typeface="Arial"/>
                  <a:sym typeface="Arial"/>
                </a:rPr>
                <a:t>CTE 2 (patients_with_conditions)</a:t>
              </a:r>
              <a:endParaRPr b="1" sz="3220">
                <a:solidFill>
                  <a:srgbClr val="7BC148"/>
                </a:solidFill>
                <a:latin typeface="Arial"/>
                <a:ea typeface="Arial"/>
                <a:cs typeface="Arial"/>
                <a:sym typeface="Arial"/>
              </a:endParaRPr>
            </a:p>
          </p:txBody>
        </p:sp>
        <p:sp>
          <p:nvSpPr>
            <p:cNvPr id="462" name="Google Shape;462;p28"/>
            <p:cNvSpPr txBox="1"/>
            <p:nvPr/>
          </p:nvSpPr>
          <p:spPr>
            <a:xfrm>
              <a:off x="5905500" y="0"/>
              <a:ext cx="150069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1" lang="en" sz="3800">
                  <a:solidFill>
                    <a:srgbClr val="1A1A1A"/>
                  </a:solidFill>
                  <a:latin typeface="Courier New"/>
                  <a:ea typeface="Courier New"/>
                  <a:cs typeface="Courier New"/>
                  <a:sym typeface="Courier New"/>
                </a:rPr>
                <a:t>SELECT DISTINCT person_id FROM cdm.condition_occurrence</a:t>
              </a:r>
              <a:endParaRPr b="1" sz="3800">
                <a:solidFill>
                  <a:srgbClr val="1A1A1A"/>
                </a:solidFill>
                <a:latin typeface="Courier New"/>
                <a:ea typeface="Courier New"/>
                <a:cs typeface="Courier New"/>
                <a:sym typeface="Courier New"/>
              </a:endParaRPr>
            </a:p>
          </p:txBody>
        </p:sp>
      </p:grpSp>
      <p:grpSp>
        <p:nvGrpSpPr>
          <p:cNvPr id="463" name="Google Shape;463;p28"/>
          <p:cNvGrpSpPr/>
          <p:nvPr/>
        </p:nvGrpSpPr>
        <p:grpSpPr>
          <a:xfrm>
            <a:off x="1554480" y="8096250"/>
            <a:ext cx="21278100" cy="4000500"/>
            <a:chOff x="0" y="0"/>
            <a:chExt cx="21278100" cy="4000500"/>
          </a:xfrm>
        </p:grpSpPr>
        <p:sp>
          <p:nvSpPr>
            <p:cNvPr id="464" name="Google Shape;464;p28"/>
            <p:cNvSpPr/>
            <p:nvPr/>
          </p:nvSpPr>
          <p:spPr>
            <a:xfrm>
              <a:off x="0" y="0"/>
              <a:ext cx="21278100" cy="4000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8"/>
            <p:cNvSpPr txBox="1"/>
            <p:nvPr/>
          </p:nvSpPr>
          <p:spPr>
            <a:xfrm>
              <a:off x="365760" y="285750"/>
              <a:ext cx="52389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4255">
                  <a:solidFill>
                    <a:srgbClr val="7BC148"/>
                  </a:solidFill>
                  <a:latin typeface="Arial"/>
                  <a:ea typeface="Arial"/>
                  <a:cs typeface="Arial"/>
                  <a:sym typeface="Arial"/>
                </a:rPr>
                <a:t>Main Query</a:t>
              </a:r>
              <a:endParaRPr b="1" sz="4255">
                <a:solidFill>
                  <a:srgbClr val="7BC148"/>
                </a:solidFill>
                <a:latin typeface="Arial"/>
                <a:ea typeface="Arial"/>
                <a:cs typeface="Arial"/>
                <a:sym typeface="Arial"/>
              </a:endParaRPr>
            </a:p>
            <a:p>
              <a:pPr indent="0" lvl="0" marL="0" rtl="0" algn="l">
                <a:spcBef>
                  <a:spcPts val="750"/>
                </a:spcBef>
                <a:spcAft>
                  <a:spcPts val="1125"/>
                </a:spcAft>
                <a:buNone/>
              </a:pPr>
              <a:r>
                <a:rPr b="0" lang="en" sz="3330">
                  <a:solidFill>
                    <a:srgbClr val="1A1A1A"/>
                  </a:solidFill>
                  <a:latin typeface="Arial"/>
                  <a:ea typeface="Arial"/>
                  <a:cs typeface="Arial"/>
                  <a:sym typeface="Arial"/>
                </a:rPr>
                <a:t>We attempt to join the two lists. If a patient has visits but no conditions, the LEFT JOIN will return NULL for the condition side.</a:t>
              </a:r>
              <a:endParaRPr b="0" sz="3330">
                <a:solidFill>
                  <a:srgbClr val="1A1A1A"/>
                </a:solidFill>
                <a:latin typeface="Arial"/>
                <a:ea typeface="Arial"/>
                <a:cs typeface="Arial"/>
                <a:sym typeface="Arial"/>
              </a:endParaRPr>
            </a:p>
          </p:txBody>
        </p:sp>
        <p:sp>
          <p:nvSpPr>
            <p:cNvPr id="466" name="Google Shape;466;p28"/>
            <p:cNvSpPr txBox="1"/>
            <p:nvPr/>
          </p:nvSpPr>
          <p:spPr>
            <a:xfrm>
              <a:off x="5905500" y="285750"/>
              <a:ext cx="150069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800">
                  <a:solidFill>
                    <a:srgbClr val="1A1A1A"/>
                  </a:solidFill>
                  <a:latin typeface="Courier New"/>
                  <a:ea typeface="Courier New"/>
                  <a:cs typeface="Courier New"/>
                  <a:sym typeface="Courier New"/>
                </a:rPr>
                <a:t>SELECT pv.person_id</a:t>
              </a:r>
              <a:endParaRPr b="1" sz="3800">
                <a:solidFill>
                  <a:srgbClr val="1A1A1A"/>
                </a:solidFill>
                <a:latin typeface="Courier New"/>
                <a:ea typeface="Courier New"/>
                <a:cs typeface="Courier New"/>
                <a:sym typeface="Courier New"/>
              </a:endParaRPr>
            </a:p>
            <a:p>
              <a:pPr indent="0" lvl="0" marL="0" rtl="0" algn="l">
                <a:spcBef>
                  <a:spcPts val="600"/>
                </a:spcBef>
                <a:spcAft>
                  <a:spcPts val="0"/>
                </a:spcAft>
                <a:buNone/>
              </a:pPr>
              <a:r>
                <a:rPr b="1" lang="en" sz="3800">
                  <a:solidFill>
                    <a:srgbClr val="1A1A1A"/>
                  </a:solidFill>
                  <a:latin typeface="Courier New"/>
                  <a:ea typeface="Courier New"/>
                  <a:cs typeface="Courier New"/>
                  <a:sym typeface="Courier New"/>
                </a:rPr>
                <a:t>FROM patients_with_visits pv</a:t>
              </a:r>
              <a:endParaRPr b="1" sz="3800">
                <a:solidFill>
                  <a:srgbClr val="1A1A1A"/>
                </a:solidFill>
                <a:latin typeface="Courier New"/>
                <a:ea typeface="Courier New"/>
                <a:cs typeface="Courier New"/>
                <a:sym typeface="Courier New"/>
              </a:endParaRPr>
            </a:p>
            <a:p>
              <a:pPr indent="0" lvl="0" marL="0" rtl="0" algn="l">
                <a:spcBef>
                  <a:spcPts val="600"/>
                </a:spcBef>
                <a:spcAft>
                  <a:spcPts val="0"/>
                </a:spcAft>
                <a:buNone/>
              </a:pPr>
              <a:r>
                <a:rPr b="1" lang="en" sz="3800">
                  <a:solidFill>
                    <a:srgbClr val="1A1A1A"/>
                  </a:solidFill>
                  <a:latin typeface="Courier New"/>
                  <a:ea typeface="Courier New"/>
                  <a:cs typeface="Courier New"/>
                  <a:sym typeface="Courier New"/>
                </a:rPr>
                <a:t>LEFT JOIN patients_with_conditions pc ON pv.person_id = pc.person_id</a:t>
              </a:r>
              <a:endParaRPr b="1" sz="3800">
                <a:solidFill>
                  <a:srgbClr val="1A1A1A"/>
                </a:solidFill>
                <a:latin typeface="Courier New"/>
                <a:ea typeface="Courier New"/>
                <a:cs typeface="Courier New"/>
                <a:sym typeface="Courier New"/>
              </a:endParaRPr>
            </a:p>
            <a:p>
              <a:pPr indent="0" lvl="0" marL="0" rtl="0" algn="l">
                <a:spcBef>
                  <a:spcPts val="600"/>
                </a:spcBef>
                <a:spcAft>
                  <a:spcPts val="1125"/>
                </a:spcAft>
                <a:buNone/>
              </a:pPr>
              <a:r>
                <a:rPr b="1" lang="en" sz="3800">
                  <a:solidFill>
                    <a:srgbClr val="1A1A1A"/>
                  </a:solidFill>
                  <a:latin typeface="Courier New"/>
                  <a:ea typeface="Courier New"/>
                  <a:cs typeface="Courier New"/>
                  <a:sym typeface="Courier New"/>
                </a:rPr>
                <a:t>WHERE pc.person_id IS NULL;</a:t>
              </a:r>
              <a:endParaRPr b="1" sz="3800">
                <a:solidFill>
                  <a:srgbClr val="1A1A1A"/>
                </a:solidFill>
                <a:latin typeface="Courier New"/>
                <a:ea typeface="Courier New"/>
                <a:cs typeface="Courier New"/>
                <a:sym typeface="Courier New"/>
              </a:endParaRPr>
            </a:p>
          </p:txBody>
        </p:sp>
      </p:grpSp>
      <p:grpSp>
        <p:nvGrpSpPr>
          <p:cNvPr id="467" name="Google Shape;467;p28"/>
          <p:cNvGrpSpPr/>
          <p:nvPr/>
        </p:nvGrpSpPr>
        <p:grpSpPr>
          <a:xfrm>
            <a:off x="1554480" y="12600432"/>
            <a:ext cx="19723500" cy="795648"/>
            <a:chOff x="1554480" y="12600432"/>
            <a:chExt cx="19723500" cy="795648"/>
          </a:xfrm>
        </p:grpSpPr>
        <p:cxnSp>
          <p:nvCxnSpPr>
            <p:cNvPr id="468" name="Google Shape;468;p28"/>
            <p:cNvCxnSpPr/>
            <p:nvPr/>
          </p:nvCxnSpPr>
          <p:spPr>
            <a:xfrm>
              <a:off x="1554480" y="12600432"/>
              <a:ext cx="19723500" cy="0"/>
            </a:xfrm>
            <a:prstGeom prst="straightConnector1">
              <a:avLst/>
            </a:prstGeom>
            <a:solidFill>
              <a:srgbClr val="FFFFFF"/>
            </a:solidFill>
            <a:ln cap="flat" cmpd="sng" w="12700">
              <a:solidFill>
                <a:srgbClr val="CCCCCC"/>
              </a:solidFill>
              <a:prstDash val="solid"/>
              <a:round/>
              <a:headEnd len="sm" w="sm" type="none"/>
              <a:tailEnd len="sm" w="sm" type="none"/>
            </a:ln>
          </p:spPr>
        </p:cxnSp>
        <p:sp>
          <p:nvSpPr>
            <p:cNvPr id="469" name="Google Shape;469;p28"/>
            <p:cNvSpPr txBox="1"/>
            <p:nvPr/>
          </p:nvSpPr>
          <p:spPr>
            <a:xfrm>
              <a:off x="1554480" y="1275588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125"/>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29"/>
          <p:cNvPicPr preferRelativeResize="0"/>
          <p:nvPr/>
        </p:nvPicPr>
        <p:blipFill rotWithShape="1">
          <a:blip r:embed="rId3">
            <a:alphaModFix/>
          </a:blip>
          <a:srcRect b="0" l="20" r="20" t="0"/>
          <a:stretch/>
        </p:blipFill>
        <p:spPr>
          <a:xfrm>
            <a:off x="0" y="0"/>
            <a:ext cx="24384000" cy="13716000"/>
          </a:xfrm>
          <a:prstGeom prst="rect">
            <a:avLst/>
          </a:prstGeom>
          <a:noFill/>
          <a:ln>
            <a:noFill/>
          </a:ln>
        </p:spPr>
      </p:pic>
      <p:sp>
        <p:nvSpPr>
          <p:cNvPr id="475" name="Google Shape;475;p29"/>
          <p:cNvSpPr/>
          <p:nvPr/>
        </p:nvSpPr>
        <p:spPr>
          <a:xfrm>
            <a:off x="0" y="0"/>
            <a:ext cx="24387000" cy="1554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76" name="Google Shape;476;p29"/>
          <p:cNvPicPr preferRelativeResize="0"/>
          <p:nvPr/>
        </p:nvPicPr>
        <p:blipFill rotWithShape="1">
          <a:blip r:embed="rId4">
            <a:alphaModFix/>
          </a:blip>
          <a:srcRect b="0" l="0" r="0" t="0"/>
          <a:stretch/>
        </p:blipFill>
        <p:spPr>
          <a:xfrm>
            <a:off x="21854160" y="384048"/>
            <a:ext cx="1417200" cy="1417200"/>
          </a:xfrm>
          <a:prstGeom prst="rect">
            <a:avLst/>
          </a:prstGeom>
          <a:noFill/>
          <a:ln>
            <a:noFill/>
          </a:ln>
        </p:spPr>
      </p:pic>
      <p:sp>
        <p:nvSpPr>
          <p:cNvPr id="477" name="Google Shape;477;p29"/>
          <p:cNvSpPr txBox="1"/>
          <p:nvPr/>
        </p:nvSpPr>
        <p:spPr>
          <a:xfrm>
            <a:off x="1554480" y="868680"/>
            <a:ext cx="197511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250">
                <a:solidFill>
                  <a:srgbClr val="1A1A1A"/>
                </a:solidFill>
                <a:latin typeface="Arial"/>
                <a:ea typeface="Arial"/>
                <a:cs typeface="Arial"/>
                <a:sym typeface="Arial"/>
              </a:rPr>
              <a:t>Hands-On Practice Exercises and Quick Reference Guide</a:t>
            </a:r>
            <a:endParaRPr b="1" sz="5250">
              <a:solidFill>
                <a:srgbClr val="1A1A1A"/>
              </a:solidFill>
              <a:latin typeface="Arial"/>
              <a:ea typeface="Arial"/>
              <a:cs typeface="Arial"/>
              <a:sym typeface="Arial"/>
            </a:endParaRPr>
          </a:p>
        </p:txBody>
      </p:sp>
      <p:sp>
        <p:nvSpPr>
          <p:cNvPr id="478" name="Google Shape;478;p29"/>
          <p:cNvSpPr txBox="1"/>
          <p:nvPr/>
        </p:nvSpPr>
        <p:spPr>
          <a:xfrm>
            <a:off x="1554480" y="2333625"/>
            <a:ext cx="212781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660">
                <a:solidFill>
                  <a:srgbClr val="1A1A1A"/>
                </a:solidFill>
                <a:latin typeface="Arial"/>
                <a:ea typeface="Arial"/>
                <a:cs typeface="Arial"/>
                <a:sym typeface="Arial"/>
              </a:rPr>
              <a:t>Mastering CTEs requires hands-on application. Apply the patterns learned today to the following standard OMOP analytical scenarios:</a:t>
            </a:r>
            <a:endParaRPr b="0" sz="2660">
              <a:solidFill>
                <a:srgbClr val="1A1A1A"/>
              </a:solidFill>
              <a:latin typeface="Arial"/>
              <a:ea typeface="Arial"/>
              <a:cs typeface="Arial"/>
              <a:sym typeface="Arial"/>
            </a:endParaRPr>
          </a:p>
        </p:txBody>
      </p:sp>
      <p:grpSp>
        <p:nvGrpSpPr>
          <p:cNvPr id="479" name="Google Shape;479;p29"/>
          <p:cNvGrpSpPr/>
          <p:nvPr/>
        </p:nvGrpSpPr>
        <p:grpSpPr>
          <a:xfrm>
            <a:off x="1554480" y="3095625"/>
            <a:ext cx="10396800" cy="8381925"/>
            <a:chOff x="1554480" y="3095625"/>
            <a:chExt cx="10396800" cy="8381925"/>
          </a:xfrm>
        </p:grpSpPr>
        <p:sp>
          <p:nvSpPr>
            <p:cNvPr id="480" name="Google Shape;480;p29"/>
            <p:cNvSpPr txBox="1"/>
            <p:nvPr/>
          </p:nvSpPr>
          <p:spPr>
            <a:xfrm>
              <a:off x="1554480" y="3095625"/>
              <a:ext cx="103968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340">
                  <a:solidFill>
                    <a:srgbClr val="7BC148"/>
                  </a:solidFill>
                  <a:latin typeface="Arial"/>
                  <a:ea typeface="Arial"/>
                  <a:cs typeface="Arial"/>
                  <a:sym typeface="Arial"/>
                </a:rPr>
                <a:t>Practice Exercises</a:t>
              </a:r>
              <a:endParaRPr b="1" sz="4340">
                <a:solidFill>
                  <a:srgbClr val="7BC148"/>
                </a:solidFill>
                <a:latin typeface="Arial"/>
                <a:ea typeface="Arial"/>
                <a:cs typeface="Arial"/>
                <a:sym typeface="Arial"/>
              </a:endParaRPr>
            </a:p>
          </p:txBody>
        </p:sp>
        <p:sp>
          <p:nvSpPr>
            <p:cNvPr id="481" name="Google Shape;481;p29"/>
            <p:cNvSpPr/>
            <p:nvPr/>
          </p:nvSpPr>
          <p:spPr>
            <a:xfrm>
              <a:off x="1554480" y="3857625"/>
              <a:ext cx="952500" cy="952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9"/>
            <p:cNvSpPr txBox="1"/>
            <p:nvPr/>
          </p:nvSpPr>
          <p:spPr>
            <a:xfrm>
              <a:off x="1554480" y="3857625"/>
              <a:ext cx="95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01</a:t>
              </a:r>
              <a:endParaRPr b="1" sz="4800">
                <a:solidFill>
                  <a:srgbClr val="FFFFFF"/>
                </a:solidFill>
                <a:latin typeface="Arial"/>
                <a:ea typeface="Arial"/>
                <a:cs typeface="Arial"/>
                <a:sym typeface="Arial"/>
              </a:endParaRPr>
            </a:p>
          </p:txBody>
        </p:sp>
        <p:sp>
          <p:nvSpPr>
            <p:cNvPr id="483" name="Google Shape;483;p29"/>
            <p:cNvSpPr txBox="1"/>
            <p:nvPr/>
          </p:nvSpPr>
          <p:spPr>
            <a:xfrm>
              <a:off x="2697480" y="3857625"/>
              <a:ext cx="92538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800">
                  <a:solidFill>
                    <a:srgbClr val="1A1A1A"/>
                  </a:solidFill>
                  <a:latin typeface="Arial"/>
                  <a:ea typeface="Arial"/>
                  <a:cs typeface="Arial"/>
                  <a:sym typeface="Arial"/>
                </a:rPr>
                <a:t>Count the number of drugs per patient, then calculate the overall average.</a:t>
              </a:r>
              <a:endParaRPr b="0" sz="3800">
                <a:solidFill>
                  <a:srgbClr val="1A1A1A"/>
                </a:solidFill>
                <a:latin typeface="Arial"/>
                <a:ea typeface="Arial"/>
                <a:cs typeface="Arial"/>
                <a:sym typeface="Arial"/>
              </a:endParaRPr>
            </a:p>
          </p:txBody>
        </p:sp>
        <p:sp>
          <p:nvSpPr>
            <p:cNvPr id="484" name="Google Shape;484;p29"/>
            <p:cNvSpPr/>
            <p:nvPr/>
          </p:nvSpPr>
          <p:spPr>
            <a:xfrm>
              <a:off x="1554480" y="5715000"/>
              <a:ext cx="952500" cy="952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9"/>
            <p:cNvSpPr txBox="1"/>
            <p:nvPr/>
          </p:nvSpPr>
          <p:spPr>
            <a:xfrm>
              <a:off x="1554480" y="5715000"/>
              <a:ext cx="95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02</a:t>
              </a:r>
              <a:endParaRPr b="1" sz="4800">
                <a:solidFill>
                  <a:srgbClr val="FFFFFF"/>
                </a:solidFill>
                <a:latin typeface="Arial"/>
                <a:ea typeface="Arial"/>
                <a:cs typeface="Arial"/>
                <a:sym typeface="Arial"/>
              </a:endParaRPr>
            </a:p>
          </p:txBody>
        </p:sp>
        <p:sp>
          <p:nvSpPr>
            <p:cNvPr id="486" name="Google Shape;486;p29"/>
            <p:cNvSpPr txBox="1"/>
            <p:nvPr/>
          </p:nvSpPr>
          <p:spPr>
            <a:xfrm>
              <a:off x="2697480" y="5715000"/>
              <a:ext cx="92538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800">
                  <a:solidFill>
                    <a:srgbClr val="1A1A1A"/>
                  </a:solidFill>
                  <a:latin typeface="Arial"/>
                  <a:ea typeface="Arial"/>
                  <a:cs typeface="Arial"/>
                  <a:sym typeface="Arial"/>
                </a:rPr>
                <a:t>Find patients who have exactly one visit record in the database.</a:t>
              </a:r>
              <a:endParaRPr b="0" sz="3800">
                <a:solidFill>
                  <a:srgbClr val="1A1A1A"/>
                </a:solidFill>
                <a:latin typeface="Arial"/>
                <a:ea typeface="Arial"/>
                <a:cs typeface="Arial"/>
                <a:sym typeface="Arial"/>
              </a:endParaRPr>
            </a:p>
          </p:txBody>
        </p:sp>
        <p:sp>
          <p:nvSpPr>
            <p:cNvPr id="487" name="Google Shape;487;p29"/>
            <p:cNvSpPr/>
            <p:nvPr/>
          </p:nvSpPr>
          <p:spPr>
            <a:xfrm>
              <a:off x="1554480" y="7572375"/>
              <a:ext cx="952500" cy="952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29"/>
            <p:cNvSpPr txBox="1"/>
            <p:nvPr/>
          </p:nvSpPr>
          <p:spPr>
            <a:xfrm>
              <a:off x="1554480" y="7572375"/>
              <a:ext cx="95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03</a:t>
              </a:r>
              <a:endParaRPr b="1" sz="4800">
                <a:solidFill>
                  <a:srgbClr val="FFFFFF"/>
                </a:solidFill>
                <a:latin typeface="Arial"/>
                <a:ea typeface="Arial"/>
                <a:cs typeface="Arial"/>
                <a:sym typeface="Arial"/>
              </a:endParaRPr>
            </a:p>
          </p:txBody>
        </p:sp>
        <p:sp>
          <p:nvSpPr>
            <p:cNvPr id="489" name="Google Shape;489;p29"/>
            <p:cNvSpPr txBox="1"/>
            <p:nvPr/>
          </p:nvSpPr>
          <p:spPr>
            <a:xfrm>
              <a:off x="2697480" y="7572375"/>
              <a:ext cx="92538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800">
                  <a:solidFill>
                    <a:srgbClr val="1A1A1A"/>
                  </a:solidFill>
                  <a:latin typeface="Arial"/>
                  <a:ea typeface="Arial"/>
                  <a:cs typeface="Arial"/>
                  <a:sym typeface="Arial"/>
                </a:rPr>
                <a:t>Identify the top 5 conditions for elderly patients (defined as born before 1950).</a:t>
              </a:r>
              <a:endParaRPr b="0" sz="3800">
                <a:solidFill>
                  <a:srgbClr val="1A1A1A"/>
                </a:solidFill>
                <a:latin typeface="Arial"/>
                <a:ea typeface="Arial"/>
                <a:cs typeface="Arial"/>
                <a:sym typeface="Arial"/>
              </a:endParaRPr>
            </a:p>
          </p:txBody>
        </p:sp>
        <p:sp>
          <p:nvSpPr>
            <p:cNvPr id="490" name="Google Shape;490;p29"/>
            <p:cNvSpPr/>
            <p:nvPr/>
          </p:nvSpPr>
          <p:spPr>
            <a:xfrm>
              <a:off x="1554480" y="9429750"/>
              <a:ext cx="952500" cy="952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29"/>
            <p:cNvSpPr txBox="1"/>
            <p:nvPr/>
          </p:nvSpPr>
          <p:spPr>
            <a:xfrm>
              <a:off x="1554480" y="9429750"/>
              <a:ext cx="95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800">
                  <a:solidFill>
                    <a:srgbClr val="FFFFFF"/>
                  </a:solidFill>
                  <a:latin typeface="Arial"/>
                  <a:ea typeface="Arial"/>
                  <a:cs typeface="Arial"/>
                  <a:sym typeface="Arial"/>
                </a:rPr>
                <a:t>04</a:t>
              </a:r>
              <a:endParaRPr b="1" sz="4800">
                <a:solidFill>
                  <a:srgbClr val="FFFFFF"/>
                </a:solidFill>
                <a:latin typeface="Arial"/>
                <a:ea typeface="Arial"/>
                <a:cs typeface="Arial"/>
                <a:sym typeface="Arial"/>
              </a:endParaRPr>
            </a:p>
          </p:txBody>
        </p:sp>
        <p:sp>
          <p:nvSpPr>
            <p:cNvPr id="492" name="Google Shape;492;p29"/>
            <p:cNvSpPr txBox="1"/>
            <p:nvPr/>
          </p:nvSpPr>
          <p:spPr>
            <a:xfrm>
              <a:off x="2697480" y="9429750"/>
              <a:ext cx="92538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800">
                  <a:solidFill>
                    <a:srgbClr val="1A1A1A"/>
                  </a:solidFill>
                  <a:latin typeface="Arial"/>
                  <a:ea typeface="Arial"/>
                  <a:cs typeface="Arial"/>
                  <a:sym typeface="Arial"/>
                </a:rPr>
                <a:t>Generate an unmapped conditions report (filter for </a:t>
              </a:r>
              <a:r>
                <a:rPr b="1" lang="en" sz="3400">
                  <a:solidFill>
                    <a:srgbClr val="7BC148"/>
                  </a:solidFill>
                  <a:latin typeface="Courier New"/>
                  <a:ea typeface="Courier New"/>
                  <a:cs typeface="Courier New"/>
                  <a:sym typeface="Courier New"/>
                </a:rPr>
                <a:t>condition_concept_id = 0</a:t>
              </a:r>
              <a:r>
                <a:rPr b="0" lang="en" sz="3800">
                  <a:solidFill>
                    <a:srgbClr val="1A1A1A"/>
                  </a:solidFill>
                  <a:latin typeface="Arial"/>
                  <a:ea typeface="Arial"/>
                  <a:cs typeface="Arial"/>
                  <a:sym typeface="Arial"/>
                </a:rPr>
                <a:t>, then group by </a:t>
              </a:r>
              <a:r>
                <a:rPr b="1" lang="en" sz="3400">
                  <a:solidFill>
                    <a:srgbClr val="7BC148"/>
                  </a:solidFill>
                  <a:latin typeface="Courier New"/>
                  <a:ea typeface="Courier New"/>
                  <a:cs typeface="Courier New"/>
                  <a:sym typeface="Courier New"/>
                </a:rPr>
                <a:t>condition_source_value</a:t>
              </a:r>
              <a:r>
                <a:rPr b="0" lang="en" sz="3800">
                  <a:solidFill>
                    <a:srgbClr val="1A1A1A"/>
                  </a:solidFill>
                  <a:latin typeface="Arial"/>
                  <a:ea typeface="Arial"/>
                  <a:cs typeface="Arial"/>
                  <a:sym typeface="Arial"/>
                </a:rPr>
                <a:t>).</a:t>
              </a:r>
              <a:endParaRPr b="0" sz="3800">
                <a:solidFill>
                  <a:srgbClr val="1A1A1A"/>
                </a:solidFill>
                <a:latin typeface="Arial"/>
                <a:ea typeface="Arial"/>
                <a:cs typeface="Arial"/>
                <a:sym typeface="Arial"/>
              </a:endParaRPr>
            </a:p>
          </p:txBody>
        </p:sp>
      </p:grpSp>
      <p:grpSp>
        <p:nvGrpSpPr>
          <p:cNvPr id="493" name="Google Shape;493;p29"/>
          <p:cNvGrpSpPr/>
          <p:nvPr/>
        </p:nvGrpSpPr>
        <p:grpSpPr>
          <a:xfrm>
            <a:off x="12435840" y="3095625"/>
            <a:ext cx="10396800" cy="8382000"/>
            <a:chOff x="12435840" y="3095625"/>
            <a:chExt cx="10396800" cy="8382000"/>
          </a:xfrm>
        </p:grpSpPr>
        <p:sp>
          <p:nvSpPr>
            <p:cNvPr id="494" name="Google Shape;494;p29"/>
            <p:cNvSpPr/>
            <p:nvPr/>
          </p:nvSpPr>
          <p:spPr>
            <a:xfrm>
              <a:off x="12435840" y="3095625"/>
              <a:ext cx="10396800" cy="8382000"/>
            </a:xfrm>
            <a:prstGeom prst="rect">
              <a:avLst/>
            </a:prstGeom>
            <a:solidFill>
              <a:srgbClr val="F4F9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29"/>
            <p:cNvSpPr txBox="1"/>
            <p:nvPr/>
          </p:nvSpPr>
          <p:spPr>
            <a:xfrm>
              <a:off x="12893040" y="3429000"/>
              <a:ext cx="94824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4340">
                  <a:solidFill>
                    <a:srgbClr val="44546A"/>
                  </a:solidFill>
                  <a:latin typeface="Arial"/>
                  <a:ea typeface="Arial"/>
                  <a:cs typeface="Arial"/>
                  <a:sym typeface="Arial"/>
                </a:rPr>
                <a:t>Quick Reference Cheat Sheet</a:t>
              </a:r>
              <a:endParaRPr b="1" sz="4340">
                <a:solidFill>
                  <a:srgbClr val="44546A"/>
                </a:solidFill>
                <a:latin typeface="Arial"/>
                <a:ea typeface="Arial"/>
                <a:cs typeface="Arial"/>
                <a:sym typeface="Arial"/>
              </a:endParaRPr>
            </a:p>
          </p:txBody>
        </p:sp>
        <p:sp>
          <p:nvSpPr>
            <p:cNvPr id="496" name="Google Shape;496;p29"/>
            <p:cNvSpPr/>
            <p:nvPr/>
          </p:nvSpPr>
          <p:spPr>
            <a:xfrm>
              <a:off x="12893040" y="4429125"/>
              <a:ext cx="133500" cy="133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29"/>
            <p:cNvSpPr txBox="1"/>
            <p:nvPr/>
          </p:nvSpPr>
          <p:spPr>
            <a:xfrm>
              <a:off x="13197840" y="4286250"/>
              <a:ext cx="91776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945">
                  <a:solidFill>
                    <a:srgbClr val="1A1A1A"/>
                  </a:solidFill>
                  <a:latin typeface="Arial"/>
                  <a:ea typeface="Arial"/>
                  <a:cs typeface="Arial"/>
                  <a:sym typeface="Arial"/>
                </a:rPr>
                <a:t>Standard Shape:</a:t>
              </a:r>
              <a:endParaRPr b="0" sz="2945">
                <a:solidFill>
                  <a:srgbClr val="1A1A1A"/>
                </a:solidFill>
                <a:latin typeface="Arial"/>
                <a:ea typeface="Arial"/>
                <a:cs typeface="Arial"/>
                <a:sym typeface="Arial"/>
              </a:endParaRPr>
            </a:p>
            <a:p>
              <a:pPr indent="0" lvl="0" marL="0" rtl="0" algn="l">
                <a:spcBef>
                  <a:spcPts val="600"/>
                </a:spcBef>
                <a:spcAft>
                  <a:spcPts val="0"/>
                </a:spcAft>
                <a:buNone/>
              </a:pPr>
              <a:r>
                <a:rPr b="1" lang="en" sz="2635">
                  <a:solidFill>
                    <a:srgbClr val="1A1A1A"/>
                  </a:solidFill>
                  <a:highlight>
                    <a:srgbClr val="FFFFFF"/>
                  </a:highlight>
                  <a:latin typeface="Courier New"/>
                  <a:ea typeface="Courier New"/>
                  <a:cs typeface="Courier New"/>
                  <a:sym typeface="Courier New"/>
                </a:rPr>
                <a:t>WITH name AS (SELECT...) SELECT... FROM name;</a:t>
              </a:r>
              <a:endParaRPr b="1" sz="2635">
                <a:solidFill>
                  <a:srgbClr val="1A1A1A"/>
                </a:solidFill>
                <a:highlight>
                  <a:srgbClr val="FFFFFF"/>
                </a:highlight>
                <a:latin typeface="Courier New"/>
                <a:ea typeface="Courier New"/>
                <a:cs typeface="Courier New"/>
                <a:sym typeface="Courier New"/>
              </a:endParaRPr>
            </a:p>
          </p:txBody>
        </p:sp>
        <p:sp>
          <p:nvSpPr>
            <p:cNvPr id="498" name="Google Shape;498;p29"/>
            <p:cNvSpPr/>
            <p:nvPr/>
          </p:nvSpPr>
          <p:spPr>
            <a:xfrm>
              <a:off x="12893040" y="6048375"/>
              <a:ext cx="133500" cy="133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9"/>
            <p:cNvSpPr txBox="1"/>
            <p:nvPr/>
          </p:nvSpPr>
          <p:spPr>
            <a:xfrm>
              <a:off x="13197840" y="5905500"/>
              <a:ext cx="91776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945">
                  <a:solidFill>
                    <a:srgbClr val="1A1A1A"/>
                  </a:solidFill>
                  <a:latin typeface="Arial"/>
                  <a:ea typeface="Arial"/>
                  <a:cs typeface="Arial"/>
                  <a:sym typeface="Arial"/>
                </a:rPr>
                <a:t>Multiple CTE Syntax:</a:t>
              </a:r>
              <a:endParaRPr b="0" sz="2945">
                <a:solidFill>
                  <a:srgbClr val="1A1A1A"/>
                </a:solidFill>
                <a:latin typeface="Arial"/>
                <a:ea typeface="Arial"/>
                <a:cs typeface="Arial"/>
                <a:sym typeface="Arial"/>
              </a:endParaRPr>
            </a:p>
            <a:p>
              <a:pPr indent="0" lvl="0" marL="0" rtl="0" algn="l">
                <a:spcBef>
                  <a:spcPts val="450"/>
                </a:spcBef>
                <a:spcAft>
                  <a:spcPts val="0"/>
                </a:spcAft>
                <a:buNone/>
              </a:pPr>
              <a:r>
                <a:rPr b="0" lang="en" sz="2945">
                  <a:solidFill>
                    <a:srgbClr val="1A1A1A"/>
                  </a:solidFill>
                  <a:latin typeface="Arial"/>
                  <a:ea typeface="Arial"/>
                  <a:cs typeface="Arial"/>
                  <a:sym typeface="Arial"/>
                </a:rPr>
                <a:t>Separate with commas, single </a:t>
              </a:r>
              <a:r>
                <a:rPr b="1" lang="en" sz="2635">
                  <a:solidFill>
                    <a:srgbClr val="7BC148"/>
                  </a:solidFill>
                  <a:latin typeface="Courier New"/>
                  <a:ea typeface="Courier New"/>
                  <a:cs typeface="Courier New"/>
                  <a:sym typeface="Courier New"/>
                </a:rPr>
                <a:t>WITH</a:t>
              </a:r>
              <a:r>
                <a:rPr b="0" lang="en" sz="2945">
                  <a:solidFill>
                    <a:srgbClr val="1A1A1A"/>
                  </a:solidFill>
                  <a:latin typeface="Arial"/>
                  <a:ea typeface="Arial"/>
                  <a:cs typeface="Arial"/>
                  <a:sym typeface="Arial"/>
                </a:rPr>
                <a:t> keyword at the top.</a:t>
              </a:r>
              <a:endParaRPr b="0" sz="2945">
                <a:solidFill>
                  <a:srgbClr val="1A1A1A"/>
                </a:solidFill>
                <a:latin typeface="Arial"/>
                <a:ea typeface="Arial"/>
                <a:cs typeface="Arial"/>
                <a:sym typeface="Arial"/>
              </a:endParaRPr>
            </a:p>
          </p:txBody>
        </p:sp>
        <p:sp>
          <p:nvSpPr>
            <p:cNvPr id="500" name="Google Shape;500;p29"/>
            <p:cNvSpPr/>
            <p:nvPr/>
          </p:nvSpPr>
          <p:spPr>
            <a:xfrm>
              <a:off x="12893040" y="7572375"/>
              <a:ext cx="133500" cy="133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29"/>
            <p:cNvSpPr txBox="1"/>
            <p:nvPr/>
          </p:nvSpPr>
          <p:spPr>
            <a:xfrm>
              <a:off x="13197840" y="7429500"/>
              <a:ext cx="91776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945">
                  <a:solidFill>
                    <a:srgbClr val="1A1A1A"/>
                  </a:solidFill>
                  <a:latin typeface="Arial"/>
                  <a:ea typeface="Arial"/>
                  <a:cs typeface="Arial"/>
                  <a:sym typeface="Arial"/>
                </a:rPr>
                <a:t>CTE + JOIN Patterns:</a:t>
              </a:r>
              <a:endParaRPr b="0" sz="2945">
                <a:solidFill>
                  <a:srgbClr val="1A1A1A"/>
                </a:solidFill>
                <a:latin typeface="Arial"/>
                <a:ea typeface="Arial"/>
                <a:cs typeface="Arial"/>
                <a:sym typeface="Arial"/>
              </a:endParaRPr>
            </a:p>
            <a:p>
              <a:pPr indent="0" lvl="0" marL="0" rtl="0" algn="l">
                <a:spcBef>
                  <a:spcPts val="450"/>
                </a:spcBef>
                <a:spcAft>
                  <a:spcPts val="0"/>
                </a:spcAft>
                <a:buNone/>
              </a:pPr>
              <a:r>
                <a:rPr b="0" lang="en" sz="2945">
                  <a:solidFill>
                    <a:srgbClr val="1A1A1A"/>
                  </a:solidFill>
                  <a:latin typeface="Arial"/>
                  <a:ea typeface="Arial"/>
                  <a:cs typeface="Arial"/>
                  <a:sym typeface="Arial"/>
                </a:rPr>
                <a:t>Isolate and aggregate data in CTEs before joining to main domain tables to avoid Cartesian products.</a:t>
              </a:r>
              <a:endParaRPr b="0" sz="2945">
                <a:solidFill>
                  <a:srgbClr val="1A1A1A"/>
                </a:solidFill>
                <a:latin typeface="Arial"/>
                <a:ea typeface="Arial"/>
                <a:cs typeface="Arial"/>
                <a:sym typeface="Arial"/>
              </a:endParaRPr>
            </a:p>
          </p:txBody>
        </p:sp>
        <p:sp>
          <p:nvSpPr>
            <p:cNvPr id="502" name="Google Shape;502;p29"/>
            <p:cNvSpPr/>
            <p:nvPr/>
          </p:nvSpPr>
          <p:spPr>
            <a:xfrm>
              <a:off x="12893040" y="9477375"/>
              <a:ext cx="133500" cy="1335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29"/>
            <p:cNvSpPr txBox="1"/>
            <p:nvPr/>
          </p:nvSpPr>
          <p:spPr>
            <a:xfrm>
              <a:off x="13197840" y="9334500"/>
              <a:ext cx="91776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515">
                  <a:solidFill>
                    <a:srgbClr val="1A1A1A"/>
                  </a:solidFill>
                  <a:latin typeface="Arial"/>
                  <a:ea typeface="Arial"/>
                  <a:cs typeface="Arial"/>
                  <a:sym typeface="Arial"/>
                </a:rPr>
                <a:t>Key Takeaway:</a:t>
              </a:r>
              <a:endParaRPr b="0" sz="3515">
                <a:solidFill>
                  <a:srgbClr val="1A1A1A"/>
                </a:solidFill>
                <a:latin typeface="Arial"/>
                <a:ea typeface="Arial"/>
                <a:cs typeface="Arial"/>
                <a:sym typeface="Arial"/>
              </a:endParaRPr>
            </a:p>
            <a:p>
              <a:pPr indent="0" lvl="0" marL="0" rtl="0" algn="l">
                <a:spcBef>
                  <a:spcPts val="450"/>
                </a:spcBef>
                <a:spcAft>
                  <a:spcPts val="0"/>
                </a:spcAft>
                <a:buNone/>
              </a:pPr>
              <a:r>
                <a:rPr b="0" lang="en" sz="3515">
                  <a:solidFill>
                    <a:srgbClr val="1A1A1A"/>
                  </a:solidFill>
                  <a:latin typeface="Arial"/>
                  <a:ea typeface="Arial"/>
                  <a:cs typeface="Arial"/>
                  <a:sym typeface="Arial"/>
                </a:rPr>
                <a:t>Use CTEs to replace nested subqueries for improved readability.</a:t>
              </a:r>
              <a:endParaRPr b="0" sz="3515">
                <a:solidFill>
                  <a:srgbClr val="1A1A1A"/>
                </a:solidFill>
                <a:latin typeface="Arial"/>
                <a:ea typeface="Arial"/>
                <a:cs typeface="Arial"/>
                <a:sym typeface="Arial"/>
              </a:endParaRPr>
            </a:p>
          </p:txBody>
        </p:sp>
      </p:grpSp>
      <p:cxnSp>
        <p:nvCxnSpPr>
          <p:cNvPr id="504" name="Google Shape;504;p29"/>
          <p:cNvCxnSpPr/>
          <p:nvPr/>
        </p:nvCxnSpPr>
        <p:spPr>
          <a:xfrm>
            <a:off x="1554480" y="12600432"/>
            <a:ext cx="21278100" cy="0"/>
          </a:xfrm>
          <a:prstGeom prst="straightConnector1">
            <a:avLst/>
          </a:prstGeom>
          <a:solidFill>
            <a:srgbClr val="FFFFFF"/>
          </a:solidFill>
          <a:ln cap="flat" cmpd="sng" w="12700">
            <a:solidFill>
              <a:srgbClr val="CCCCCC"/>
            </a:solidFill>
            <a:prstDash val="solid"/>
            <a:round/>
            <a:headEnd len="sm" w="sm" type="none"/>
            <a:tailEnd len="sm" w="sm" type="none"/>
          </a:ln>
        </p:spPr>
      </p:cxnSp>
      <p:grpSp>
        <p:nvGrpSpPr>
          <p:cNvPr id="505" name="Google Shape;505;p29"/>
          <p:cNvGrpSpPr/>
          <p:nvPr/>
        </p:nvGrpSpPr>
        <p:grpSpPr>
          <a:xfrm>
            <a:off x="1554480" y="12755880"/>
            <a:ext cx="12801600" cy="640200"/>
            <a:chOff x="0" y="0"/>
            <a:chExt cx="12801600" cy="640200"/>
          </a:xfrm>
        </p:grpSpPr>
        <p:sp>
          <p:nvSpPr>
            <p:cNvPr id="506" name="Google Shape;506;p29"/>
            <p:cNvSpPr/>
            <p:nvPr/>
          </p:nvSpPr>
          <p:spPr>
            <a:xfrm>
              <a:off x="0" y="0"/>
              <a:ext cx="12801600" cy="64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7" name="Google Shape;507;p29"/>
            <p:cNvSpPr txBox="1"/>
            <p:nvPr/>
          </p:nvSpPr>
          <p:spPr>
            <a:xfrm>
              <a:off x="0" y="0"/>
              <a:ext cx="128016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6B6B6B"/>
                  </a:solidFill>
                  <a:latin typeface="Arial"/>
                  <a:ea typeface="Arial"/>
                  <a:cs typeface="Arial"/>
                  <a:sym typeface="Arial"/>
                </a:rPr>
                <a:t>Transforming lives in Africa through research</a:t>
              </a:r>
              <a:endParaRPr b="0" sz="2600">
                <a:solidFill>
                  <a:srgbClr val="6B6B6B"/>
                </a:solidFill>
                <a:latin typeface="Arial"/>
                <a:ea typeface="Arial"/>
                <a:cs typeface="Arial"/>
                <a:sym typeface="Arial"/>
              </a:endParaRPr>
            </a:p>
          </p:txBody>
        </p:sp>
      </p:grpSp>
      <p:sp>
        <p:nvSpPr>
          <p:cNvPr id="508" name="Google Shape;508;p29"/>
          <p:cNvSpPr/>
          <p:nvPr/>
        </p:nvSpPr>
        <p:spPr>
          <a:xfrm>
            <a:off x="22265640" y="12710160"/>
            <a:ext cx="1051500" cy="777300"/>
          </a:xfrm>
          <a:prstGeom prst="rect">
            <a:avLst/>
          </a:prstGeom>
          <a:solidFill>
            <a:srgbClr val="7BC1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9" name="Google Shape;509;p29"/>
          <p:cNvGrpSpPr/>
          <p:nvPr/>
        </p:nvGrpSpPr>
        <p:grpSpPr>
          <a:xfrm>
            <a:off x="22265640" y="12710160"/>
            <a:ext cx="1051500" cy="777300"/>
            <a:chOff x="0" y="0"/>
            <a:chExt cx="1051500" cy="777300"/>
          </a:xfrm>
        </p:grpSpPr>
        <p:sp>
          <p:nvSpPr>
            <p:cNvPr id="510" name="Google Shape;510;p29"/>
            <p:cNvSpPr/>
            <p:nvPr/>
          </p:nvSpPr>
          <p:spPr>
            <a:xfrm>
              <a:off x="0" y="0"/>
              <a:ext cx="1051500" cy="777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29"/>
            <p:cNvSpPr txBox="1"/>
            <p:nvPr/>
          </p:nvSpPr>
          <p:spPr>
            <a:xfrm>
              <a:off x="0" y="0"/>
              <a:ext cx="1051500" cy="777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000">
                  <a:solidFill>
                    <a:srgbClr val="FFFFFF"/>
                  </a:solidFill>
                  <a:latin typeface="Arial"/>
                  <a:ea typeface="Arial"/>
                  <a:cs typeface="Arial"/>
                  <a:sym typeface="Arial"/>
                </a:rPr>
                <a:t>41</a:t>
              </a:r>
              <a:endParaRPr b="1" sz="3000">
                <a:solidFill>
                  <a:srgbClr val="FFFFFF"/>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