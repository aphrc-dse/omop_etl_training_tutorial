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0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72" r:id="rId11"/>
    <p:sldId id="265" r:id="rId12"/>
    <p:sldId id="266" r:id="rId13"/>
    <p:sldId id="267" r:id="rId14"/>
    <p:sldId id="268" r:id="rId15"/>
  </p:sldIdLst>
  <p:sldSz cx="24387175" cy="13716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iLiMcd5zBLIBcayJWfz+hcm1N9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CF77A0F-6D22-40FF-81DA-3A1FEB37C469}">
  <a:tblStyle styleId="{6CF77A0F-6D22-40FF-81DA-3A1FEB37C46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CF4E8"/>
          </a:solidFill>
        </a:fill>
      </a:tcStyle>
    </a:wholeTbl>
    <a:band1H>
      <a:tcTxStyle b="off" i="off"/>
      <a:tcStyle>
        <a:tcBdr/>
        <a:fill>
          <a:solidFill>
            <a:srgbClr val="D6E9CE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6E9CE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0" d="100"/>
          <a:sy n="30" d="100"/>
        </p:scale>
        <p:origin x="884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K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86E96EED-3108-C960-8940-676B2B639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0:notes">
            <a:extLst>
              <a:ext uri="{FF2B5EF4-FFF2-40B4-BE49-F238E27FC236}">
                <a16:creationId xmlns:a16="http://schemas.microsoft.com/office/drawing/2014/main" id="{3F1F7C09-7331-5E2C-D40B-C6BEDB82DC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40:notes">
            <a:extLst>
              <a:ext uri="{FF2B5EF4-FFF2-40B4-BE49-F238E27FC236}">
                <a16:creationId xmlns:a16="http://schemas.microsoft.com/office/drawing/2014/main" id="{41C07804-AED6-7BB1-C343-425FE19065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506483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K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K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KE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KE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KE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KE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449A5D3D-6340-3D8A-9BD8-5EDAB43B3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6:notes">
            <a:extLst>
              <a:ext uri="{FF2B5EF4-FFF2-40B4-BE49-F238E27FC236}">
                <a16:creationId xmlns:a16="http://schemas.microsoft.com/office/drawing/2014/main" id="{9BBB8C50-6C92-32ED-437D-8529273E61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46:notes">
            <a:extLst>
              <a:ext uri="{FF2B5EF4-FFF2-40B4-BE49-F238E27FC236}">
                <a16:creationId xmlns:a16="http://schemas.microsoft.com/office/drawing/2014/main" id="{55FAC92D-3750-D624-132C-AEFB8CE1C8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9735939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3B871FEA-F7AD-8916-BBD2-D88374022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6:notes">
            <a:extLst>
              <a:ext uri="{FF2B5EF4-FFF2-40B4-BE49-F238E27FC236}">
                <a16:creationId xmlns:a16="http://schemas.microsoft.com/office/drawing/2014/main" id="{02EE3D30-88EB-FC24-C48E-A4BD47B5FD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46:notes">
            <a:extLst>
              <a:ext uri="{FF2B5EF4-FFF2-40B4-BE49-F238E27FC236}">
                <a16:creationId xmlns:a16="http://schemas.microsoft.com/office/drawing/2014/main" id="{F63A3E1A-6E3C-4BC0-A271-DF800E5792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2729334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KE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3" name="Google Shape;213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KE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KE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4" name="Google Shape;24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K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 (Option 1)">
  <p:cSld name="Main Slide (Option 1)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0"/>
          <p:cNvSpPr txBox="1">
            <a:spLocks noGrp="1"/>
          </p:cNvSpPr>
          <p:nvPr>
            <p:ph type="dt" idx="10"/>
          </p:nvPr>
        </p:nvSpPr>
        <p:spPr>
          <a:xfrm>
            <a:off x="1676618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0"/>
          <p:cNvSpPr txBox="1">
            <a:spLocks noGrp="1"/>
          </p:cNvSpPr>
          <p:nvPr>
            <p:ph type="ftr" idx="11"/>
          </p:nvPr>
        </p:nvSpPr>
        <p:spPr>
          <a:xfrm>
            <a:off x="8720138" y="12634913"/>
            <a:ext cx="6946900" cy="10810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0"/>
          <p:cNvSpPr txBox="1">
            <a:spLocks noGrp="1"/>
          </p:cNvSpPr>
          <p:nvPr>
            <p:ph type="sldNum" idx="12"/>
          </p:nvPr>
        </p:nvSpPr>
        <p:spPr>
          <a:xfrm>
            <a:off x="23306088" y="12634913"/>
            <a:ext cx="930592" cy="108108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0" dist="254000" dir="13500000" algn="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50"/>
          <p:cNvSpPr txBox="1">
            <a:spLocks noGrp="1"/>
          </p:cNvSpPr>
          <p:nvPr>
            <p:ph type="title"/>
          </p:nvPr>
        </p:nvSpPr>
        <p:spPr>
          <a:xfrm>
            <a:off x="1068388" y="5919537"/>
            <a:ext cx="22237698" cy="2381500"/>
          </a:xfrm>
          <a:prstGeom prst="rect">
            <a:avLst/>
          </a:prstGeom>
          <a:solidFill>
            <a:srgbClr val="EDECED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0"/>
              <a:buFont typeface="Calibri"/>
              <a:buNone/>
              <a:defRPr sz="1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0"/>
          <p:cNvSpPr txBox="1">
            <a:spLocks noGrp="1"/>
          </p:cNvSpPr>
          <p:nvPr>
            <p:ph type="body" idx="1"/>
          </p:nvPr>
        </p:nvSpPr>
        <p:spPr>
          <a:xfrm>
            <a:off x="3852068" y="8518359"/>
            <a:ext cx="16670338" cy="1227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50"/>
          <p:cNvSpPr txBox="1">
            <a:spLocks noGrp="1"/>
          </p:cNvSpPr>
          <p:nvPr>
            <p:ph type="body" idx="2"/>
          </p:nvPr>
        </p:nvSpPr>
        <p:spPr>
          <a:xfrm>
            <a:off x="6635750" y="9962985"/>
            <a:ext cx="11114088" cy="1227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50"/>
          <p:cNvSpPr/>
          <p:nvPr/>
        </p:nvSpPr>
        <p:spPr>
          <a:xfrm>
            <a:off x="5248275" y="13557250"/>
            <a:ext cx="19138900" cy="158750"/>
          </a:xfrm>
          <a:prstGeom prst="rect">
            <a:avLst/>
          </a:prstGeom>
          <a:solidFill>
            <a:schemeClr val="accent1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50"/>
          <p:cNvSpPr/>
          <p:nvPr/>
        </p:nvSpPr>
        <p:spPr>
          <a:xfrm>
            <a:off x="0" y="13557250"/>
            <a:ext cx="5248272" cy="158750"/>
          </a:xfrm>
          <a:prstGeom prst="rect">
            <a:avLst/>
          </a:prstGeom>
          <a:solidFill>
            <a:schemeClr val="accent4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 (1 Column)">
  <p:cSld name="Title &amp; Content (1 Column)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>
            <a:spLocks noGrp="1"/>
          </p:cNvSpPr>
          <p:nvPr>
            <p:ph type="title"/>
          </p:nvPr>
        </p:nvSpPr>
        <p:spPr>
          <a:xfrm>
            <a:off x="1229995" y="1079500"/>
            <a:ext cx="22076093" cy="1444626"/>
          </a:xfrm>
          <a:prstGeom prst="rect">
            <a:avLst/>
          </a:prstGeom>
          <a:solidFill>
            <a:srgbClr val="EDECED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dt" idx="10"/>
          </p:nvPr>
        </p:nvSpPr>
        <p:spPr>
          <a:xfrm>
            <a:off x="1676618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ftr" idx="11"/>
          </p:nvPr>
        </p:nvSpPr>
        <p:spPr>
          <a:xfrm>
            <a:off x="8720138" y="12634913"/>
            <a:ext cx="6946900" cy="10810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sldNum" idx="12"/>
          </p:nvPr>
        </p:nvSpPr>
        <p:spPr>
          <a:xfrm>
            <a:off x="23306088" y="12634913"/>
            <a:ext cx="930592" cy="108108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0" dist="254000" dir="13500000" algn="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body" idx="1"/>
          </p:nvPr>
        </p:nvSpPr>
        <p:spPr>
          <a:xfrm>
            <a:off x="1068388" y="3285866"/>
            <a:ext cx="22237700" cy="9349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/>
          <p:nvPr/>
        </p:nvSpPr>
        <p:spPr>
          <a:xfrm>
            <a:off x="1079500" y="1079500"/>
            <a:ext cx="150495" cy="1444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>
            <a:spLocks noGrp="1"/>
          </p:cNvSpPr>
          <p:nvPr>
            <p:ph type="dt" idx="10"/>
          </p:nvPr>
        </p:nvSpPr>
        <p:spPr>
          <a:xfrm>
            <a:off x="1676618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4"/>
          <p:cNvSpPr txBox="1">
            <a:spLocks noGrp="1"/>
          </p:cNvSpPr>
          <p:nvPr>
            <p:ph type="ftr" idx="11"/>
          </p:nvPr>
        </p:nvSpPr>
        <p:spPr>
          <a:xfrm>
            <a:off x="8720138" y="12634913"/>
            <a:ext cx="6946900" cy="10810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sldNum" idx="12"/>
          </p:nvPr>
        </p:nvSpPr>
        <p:spPr>
          <a:xfrm>
            <a:off x="23306088" y="12634913"/>
            <a:ext cx="930592" cy="108108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0" dist="254000" dir="13500000" algn="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34"/>
          <p:cNvSpPr/>
          <p:nvPr/>
        </p:nvSpPr>
        <p:spPr>
          <a:xfrm>
            <a:off x="-1" y="11887200"/>
            <a:ext cx="24387175" cy="18288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4"/>
          <p:cNvSpPr txBox="1">
            <a:spLocks noGrp="1"/>
          </p:cNvSpPr>
          <p:nvPr>
            <p:ph type="title"/>
          </p:nvPr>
        </p:nvSpPr>
        <p:spPr>
          <a:xfrm>
            <a:off x="0" y="5413375"/>
            <a:ext cx="24387175" cy="2887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0"/>
              <a:buFont typeface="Calibri"/>
              <a:buNone/>
              <a:defRPr sz="14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4"/>
          <p:cNvSpPr txBox="1">
            <a:spLocks noGrp="1"/>
          </p:cNvSpPr>
          <p:nvPr>
            <p:ph type="body" idx="1"/>
          </p:nvPr>
        </p:nvSpPr>
        <p:spPr>
          <a:xfrm>
            <a:off x="6635750" y="10460038"/>
            <a:ext cx="11114088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libri"/>
              <a:buNone/>
              <a:defRPr sz="400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34"/>
          <p:cNvSpPr/>
          <p:nvPr/>
        </p:nvSpPr>
        <p:spPr>
          <a:xfrm>
            <a:off x="0" y="11887200"/>
            <a:ext cx="24387176" cy="1828800"/>
          </a:xfrm>
          <a:prstGeom prst="rect">
            <a:avLst/>
          </a:prstGeom>
          <a:blipFill rotWithShape="1">
            <a:blip r:embed="rId2">
              <a:alphaModFix amt="5000"/>
            </a:blip>
            <a:stretch>
              <a:fillRect t="-92848" b="-123047"/>
            </a:stretch>
          </a:blipFill>
          <a:ln w="12700" cap="flat" cmpd="sng">
            <a:solidFill>
              <a:srgbClr val="598C3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5"/>
          <p:cNvSpPr txBox="1">
            <a:spLocks noGrp="1"/>
          </p:cNvSpPr>
          <p:nvPr>
            <p:ph type="title"/>
          </p:nvPr>
        </p:nvSpPr>
        <p:spPr>
          <a:xfrm>
            <a:off x="1229995" y="1079500"/>
            <a:ext cx="22076093" cy="1444626"/>
          </a:xfrm>
          <a:prstGeom prst="rect">
            <a:avLst/>
          </a:prstGeom>
          <a:solidFill>
            <a:srgbClr val="EDECED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5"/>
          <p:cNvSpPr txBox="1">
            <a:spLocks noGrp="1"/>
          </p:cNvSpPr>
          <p:nvPr>
            <p:ph type="dt" idx="10"/>
          </p:nvPr>
        </p:nvSpPr>
        <p:spPr>
          <a:xfrm>
            <a:off x="1676618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5"/>
          <p:cNvSpPr txBox="1">
            <a:spLocks noGrp="1"/>
          </p:cNvSpPr>
          <p:nvPr>
            <p:ph type="ftr" idx="11"/>
          </p:nvPr>
        </p:nvSpPr>
        <p:spPr>
          <a:xfrm>
            <a:off x="8720138" y="12634913"/>
            <a:ext cx="6946900" cy="10810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5"/>
          <p:cNvSpPr txBox="1">
            <a:spLocks noGrp="1"/>
          </p:cNvSpPr>
          <p:nvPr>
            <p:ph type="sldNum" idx="12"/>
          </p:nvPr>
        </p:nvSpPr>
        <p:spPr>
          <a:xfrm>
            <a:off x="23306088" y="12634913"/>
            <a:ext cx="930592" cy="108108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0" dist="254000" dir="13500000" algn="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35"/>
          <p:cNvSpPr/>
          <p:nvPr/>
        </p:nvSpPr>
        <p:spPr>
          <a:xfrm>
            <a:off x="1079500" y="1079500"/>
            <a:ext cx="150495" cy="1444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5"/>
          <p:cNvSpPr txBox="1"/>
          <p:nvPr/>
        </p:nvSpPr>
        <p:spPr>
          <a:xfrm>
            <a:off x="1577684" y="3604016"/>
            <a:ext cx="1001421" cy="1140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5"/>
          <p:cNvSpPr txBox="1">
            <a:spLocks noGrp="1"/>
          </p:cNvSpPr>
          <p:nvPr>
            <p:ph type="body" idx="1"/>
          </p:nvPr>
        </p:nvSpPr>
        <p:spPr>
          <a:xfrm>
            <a:off x="3439887" y="3014644"/>
            <a:ext cx="7363052" cy="954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5"/>
          <p:cNvSpPr txBox="1">
            <a:spLocks noGrp="1"/>
          </p:cNvSpPr>
          <p:nvPr>
            <p:ph type="body" idx="2"/>
          </p:nvPr>
        </p:nvSpPr>
        <p:spPr>
          <a:xfrm>
            <a:off x="3439887" y="3982215"/>
            <a:ext cx="7363052" cy="143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0"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35"/>
          <p:cNvSpPr txBox="1">
            <a:spLocks noGrp="1"/>
          </p:cNvSpPr>
          <p:nvPr>
            <p:ph type="body" idx="3"/>
          </p:nvPr>
        </p:nvSpPr>
        <p:spPr>
          <a:xfrm>
            <a:off x="1079500" y="3014645"/>
            <a:ext cx="2017712" cy="23987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35"/>
          <p:cNvSpPr txBox="1"/>
          <p:nvPr/>
        </p:nvSpPr>
        <p:spPr>
          <a:xfrm>
            <a:off x="1577684" y="7652944"/>
            <a:ext cx="1001421" cy="1140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5"/>
          <p:cNvSpPr txBox="1">
            <a:spLocks noGrp="1"/>
          </p:cNvSpPr>
          <p:nvPr>
            <p:ph type="body" idx="4"/>
          </p:nvPr>
        </p:nvSpPr>
        <p:spPr>
          <a:xfrm>
            <a:off x="3439887" y="6625413"/>
            <a:ext cx="7363052" cy="954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5"/>
          <p:cNvSpPr txBox="1">
            <a:spLocks noGrp="1"/>
          </p:cNvSpPr>
          <p:nvPr>
            <p:ph type="body" idx="5"/>
          </p:nvPr>
        </p:nvSpPr>
        <p:spPr>
          <a:xfrm>
            <a:off x="3439887" y="7592984"/>
            <a:ext cx="7363052" cy="143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0"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body" idx="6"/>
          </p:nvPr>
        </p:nvSpPr>
        <p:spPr>
          <a:xfrm>
            <a:off x="1079500" y="6619474"/>
            <a:ext cx="2017712" cy="23987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35"/>
          <p:cNvSpPr txBox="1"/>
          <p:nvPr/>
        </p:nvSpPr>
        <p:spPr>
          <a:xfrm>
            <a:off x="1577684" y="10813674"/>
            <a:ext cx="1001421" cy="1140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5"/>
          <p:cNvSpPr txBox="1">
            <a:spLocks noGrp="1"/>
          </p:cNvSpPr>
          <p:nvPr>
            <p:ph type="body" idx="7"/>
          </p:nvPr>
        </p:nvSpPr>
        <p:spPr>
          <a:xfrm>
            <a:off x="3439887" y="10224302"/>
            <a:ext cx="7363052" cy="954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35"/>
          <p:cNvSpPr txBox="1">
            <a:spLocks noGrp="1"/>
          </p:cNvSpPr>
          <p:nvPr>
            <p:ph type="body" idx="8"/>
          </p:nvPr>
        </p:nvSpPr>
        <p:spPr>
          <a:xfrm>
            <a:off x="3439887" y="11191873"/>
            <a:ext cx="7363052" cy="143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0"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35"/>
          <p:cNvSpPr txBox="1">
            <a:spLocks noGrp="1"/>
          </p:cNvSpPr>
          <p:nvPr>
            <p:ph type="body" idx="9"/>
          </p:nvPr>
        </p:nvSpPr>
        <p:spPr>
          <a:xfrm>
            <a:off x="1079500" y="10224303"/>
            <a:ext cx="2017712" cy="23987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35"/>
          <p:cNvSpPr txBox="1"/>
          <p:nvPr/>
        </p:nvSpPr>
        <p:spPr>
          <a:xfrm>
            <a:off x="14080833" y="3604016"/>
            <a:ext cx="1001421" cy="1140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5"/>
          <p:cNvSpPr txBox="1">
            <a:spLocks noGrp="1"/>
          </p:cNvSpPr>
          <p:nvPr>
            <p:ph type="body" idx="13"/>
          </p:nvPr>
        </p:nvSpPr>
        <p:spPr>
          <a:xfrm>
            <a:off x="15943036" y="3014644"/>
            <a:ext cx="7363052" cy="954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body" idx="14"/>
          </p:nvPr>
        </p:nvSpPr>
        <p:spPr>
          <a:xfrm>
            <a:off x="15943036" y="3982215"/>
            <a:ext cx="7363052" cy="143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0"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35"/>
          <p:cNvSpPr txBox="1">
            <a:spLocks noGrp="1"/>
          </p:cNvSpPr>
          <p:nvPr>
            <p:ph type="body" idx="15"/>
          </p:nvPr>
        </p:nvSpPr>
        <p:spPr>
          <a:xfrm>
            <a:off x="13582649" y="3014645"/>
            <a:ext cx="2017712" cy="23987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35"/>
          <p:cNvSpPr txBox="1"/>
          <p:nvPr/>
        </p:nvSpPr>
        <p:spPr>
          <a:xfrm>
            <a:off x="14080833" y="7652944"/>
            <a:ext cx="1001421" cy="1140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5"/>
          <p:cNvSpPr txBox="1">
            <a:spLocks noGrp="1"/>
          </p:cNvSpPr>
          <p:nvPr>
            <p:ph type="body" idx="16"/>
          </p:nvPr>
        </p:nvSpPr>
        <p:spPr>
          <a:xfrm>
            <a:off x="15943036" y="6625413"/>
            <a:ext cx="7363052" cy="954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35"/>
          <p:cNvSpPr txBox="1">
            <a:spLocks noGrp="1"/>
          </p:cNvSpPr>
          <p:nvPr>
            <p:ph type="body" idx="17"/>
          </p:nvPr>
        </p:nvSpPr>
        <p:spPr>
          <a:xfrm>
            <a:off x="15943036" y="7592984"/>
            <a:ext cx="7363052" cy="143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0"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35"/>
          <p:cNvSpPr txBox="1">
            <a:spLocks noGrp="1"/>
          </p:cNvSpPr>
          <p:nvPr>
            <p:ph type="body" idx="18"/>
          </p:nvPr>
        </p:nvSpPr>
        <p:spPr>
          <a:xfrm>
            <a:off x="13582649" y="6619474"/>
            <a:ext cx="2017712" cy="23987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35"/>
          <p:cNvSpPr txBox="1"/>
          <p:nvPr/>
        </p:nvSpPr>
        <p:spPr>
          <a:xfrm>
            <a:off x="14080833" y="10813674"/>
            <a:ext cx="1001421" cy="1140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5"/>
          <p:cNvSpPr txBox="1">
            <a:spLocks noGrp="1"/>
          </p:cNvSpPr>
          <p:nvPr>
            <p:ph type="body" idx="19"/>
          </p:nvPr>
        </p:nvSpPr>
        <p:spPr>
          <a:xfrm>
            <a:off x="15943036" y="10224302"/>
            <a:ext cx="7363052" cy="954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35"/>
          <p:cNvSpPr txBox="1">
            <a:spLocks noGrp="1"/>
          </p:cNvSpPr>
          <p:nvPr>
            <p:ph type="body" idx="20"/>
          </p:nvPr>
        </p:nvSpPr>
        <p:spPr>
          <a:xfrm>
            <a:off x="15943036" y="11191873"/>
            <a:ext cx="7363052" cy="143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0"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35"/>
          <p:cNvSpPr txBox="1">
            <a:spLocks noGrp="1"/>
          </p:cNvSpPr>
          <p:nvPr>
            <p:ph type="body" idx="21"/>
          </p:nvPr>
        </p:nvSpPr>
        <p:spPr>
          <a:xfrm>
            <a:off x="13582649" y="10224303"/>
            <a:ext cx="2017712" cy="23987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 (3 Columns)">
  <p:cSld name="Title &amp; Content (3 Columns)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6"/>
          <p:cNvSpPr txBox="1">
            <a:spLocks noGrp="1"/>
          </p:cNvSpPr>
          <p:nvPr>
            <p:ph type="title"/>
          </p:nvPr>
        </p:nvSpPr>
        <p:spPr>
          <a:xfrm>
            <a:off x="1229995" y="1079500"/>
            <a:ext cx="22076093" cy="1444626"/>
          </a:xfrm>
          <a:prstGeom prst="rect">
            <a:avLst/>
          </a:prstGeom>
          <a:solidFill>
            <a:srgbClr val="EDECED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6"/>
          <p:cNvSpPr txBox="1">
            <a:spLocks noGrp="1"/>
          </p:cNvSpPr>
          <p:nvPr>
            <p:ph type="dt" idx="10"/>
          </p:nvPr>
        </p:nvSpPr>
        <p:spPr>
          <a:xfrm>
            <a:off x="1676618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6"/>
          <p:cNvSpPr txBox="1">
            <a:spLocks noGrp="1"/>
          </p:cNvSpPr>
          <p:nvPr>
            <p:ph type="ftr" idx="11"/>
          </p:nvPr>
        </p:nvSpPr>
        <p:spPr>
          <a:xfrm>
            <a:off x="8720138" y="12634913"/>
            <a:ext cx="6946900" cy="10810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6"/>
          <p:cNvSpPr txBox="1">
            <a:spLocks noGrp="1"/>
          </p:cNvSpPr>
          <p:nvPr>
            <p:ph type="sldNum" idx="12"/>
          </p:nvPr>
        </p:nvSpPr>
        <p:spPr>
          <a:xfrm>
            <a:off x="23306088" y="12634913"/>
            <a:ext cx="930592" cy="108108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0" dist="254000" dir="13500000" algn="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36"/>
          <p:cNvSpPr txBox="1">
            <a:spLocks noGrp="1"/>
          </p:cNvSpPr>
          <p:nvPr>
            <p:ph type="body" idx="1"/>
          </p:nvPr>
        </p:nvSpPr>
        <p:spPr>
          <a:xfrm>
            <a:off x="1068386" y="3304674"/>
            <a:ext cx="7123250" cy="933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36"/>
          <p:cNvSpPr txBox="1">
            <a:spLocks noGrp="1"/>
          </p:cNvSpPr>
          <p:nvPr>
            <p:ph type="body" idx="2"/>
          </p:nvPr>
        </p:nvSpPr>
        <p:spPr>
          <a:xfrm>
            <a:off x="8625612" y="3304674"/>
            <a:ext cx="7123250" cy="933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6"/>
          <p:cNvSpPr txBox="1">
            <a:spLocks noGrp="1"/>
          </p:cNvSpPr>
          <p:nvPr>
            <p:ph type="body" idx="3"/>
          </p:nvPr>
        </p:nvSpPr>
        <p:spPr>
          <a:xfrm>
            <a:off x="16182838" y="3304674"/>
            <a:ext cx="7123250" cy="933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36"/>
          <p:cNvSpPr/>
          <p:nvPr/>
        </p:nvSpPr>
        <p:spPr>
          <a:xfrm>
            <a:off x="1079500" y="1079500"/>
            <a:ext cx="150495" cy="1444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 (5 Columns)">
  <p:cSld name="Title &amp; Content (5 Columns)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7"/>
          <p:cNvSpPr txBox="1">
            <a:spLocks noGrp="1"/>
          </p:cNvSpPr>
          <p:nvPr>
            <p:ph type="title"/>
          </p:nvPr>
        </p:nvSpPr>
        <p:spPr>
          <a:xfrm>
            <a:off x="1229995" y="1079500"/>
            <a:ext cx="22076093" cy="1444626"/>
          </a:xfrm>
          <a:prstGeom prst="rect">
            <a:avLst/>
          </a:prstGeom>
          <a:solidFill>
            <a:srgbClr val="EDECED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7"/>
          <p:cNvSpPr txBox="1">
            <a:spLocks noGrp="1"/>
          </p:cNvSpPr>
          <p:nvPr>
            <p:ph type="dt" idx="10"/>
          </p:nvPr>
        </p:nvSpPr>
        <p:spPr>
          <a:xfrm>
            <a:off x="1676618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7"/>
          <p:cNvSpPr txBox="1">
            <a:spLocks noGrp="1"/>
          </p:cNvSpPr>
          <p:nvPr>
            <p:ph type="ftr" idx="11"/>
          </p:nvPr>
        </p:nvSpPr>
        <p:spPr>
          <a:xfrm>
            <a:off x="8720138" y="12634913"/>
            <a:ext cx="6946900" cy="10810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7"/>
          <p:cNvSpPr txBox="1">
            <a:spLocks noGrp="1"/>
          </p:cNvSpPr>
          <p:nvPr>
            <p:ph type="sldNum" idx="12"/>
          </p:nvPr>
        </p:nvSpPr>
        <p:spPr>
          <a:xfrm>
            <a:off x="23306088" y="12634913"/>
            <a:ext cx="930592" cy="108108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0" dist="254000" dir="13500000" algn="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37"/>
          <p:cNvSpPr txBox="1">
            <a:spLocks noGrp="1"/>
          </p:cNvSpPr>
          <p:nvPr>
            <p:ph type="body" idx="1"/>
          </p:nvPr>
        </p:nvSpPr>
        <p:spPr>
          <a:xfrm>
            <a:off x="1068386" y="3256546"/>
            <a:ext cx="4165774" cy="9378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37"/>
          <p:cNvSpPr txBox="1">
            <a:spLocks noGrp="1"/>
          </p:cNvSpPr>
          <p:nvPr>
            <p:ph type="body" idx="2"/>
          </p:nvPr>
        </p:nvSpPr>
        <p:spPr>
          <a:xfrm>
            <a:off x="5586015" y="3256546"/>
            <a:ext cx="4165774" cy="9378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37"/>
          <p:cNvSpPr txBox="1">
            <a:spLocks noGrp="1"/>
          </p:cNvSpPr>
          <p:nvPr>
            <p:ph type="body" idx="3"/>
          </p:nvPr>
        </p:nvSpPr>
        <p:spPr>
          <a:xfrm>
            <a:off x="10103644" y="3256546"/>
            <a:ext cx="4165774" cy="9378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37"/>
          <p:cNvSpPr txBox="1">
            <a:spLocks noGrp="1"/>
          </p:cNvSpPr>
          <p:nvPr>
            <p:ph type="body" idx="4"/>
          </p:nvPr>
        </p:nvSpPr>
        <p:spPr>
          <a:xfrm>
            <a:off x="14621273" y="3256546"/>
            <a:ext cx="4165774" cy="9378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37"/>
          <p:cNvSpPr txBox="1">
            <a:spLocks noGrp="1"/>
          </p:cNvSpPr>
          <p:nvPr>
            <p:ph type="body" idx="5"/>
          </p:nvPr>
        </p:nvSpPr>
        <p:spPr>
          <a:xfrm>
            <a:off x="19138900" y="3256546"/>
            <a:ext cx="4165774" cy="9378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37"/>
          <p:cNvSpPr/>
          <p:nvPr/>
        </p:nvSpPr>
        <p:spPr>
          <a:xfrm>
            <a:off x="1079500" y="1079500"/>
            <a:ext cx="150495" cy="1444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Blank Slid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8"/>
          <p:cNvSpPr txBox="1">
            <a:spLocks noGrp="1"/>
          </p:cNvSpPr>
          <p:nvPr>
            <p:ph type="dt" idx="10"/>
          </p:nvPr>
        </p:nvSpPr>
        <p:spPr>
          <a:xfrm>
            <a:off x="1676618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8"/>
          <p:cNvSpPr txBox="1">
            <a:spLocks noGrp="1"/>
          </p:cNvSpPr>
          <p:nvPr>
            <p:ph type="ftr" idx="11"/>
          </p:nvPr>
        </p:nvSpPr>
        <p:spPr>
          <a:xfrm>
            <a:off x="8720138" y="12634913"/>
            <a:ext cx="6946900" cy="10810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8"/>
          <p:cNvSpPr txBox="1">
            <a:spLocks noGrp="1"/>
          </p:cNvSpPr>
          <p:nvPr>
            <p:ph type="sldNum" idx="12"/>
          </p:nvPr>
        </p:nvSpPr>
        <p:spPr>
          <a:xfrm>
            <a:off x="23306088" y="12634913"/>
            <a:ext cx="930592" cy="108108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0" dist="254000" dir="13500000" algn="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1229995" y="1079500"/>
            <a:ext cx="22076093" cy="1444626"/>
          </a:xfrm>
          <a:prstGeom prst="rect">
            <a:avLst/>
          </a:prstGeom>
          <a:solidFill>
            <a:srgbClr val="EDECED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alibri"/>
              <a:buNone/>
              <a:defRPr sz="7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1079500" y="3208713"/>
            <a:ext cx="22226588" cy="94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33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82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1676618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8720138" y="12634913"/>
            <a:ext cx="6946900" cy="10810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23306088" y="12634913"/>
            <a:ext cx="930592" cy="108108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0" dist="254000" dir="13500000" algn="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0"/>
          <p:cNvSpPr/>
          <p:nvPr/>
        </p:nvSpPr>
        <p:spPr>
          <a:xfrm>
            <a:off x="24236680" y="12634913"/>
            <a:ext cx="150495" cy="10810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15362">
          <p15:clr>
            <a:srgbClr val="F26B43"/>
          </p15:clr>
        </p15:guide>
        <p15:guide id="3" pos="673">
          <p15:clr>
            <a:srgbClr val="F26B43"/>
          </p15:clr>
        </p15:guide>
        <p15:guide id="4" pos="1555">
          <p15:clr>
            <a:srgbClr val="F26B43"/>
          </p15:clr>
        </p15:guide>
        <p15:guide id="5" pos="2430">
          <p15:clr>
            <a:srgbClr val="F26B43"/>
          </p15:clr>
        </p15:guide>
        <p15:guide id="6" pos="3305">
          <p15:clr>
            <a:srgbClr val="F26B43"/>
          </p15:clr>
        </p15:guide>
        <p15:guide id="7" pos="4180">
          <p15:clr>
            <a:srgbClr val="F26B43"/>
          </p15:clr>
        </p15:guide>
        <p15:guide id="8" pos="5055">
          <p15:clr>
            <a:srgbClr val="F26B43"/>
          </p15:clr>
        </p15:guide>
        <p15:guide id="9" pos="5930">
          <p15:clr>
            <a:srgbClr val="F26B43"/>
          </p15:clr>
        </p15:guide>
        <p15:guide id="10" pos="6805">
          <p15:clr>
            <a:srgbClr val="F26B43"/>
          </p15:clr>
        </p15:guide>
        <p15:guide id="11" pos="7681">
          <p15:clr>
            <a:srgbClr val="F26B43"/>
          </p15:clr>
        </p15:guide>
        <p15:guide id="12" pos="8556">
          <p15:clr>
            <a:srgbClr val="F26B43"/>
          </p15:clr>
        </p15:guide>
        <p15:guide id="13" pos="9409">
          <p15:clr>
            <a:srgbClr val="F26B43"/>
          </p15:clr>
        </p15:guide>
        <p15:guide id="14" pos="10306">
          <p15:clr>
            <a:srgbClr val="F26B43"/>
          </p15:clr>
        </p15:guide>
        <p15:guide id="15" pos="11181">
          <p15:clr>
            <a:srgbClr val="F26B43"/>
          </p15:clr>
        </p15:guide>
        <p15:guide id="16" pos="12056">
          <p15:clr>
            <a:srgbClr val="F26B43"/>
          </p15:clr>
        </p15:guide>
        <p15:guide id="17" pos="12931">
          <p15:clr>
            <a:srgbClr val="F26B43"/>
          </p15:clr>
        </p15:guide>
        <p15:guide id="18" pos="13806">
          <p15:clr>
            <a:srgbClr val="F26B43"/>
          </p15:clr>
        </p15:guide>
        <p15:guide id="19" pos="14681">
          <p15:clr>
            <a:srgbClr val="F26B43"/>
          </p15:clr>
        </p15:guide>
        <p15:guide id="20" orient="horz">
          <p15:clr>
            <a:srgbClr val="F26B43"/>
          </p15:clr>
        </p15:guide>
        <p15:guide id="21" orient="horz" pos="8640">
          <p15:clr>
            <a:srgbClr val="F26B43"/>
          </p15:clr>
        </p15:guide>
        <p15:guide id="22" orient="horz" pos="680">
          <p15:clr>
            <a:srgbClr val="F26B43"/>
          </p15:clr>
        </p15:guide>
        <p15:guide id="23" orient="horz" pos="1590">
          <p15:clr>
            <a:srgbClr val="F26B43"/>
          </p15:clr>
        </p15:guide>
        <p15:guide id="24" orient="horz" pos="2500">
          <p15:clr>
            <a:srgbClr val="F26B43"/>
          </p15:clr>
        </p15:guide>
        <p15:guide id="25" orient="horz" pos="3410">
          <p15:clr>
            <a:srgbClr val="F26B43"/>
          </p15:clr>
        </p15:guide>
        <p15:guide id="26" orient="horz" pos="4320">
          <p15:clr>
            <a:srgbClr val="F26B43"/>
          </p15:clr>
        </p15:guide>
        <p15:guide id="27" orient="horz" pos="5229">
          <p15:clr>
            <a:srgbClr val="F26B43"/>
          </p15:clr>
        </p15:guide>
        <p15:guide id="28" orient="horz" pos="6139">
          <p15:clr>
            <a:srgbClr val="F26B43"/>
          </p15:clr>
        </p15:guide>
        <p15:guide id="29" orient="horz" pos="7049">
          <p15:clr>
            <a:srgbClr val="F26B43"/>
          </p15:clr>
        </p15:guide>
        <p15:guide id="30" orient="horz" pos="795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/>
          <p:cNvSpPr/>
          <p:nvPr/>
        </p:nvSpPr>
        <p:spPr>
          <a:xfrm>
            <a:off x="1" y="5413375"/>
            <a:ext cx="24387174" cy="5776913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598C3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1" y="4988073"/>
            <a:ext cx="24387174" cy="5776913"/>
          </a:xfrm>
          <a:prstGeom prst="rect">
            <a:avLst/>
          </a:prstGeom>
          <a:blipFill rotWithShape="1">
            <a:blip r:embed="rId3">
              <a:alphaModFix amt="3000"/>
            </a:blip>
            <a:stretch>
              <a:fillRect/>
            </a:stretch>
          </a:blipFill>
          <a:ln w="12700" cap="flat" cmpd="sng">
            <a:solidFill>
              <a:srgbClr val="598C3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 txBox="1">
            <a:spLocks noGrp="1"/>
          </p:cNvSpPr>
          <p:nvPr>
            <p:ph type="title"/>
          </p:nvPr>
        </p:nvSpPr>
        <p:spPr>
          <a:xfrm>
            <a:off x="1074738" y="5938606"/>
            <a:ext cx="22237698" cy="303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0"/>
              <a:buFont typeface="Calibri"/>
              <a:buNone/>
            </a:pPr>
            <a:r>
              <a:rPr lang="en-US" sz="8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to OMOP Common Data Model </a:t>
            </a:r>
            <a:endParaRPr sz="8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>
            <a:spLocks noGrp="1"/>
          </p:cNvSpPr>
          <p:nvPr>
            <p:ph type="body" idx="1"/>
          </p:nvPr>
        </p:nvSpPr>
        <p:spPr>
          <a:xfrm>
            <a:off x="3852068" y="8248417"/>
            <a:ext cx="16670338" cy="1227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4800" dirty="0">
                <a:solidFill>
                  <a:schemeClr val="lt1"/>
                </a:solidFill>
              </a:rPr>
              <a:t>FarajaMH</a:t>
            </a:r>
            <a:r>
              <a:rPr lang="en-US" sz="4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4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>
            <a:spLocks noGrp="1"/>
          </p:cNvSpPr>
          <p:nvPr>
            <p:ph type="body" idx="2"/>
          </p:nvPr>
        </p:nvSpPr>
        <p:spPr>
          <a:xfrm>
            <a:off x="6636543" y="9475721"/>
            <a:ext cx="11114088" cy="1227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Michael Ochola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46859" y="528287"/>
            <a:ext cx="3740335" cy="4207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BCB6D417-72E3-E3D7-F1ED-3EFB733D9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0">
            <a:extLst>
              <a:ext uri="{FF2B5EF4-FFF2-40B4-BE49-F238E27FC236}">
                <a16:creationId xmlns:a16="http://schemas.microsoft.com/office/drawing/2014/main" id="{02395D2B-9794-BE13-6C69-EFCC78E192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29995" y="1079500"/>
            <a:ext cx="22076093" cy="1444626"/>
          </a:xfrm>
          <a:prstGeom prst="rect">
            <a:avLst/>
          </a:prstGeom>
          <a:solidFill>
            <a:srgbClr val="EDECED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dirty="0"/>
              <a:t>Content Outline</a:t>
            </a:r>
            <a:endParaRPr dirty="0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9" name="Google Shape;119;p40">
            <a:extLst>
              <a:ext uri="{FF2B5EF4-FFF2-40B4-BE49-F238E27FC236}">
                <a16:creationId xmlns:a16="http://schemas.microsoft.com/office/drawing/2014/main" id="{304996CF-1740-5F27-CAF0-E88D538811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3306088" y="12634913"/>
            <a:ext cx="930592" cy="108108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0" dist="254000" dir="13500000" algn="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en-US">
                <a:latin typeface="Avenir"/>
                <a:ea typeface="Avenir"/>
                <a:cs typeface="Avenir"/>
                <a:sym typeface="Avenir"/>
              </a:rPr>
              <a:t>2</a:t>
            </a:fld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0" name="Google Shape;120;p40">
            <a:extLst>
              <a:ext uri="{FF2B5EF4-FFF2-40B4-BE49-F238E27FC236}">
                <a16:creationId xmlns:a16="http://schemas.microsoft.com/office/drawing/2014/main" id="{8C002DF2-4D9D-EDC0-CB2D-C351EB8C7F1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720138" y="12634913"/>
            <a:ext cx="6946900" cy="10810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Transforming lives in Africa through research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07C33F0-B1AA-6C1E-3AC7-828131ED1994}"/>
              </a:ext>
            </a:extLst>
          </p:cNvPr>
          <p:cNvSpPr/>
          <p:nvPr/>
        </p:nvSpPr>
        <p:spPr>
          <a:xfrm>
            <a:off x="2507043" y="4608148"/>
            <a:ext cx="1463040" cy="1463040"/>
          </a:xfrm>
          <a:prstGeom prst="ellipse">
            <a:avLst/>
          </a:prstGeom>
          <a:solidFill>
            <a:srgbClr val="70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A80639-5CD4-C3FB-CA1E-16DD2B53C43B}"/>
              </a:ext>
            </a:extLst>
          </p:cNvPr>
          <p:cNvSpPr txBox="1"/>
          <p:nvPr/>
        </p:nvSpPr>
        <p:spPr>
          <a:xfrm>
            <a:off x="2507043" y="4937333"/>
            <a:ext cx="14630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rPr sz="4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1CB7B9-9118-8382-ED77-F4F5FC9ADA3B}"/>
              </a:ext>
            </a:extLst>
          </p:cNvPr>
          <p:cNvSpPr txBox="1"/>
          <p:nvPr/>
        </p:nvSpPr>
        <p:spPr>
          <a:xfrm>
            <a:off x="1190307" y="6491813"/>
            <a:ext cx="4114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32D28"/>
                </a:solidFill>
                <a:latin typeface="Aptos"/>
              </a:defRPr>
            </a:pPr>
            <a:r>
              <a:rPr sz="4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83530F-7BA7-6D90-277A-52BF7060C8A2}"/>
              </a:ext>
            </a:extLst>
          </p:cNvPr>
          <p:cNvSpPr txBox="1"/>
          <p:nvPr/>
        </p:nvSpPr>
        <p:spPr>
          <a:xfrm>
            <a:off x="1190307" y="7534229"/>
            <a:ext cx="4114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0645A"/>
                </a:solidFill>
                <a:latin typeface="Aptos"/>
              </a:defRPr>
            </a:pPr>
            <a:r>
              <a:rPr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databases organize things and relationships</a:t>
            </a:r>
          </a:p>
        </p:txBody>
      </p:sp>
      <p:cxnSp>
        <p:nvCxnSpPr>
          <p:cNvPr id="8" name="Connector 11">
            <a:extLst>
              <a:ext uri="{FF2B5EF4-FFF2-40B4-BE49-F238E27FC236}">
                <a16:creationId xmlns:a16="http://schemas.microsoft.com/office/drawing/2014/main" id="{F238020F-9E1E-F0CF-9CCE-FFD36B3956AB}"/>
              </a:ext>
            </a:extLst>
          </p:cNvPr>
          <p:cNvCxnSpPr/>
          <p:nvPr/>
        </p:nvCxnSpPr>
        <p:spPr>
          <a:xfrm>
            <a:off x="4645985" y="5339668"/>
            <a:ext cx="1609344" cy="0"/>
          </a:xfrm>
          <a:prstGeom prst="line">
            <a:avLst/>
          </a:prstGeom>
          <a:ln w="25400">
            <a:solidFill>
              <a:srgbClr val="BECD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F7D67EF1-837B-C86C-3938-0DC7930F053D}"/>
              </a:ext>
            </a:extLst>
          </p:cNvPr>
          <p:cNvSpPr/>
          <p:nvPr/>
        </p:nvSpPr>
        <p:spPr>
          <a:xfrm>
            <a:off x="7115617" y="4608148"/>
            <a:ext cx="1463040" cy="1463040"/>
          </a:xfrm>
          <a:prstGeom prst="ellipse">
            <a:avLst/>
          </a:prstGeom>
          <a:solidFill>
            <a:srgbClr val="70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CE6FA6-84A8-DACA-2227-693787E9D07B}"/>
              </a:ext>
            </a:extLst>
          </p:cNvPr>
          <p:cNvSpPr txBox="1"/>
          <p:nvPr/>
        </p:nvSpPr>
        <p:spPr>
          <a:xfrm>
            <a:off x="7115617" y="4937333"/>
            <a:ext cx="14630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rPr sz="4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256987-BFC0-1534-2509-2C1C2E0D902E}"/>
              </a:ext>
            </a:extLst>
          </p:cNvPr>
          <p:cNvSpPr txBox="1"/>
          <p:nvPr/>
        </p:nvSpPr>
        <p:spPr>
          <a:xfrm>
            <a:off x="5798883" y="6491813"/>
            <a:ext cx="4114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32D28"/>
                </a:solidFill>
                <a:latin typeface="Aptos"/>
              </a:defRPr>
            </a:pPr>
            <a:r>
              <a:rPr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Data Model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67643-F9B0-8C0C-F9B2-EB934B2BB306}"/>
              </a:ext>
            </a:extLst>
          </p:cNvPr>
          <p:cNvSpPr txBox="1"/>
          <p:nvPr/>
        </p:nvSpPr>
        <p:spPr>
          <a:xfrm>
            <a:off x="5798883" y="7534228"/>
            <a:ext cx="4114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0645A"/>
                </a:solidFill>
                <a:latin typeface="Aptos"/>
              </a:defRPr>
            </a:pPr>
            <a:r>
              <a:rPr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different sources need a shared structure</a:t>
            </a:r>
          </a:p>
        </p:txBody>
      </p:sp>
      <p:cxnSp>
        <p:nvCxnSpPr>
          <p:cNvPr id="13" name="Connector 16">
            <a:extLst>
              <a:ext uri="{FF2B5EF4-FFF2-40B4-BE49-F238E27FC236}">
                <a16:creationId xmlns:a16="http://schemas.microsoft.com/office/drawing/2014/main" id="{1457CD5D-66D6-7A3A-D50A-16B9259D8C4B}"/>
              </a:ext>
            </a:extLst>
          </p:cNvPr>
          <p:cNvCxnSpPr/>
          <p:nvPr/>
        </p:nvCxnSpPr>
        <p:spPr>
          <a:xfrm>
            <a:off x="9009471" y="5339668"/>
            <a:ext cx="1609344" cy="0"/>
          </a:xfrm>
          <a:prstGeom prst="line">
            <a:avLst/>
          </a:prstGeom>
          <a:ln w="25400">
            <a:solidFill>
              <a:srgbClr val="BECD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F0DE0899-39F3-6D0A-7023-FBC86791E0FF}"/>
              </a:ext>
            </a:extLst>
          </p:cNvPr>
          <p:cNvSpPr/>
          <p:nvPr/>
        </p:nvSpPr>
        <p:spPr>
          <a:xfrm>
            <a:off x="11724195" y="4608148"/>
            <a:ext cx="1463040" cy="1463040"/>
          </a:xfrm>
          <a:prstGeom prst="ellipse">
            <a:avLst/>
          </a:prstGeom>
          <a:solidFill>
            <a:srgbClr val="70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22D22C-1D7F-BB9A-907A-0DBC4620E23D}"/>
              </a:ext>
            </a:extLst>
          </p:cNvPr>
          <p:cNvSpPr txBox="1"/>
          <p:nvPr/>
        </p:nvSpPr>
        <p:spPr>
          <a:xfrm>
            <a:off x="11724195" y="4937333"/>
            <a:ext cx="14630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rPr sz="4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557AC6-D919-CB2E-8E35-A8227A7188FC}"/>
              </a:ext>
            </a:extLst>
          </p:cNvPr>
          <p:cNvSpPr txBox="1"/>
          <p:nvPr/>
        </p:nvSpPr>
        <p:spPr>
          <a:xfrm>
            <a:off x="10407459" y="6491813"/>
            <a:ext cx="4114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32D28"/>
                </a:solidFill>
                <a:latin typeface="Aptos"/>
              </a:defRPr>
            </a:pPr>
            <a:r>
              <a:rPr sz="4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OMOP CDM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5AECF5-BC51-01A9-A736-CA0375096C6E}"/>
              </a:ext>
            </a:extLst>
          </p:cNvPr>
          <p:cNvSpPr txBox="1"/>
          <p:nvPr/>
        </p:nvSpPr>
        <p:spPr>
          <a:xfrm>
            <a:off x="10407459" y="7534228"/>
            <a:ext cx="4114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0645A"/>
                </a:solidFill>
                <a:latin typeface="Aptos"/>
              </a:defRPr>
            </a:pPr>
            <a:r>
              <a:rPr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OMOP standardizes</a:t>
            </a:r>
          </a:p>
        </p:txBody>
      </p:sp>
      <p:cxnSp>
        <p:nvCxnSpPr>
          <p:cNvPr id="18" name="Connector 21">
            <a:extLst>
              <a:ext uri="{FF2B5EF4-FFF2-40B4-BE49-F238E27FC236}">
                <a16:creationId xmlns:a16="http://schemas.microsoft.com/office/drawing/2014/main" id="{13421C14-90E8-B3CF-A7A5-0332EED8D574}"/>
              </a:ext>
            </a:extLst>
          </p:cNvPr>
          <p:cNvCxnSpPr/>
          <p:nvPr/>
        </p:nvCxnSpPr>
        <p:spPr>
          <a:xfrm>
            <a:off x="13674609" y="5339668"/>
            <a:ext cx="1609344" cy="0"/>
          </a:xfrm>
          <a:prstGeom prst="line">
            <a:avLst/>
          </a:prstGeom>
          <a:ln w="25400">
            <a:solidFill>
              <a:srgbClr val="BECD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25B44AEF-42F0-4DFB-5656-FBD66FC537F9}"/>
              </a:ext>
            </a:extLst>
          </p:cNvPr>
          <p:cNvSpPr/>
          <p:nvPr/>
        </p:nvSpPr>
        <p:spPr>
          <a:xfrm>
            <a:off x="16332771" y="4608148"/>
            <a:ext cx="1463040" cy="1463040"/>
          </a:xfrm>
          <a:prstGeom prst="ellipse">
            <a:avLst/>
          </a:prstGeom>
          <a:solidFill>
            <a:srgbClr val="70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F1C3C0-8AAA-FDE7-35AB-2D03A6BAAE8D}"/>
              </a:ext>
            </a:extLst>
          </p:cNvPr>
          <p:cNvSpPr txBox="1"/>
          <p:nvPr/>
        </p:nvSpPr>
        <p:spPr>
          <a:xfrm>
            <a:off x="16332771" y="4937333"/>
            <a:ext cx="14630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rPr sz="4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451B2F-D0BB-136A-8D51-2A9122348157}"/>
              </a:ext>
            </a:extLst>
          </p:cNvPr>
          <p:cNvSpPr txBox="1"/>
          <p:nvPr/>
        </p:nvSpPr>
        <p:spPr>
          <a:xfrm>
            <a:off x="15016035" y="6491813"/>
            <a:ext cx="4114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32D28"/>
                </a:solidFill>
                <a:latin typeface="Aptos"/>
              </a:defRPr>
            </a:pPr>
            <a:r>
              <a:rPr sz="4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Harmonization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482D1C-65BE-D0E0-D15D-8867C3FBC760}"/>
              </a:ext>
            </a:extLst>
          </p:cNvPr>
          <p:cNvSpPr txBox="1"/>
          <p:nvPr/>
        </p:nvSpPr>
        <p:spPr>
          <a:xfrm>
            <a:off x="15016035" y="7534229"/>
            <a:ext cx="4114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0645A"/>
                </a:solidFill>
                <a:latin typeface="Aptos"/>
              </a:defRPr>
            </a:pPr>
            <a:r>
              <a:rPr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source data gets mapped into OMOP</a:t>
            </a:r>
          </a:p>
        </p:txBody>
      </p:sp>
      <p:cxnSp>
        <p:nvCxnSpPr>
          <p:cNvPr id="23" name="Connector 26">
            <a:extLst>
              <a:ext uri="{FF2B5EF4-FFF2-40B4-BE49-F238E27FC236}">
                <a16:creationId xmlns:a16="http://schemas.microsoft.com/office/drawing/2014/main" id="{D59E26F7-0772-A39A-D909-6E64EB494DB6}"/>
              </a:ext>
            </a:extLst>
          </p:cNvPr>
          <p:cNvCxnSpPr/>
          <p:nvPr/>
        </p:nvCxnSpPr>
        <p:spPr>
          <a:xfrm>
            <a:off x="18471715" y="5339668"/>
            <a:ext cx="1609344" cy="0"/>
          </a:xfrm>
          <a:prstGeom prst="line">
            <a:avLst/>
          </a:prstGeom>
          <a:ln w="25400">
            <a:solidFill>
              <a:srgbClr val="BECD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CF219E89-C8BF-31DE-68EE-FE909B05DE05}"/>
              </a:ext>
            </a:extLst>
          </p:cNvPr>
          <p:cNvSpPr/>
          <p:nvPr/>
        </p:nvSpPr>
        <p:spPr>
          <a:xfrm>
            <a:off x="20941347" y="4608148"/>
            <a:ext cx="1463040" cy="1463040"/>
          </a:xfrm>
          <a:prstGeom prst="ellipse">
            <a:avLst/>
          </a:prstGeom>
          <a:solidFill>
            <a:srgbClr val="70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FCD3E8-2BC3-D2BE-569C-C414F2F87DDF}"/>
              </a:ext>
            </a:extLst>
          </p:cNvPr>
          <p:cNvSpPr txBox="1"/>
          <p:nvPr/>
        </p:nvSpPr>
        <p:spPr>
          <a:xfrm>
            <a:off x="20941347" y="4937333"/>
            <a:ext cx="14630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rPr sz="4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B2F8EF-EB90-F1A0-CC8B-9FB26B43CDDB}"/>
              </a:ext>
            </a:extLst>
          </p:cNvPr>
          <p:cNvSpPr txBox="1"/>
          <p:nvPr/>
        </p:nvSpPr>
        <p:spPr>
          <a:xfrm>
            <a:off x="19624611" y="6491813"/>
            <a:ext cx="4114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32D28"/>
                </a:solidFill>
                <a:latin typeface="Aptos"/>
              </a:defRPr>
            </a:pPr>
            <a:r>
              <a:rPr sz="4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OMOP tables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1CA6B6-F71A-E732-BD4D-1F388C8AFC24}"/>
              </a:ext>
            </a:extLst>
          </p:cNvPr>
          <p:cNvSpPr txBox="1"/>
          <p:nvPr/>
        </p:nvSpPr>
        <p:spPr>
          <a:xfrm>
            <a:off x="19624611" y="7534228"/>
            <a:ext cx="41148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0645A"/>
                </a:solidFill>
                <a:latin typeface="Aptos"/>
              </a:defRPr>
            </a:pPr>
            <a:r>
              <a:rPr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patients, visits, conditions, drugs and measurements live</a:t>
            </a:r>
          </a:p>
        </p:txBody>
      </p:sp>
    </p:spTree>
    <p:extLst>
      <p:ext uri="{BB962C8B-B14F-4D97-AF65-F5344CB8AC3E}">
        <p14:creationId xmlns:p14="http://schemas.microsoft.com/office/powerpoint/2010/main" val="1335622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0"/>
          <p:cNvSpPr txBox="1">
            <a:spLocks noGrp="1"/>
          </p:cNvSpPr>
          <p:nvPr>
            <p:ph type="title"/>
          </p:nvPr>
        </p:nvSpPr>
        <p:spPr>
          <a:xfrm>
            <a:off x="1229995" y="1079500"/>
            <a:ext cx="22076093" cy="1444626"/>
          </a:xfrm>
          <a:prstGeom prst="rect">
            <a:avLst/>
          </a:prstGeom>
          <a:solidFill>
            <a:srgbClr val="EDECED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dirty="0"/>
              <a:t>What is a data model</a:t>
            </a:r>
            <a:endParaRPr dirty="0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9" name="Google Shape;119;p40"/>
          <p:cNvSpPr txBox="1">
            <a:spLocks noGrp="1"/>
          </p:cNvSpPr>
          <p:nvPr>
            <p:ph type="sldNum" idx="12"/>
          </p:nvPr>
        </p:nvSpPr>
        <p:spPr>
          <a:xfrm>
            <a:off x="23306088" y="12634913"/>
            <a:ext cx="930592" cy="108108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0" dist="254000" dir="13500000" algn="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en-US">
                <a:latin typeface="Avenir"/>
                <a:ea typeface="Avenir"/>
                <a:cs typeface="Avenir"/>
                <a:sym typeface="Avenir"/>
              </a:rPr>
              <a:t>3</a:t>
            </a:fld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0" name="Google Shape;120;p40"/>
          <p:cNvSpPr txBox="1">
            <a:spLocks noGrp="1"/>
          </p:cNvSpPr>
          <p:nvPr>
            <p:ph type="ftr" idx="11"/>
          </p:nvPr>
        </p:nvSpPr>
        <p:spPr>
          <a:xfrm>
            <a:off x="8720138" y="12634913"/>
            <a:ext cx="6946900" cy="10810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Transforming lives in Africa through research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B48ADD6-3B7A-BD2D-4E40-55F8014B6F87}"/>
              </a:ext>
            </a:extLst>
          </p:cNvPr>
          <p:cNvSpPr txBox="1"/>
          <p:nvPr/>
        </p:nvSpPr>
        <p:spPr>
          <a:xfrm>
            <a:off x="1464627" y="3178706"/>
            <a:ext cx="215798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232D28"/>
                </a:solidFill>
                <a:latin typeface="Aptos"/>
              </a:defRPr>
            </a:pPr>
            <a:r>
              <a:rPr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data model is a way of describing:</a:t>
            </a:r>
          </a:p>
        </p:txBody>
      </p:sp>
      <p:sp>
        <p:nvSpPr>
          <p:cNvPr id="124" name="Rounded Rectangle 8">
            <a:extLst>
              <a:ext uri="{FF2B5EF4-FFF2-40B4-BE49-F238E27FC236}">
                <a16:creationId xmlns:a16="http://schemas.microsoft.com/office/drawing/2014/main" id="{B7DBC643-E51A-6C6D-00E5-53BA29B6CD5E}"/>
              </a:ext>
            </a:extLst>
          </p:cNvPr>
          <p:cNvSpPr/>
          <p:nvPr/>
        </p:nvSpPr>
        <p:spPr>
          <a:xfrm>
            <a:off x="1464627" y="4678321"/>
            <a:ext cx="6675120" cy="4114800"/>
          </a:xfrm>
          <a:prstGeom prst="roundRect">
            <a:avLst/>
          </a:prstGeom>
          <a:solidFill>
            <a:srgbClr val="E8F2E2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AB92DE6C-2A2C-42BF-1B48-867AFCA10C3E}"/>
              </a:ext>
            </a:extLst>
          </p:cNvPr>
          <p:cNvSpPr/>
          <p:nvPr/>
        </p:nvSpPr>
        <p:spPr>
          <a:xfrm>
            <a:off x="1793811" y="5007505"/>
            <a:ext cx="1005840" cy="1005840"/>
          </a:xfrm>
          <a:prstGeom prst="ellipse">
            <a:avLst/>
          </a:prstGeom>
          <a:solidFill>
            <a:srgbClr val="FFFFFF"/>
          </a:solidFill>
          <a:ln>
            <a:solidFill>
              <a:srgbClr val="D7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2597AEA-E3C8-7BB0-3AA7-85DD60F5EFDB}"/>
              </a:ext>
            </a:extLst>
          </p:cNvPr>
          <p:cNvSpPr txBox="1"/>
          <p:nvPr/>
        </p:nvSpPr>
        <p:spPr>
          <a:xfrm>
            <a:off x="1793811" y="5117234"/>
            <a:ext cx="10058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0BE37"/>
                </a:solidFill>
                <a:latin typeface="Aptos"/>
              </a:defRPr>
            </a:pPr>
            <a:r>
              <a:rPr sz="4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●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603BBB1-12B7-367C-4F6F-D4D65D47FA07}"/>
              </a:ext>
            </a:extLst>
          </p:cNvPr>
          <p:cNvSpPr txBox="1"/>
          <p:nvPr/>
        </p:nvSpPr>
        <p:spPr>
          <a:xfrm>
            <a:off x="3019108" y="5007506"/>
            <a:ext cx="47548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0BE37"/>
                </a:solidFill>
                <a:latin typeface="Aptos"/>
              </a:defRPr>
            </a:pPr>
            <a:r>
              <a:rPr sz="4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THINGS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6256A02-C6F7-9D16-7BD4-AD144DC59256}"/>
              </a:ext>
            </a:extLst>
          </p:cNvPr>
          <p:cNvSpPr txBox="1"/>
          <p:nvPr/>
        </p:nvSpPr>
        <p:spPr>
          <a:xfrm>
            <a:off x="1866963" y="5995058"/>
            <a:ext cx="587044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645A"/>
                </a:solidFill>
                <a:latin typeface="Aptos"/>
              </a:defRPr>
            </a:pPr>
            <a:r>
              <a:rPr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e.g., person, visit, diagnosis, medication</a:t>
            </a:r>
          </a:p>
        </p:txBody>
      </p:sp>
      <p:sp>
        <p:nvSpPr>
          <p:cNvPr id="134" name="Rounded Rectangle 13">
            <a:extLst>
              <a:ext uri="{FF2B5EF4-FFF2-40B4-BE49-F238E27FC236}">
                <a16:creationId xmlns:a16="http://schemas.microsoft.com/office/drawing/2014/main" id="{775FFCAA-B8EF-7241-522A-330008D76EF9}"/>
              </a:ext>
            </a:extLst>
          </p:cNvPr>
          <p:cNvSpPr/>
          <p:nvPr/>
        </p:nvSpPr>
        <p:spPr>
          <a:xfrm>
            <a:off x="8871267" y="4678321"/>
            <a:ext cx="6675120" cy="4114800"/>
          </a:xfrm>
          <a:prstGeom prst="roundRect">
            <a:avLst/>
          </a:prstGeom>
          <a:solidFill>
            <a:srgbClr val="EBF5FA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D9D891BA-F826-C419-142C-C738521E6798}"/>
              </a:ext>
            </a:extLst>
          </p:cNvPr>
          <p:cNvSpPr/>
          <p:nvPr/>
        </p:nvSpPr>
        <p:spPr>
          <a:xfrm>
            <a:off x="9200449" y="5007505"/>
            <a:ext cx="1005840" cy="1005840"/>
          </a:xfrm>
          <a:prstGeom prst="ellipse">
            <a:avLst/>
          </a:prstGeom>
          <a:solidFill>
            <a:srgbClr val="FFFFFF"/>
          </a:solidFill>
          <a:ln>
            <a:solidFill>
              <a:srgbClr val="D7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6A0050CB-51E0-5152-A2ED-0DA61F12E895}"/>
              </a:ext>
            </a:extLst>
          </p:cNvPr>
          <p:cNvSpPr txBox="1"/>
          <p:nvPr/>
        </p:nvSpPr>
        <p:spPr>
          <a:xfrm>
            <a:off x="9200449" y="5117234"/>
            <a:ext cx="10058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8BBE"/>
                </a:solidFill>
                <a:latin typeface="Aptos"/>
              </a:defRPr>
            </a:pPr>
            <a:r>
              <a:rPr sz="4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C5DAAE1F-02D5-307A-E15E-72ABEF6EA2D5}"/>
              </a:ext>
            </a:extLst>
          </p:cNvPr>
          <p:cNvSpPr txBox="1"/>
          <p:nvPr/>
        </p:nvSpPr>
        <p:spPr>
          <a:xfrm>
            <a:off x="10425746" y="5007506"/>
            <a:ext cx="47548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8BBE"/>
                </a:solidFill>
                <a:latin typeface="Aptos"/>
              </a:defRPr>
            </a:pPr>
            <a:r>
              <a:rPr sz="4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FACTS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BF841210-00CB-4566-5C7B-DAE1A9B9D196}"/>
              </a:ext>
            </a:extLst>
          </p:cNvPr>
          <p:cNvSpPr txBox="1"/>
          <p:nvPr/>
        </p:nvSpPr>
        <p:spPr>
          <a:xfrm>
            <a:off x="9273601" y="5995058"/>
            <a:ext cx="587044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645A"/>
                </a:solidFill>
                <a:latin typeface="Aptos"/>
              </a:defRPr>
            </a:pPr>
            <a:r>
              <a:rPr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e.g., age, blood pressure, diagnosis date</a:t>
            </a:r>
          </a:p>
        </p:txBody>
      </p:sp>
      <p:sp>
        <p:nvSpPr>
          <p:cNvPr id="144" name="Rounded Rectangle 18">
            <a:extLst>
              <a:ext uri="{FF2B5EF4-FFF2-40B4-BE49-F238E27FC236}">
                <a16:creationId xmlns:a16="http://schemas.microsoft.com/office/drawing/2014/main" id="{168EAAFF-2AFE-9849-3EC9-F544D6209785}"/>
              </a:ext>
            </a:extLst>
          </p:cNvPr>
          <p:cNvSpPr/>
          <p:nvPr/>
        </p:nvSpPr>
        <p:spPr>
          <a:xfrm>
            <a:off x="16277907" y="4678321"/>
            <a:ext cx="6675120" cy="4114800"/>
          </a:xfrm>
          <a:prstGeom prst="roundRect">
            <a:avLst/>
          </a:prstGeom>
          <a:solidFill>
            <a:srgbClr val="F4EEF9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54963C90-D74E-EED6-A831-EB1C64821158}"/>
              </a:ext>
            </a:extLst>
          </p:cNvPr>
          <p:cNvSpPr/>
          <p:nvPr/>
        </p:nvSpPr>
        <p:spPr>
          <a:xfrm>
            <a:off x="16607091" y="5007505"/>
            <a:ext cx="1005840" cy="1005840"/>
          </a:xfrm>
          <a:prstGeom prst="ellipse">
            <a:avLst/>
          </a:prstGeom>
          <a:solidFill>
            <a:srgbClr val="FFFFFF"/>
          </a:solidFill>
          <a:ln>
            <a:solidFill>
              <a:srgbClr val="D7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BD80ED3-F840-0BB8-3D9A-4176FE702209}"/>
              </a:ext>
            </a:extLst>
          </p:cNvPr>
          <p:cNvSpPr txBox="1"/>
          <p:nvPr/>
        </p:nvSpPr>
        <p:spPr>
          <a:xfrm>
            <a:off x="16607091" y="5117234"/>
            <a:ext cx="10058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768B2"/>
                </a:solidFill>
                <a:latin typeface="Aptos"/>
              </a:defRPr>
            </a:pPr>
            <a:r>
              <a:rPr sz="4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↔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BC13287A-3F37-55A0-E0B3-244AA635A761}"/>
              </a:ext>
            </a:extLst>
          </p:cNvPr>
          <p:cNvSpPr txBox="1"/>
          <p:nvPr/>
        </p:nvSpPr>
        <p:spPr>
          <a:xfrm>
            <a:off x="17832388" y="5007506"/>
            <a:ext cx="47548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768B2"/>
                </a:solidFill>
                <a:latin typeface="Aptos"/>
              </a:defRPr>
            </a:pPr>
            <a:r>
              <a:rPr sz="4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RELATIONSHIPS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ADE181A-193F-9AFC-0B87-86BEC2056BAD}"/>
              </a:ext>
            </a:extLst>
          </p:cNvPr>
          <p:cNvSpPr txBox="1"/>
          <p:nvPr/>
        </p:nvSpPr>
        <p:spPr>
          <a:xfrm>
            <a:off x="16680243" y="5995058"/>
            <a:ext cx="587044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645A"/>
                </a:solidFill>
                <a:latin typeface="Aptos"/>
              </a:defRPr>
            </a:pPr>
            <a:r>
              <a:rPr sz="4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e.g., a person has visits; a visit may have a diagnosis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AA4C1792-16C5-FAB0-1F71-E2BEE221ABFD}"/>
              </a:ext>
            </a:extLst>
          </p:cNvPr>
          <p:cNvSpPr txBox="1"/>
          <p:nvPr/>
        </p:nvSpPr>
        <p:spPr>
          <a:xfrm>
            <a:off x="1830387" y="10256161"/>
            <a:ext cx="20665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0BE37"/>
                </a:solidFill>
                <a:latin typeface="Aptos"/>
              </a:defRPr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blueprint for how data is organized.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1"/>
          <p:cNvSpPr txBox="1">
            <a:spLocks noGrp="1"/>
          </p:cNvSpPr>
          <p:nvPr>
            <p:ph type="title"/>
          </p:nvPr>
        </p:nvSpPr>
        <p:spPr>
          <a:xfrm>
            <a:off x="1229995" y="1079500"/>
            <a:ext cx="22076093" cy="1444626"/>
          </a:xfrm>
          <a:prstGeom prst="rect">
            <a:avLst/>
          </a:prstGeom>
          <a:solidFill>
            <a:srgbClr val="EDECED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/>
              <a:t>Types of Data Models </a:t>
            </a:r>
            <a:endParaRPr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8" name="Google Shape;128;p41"/>
          <p:cNvSpPr txBox="1">
            <a:spLocks noGrp="1"/>
          </p:cNvSpPr>
          <p:nvPr>
            <p:ph type="sldNum" idx="12"/>
          </p:nvPr>
        </p:nvSpPr>
        <p:spPr>
          <a:xfrm>
            <a:off x="23306088" y="12634913"/>
            <a:ext cx="930592" cy="108108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0" dist="254000" dir="13500000" algn="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en-US">
                <a:latin typeface="Avenir"/>
                <a:ea typeface="Avenir"/>
                <a:cs typeface="Avenir"/>
                <a:sym typeface="Avenir"/>
              </a:rPr>
              <a:t>4</a:t>
            </a:fld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9" name="Google Shape;129;p41"/>
          <p:cNvSpPr txBox="1">
            <a:spLocks noGrp="1"/>
          </p:cNvSpPr>
          <p:nvPr>
            <p:ph type="ftr" idx="11"/>
          </p:nvPr>
        </p:nvSpPr>
        <p:spPr>
          <a:xfrm>
            <a:off x="8720138" y="12634913"/>
            <a:ext cx="6946900" cy="10810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Transforming lives in Africa through research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30" name="Google Shape;130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5064" y="2535389"/>
            <a:ext cx="22352278" cy="10031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2"/>
          <p:cNvSpPr txBox="1">
            <a:spLocks noGrp="1"/>
          </p:cNvSpPr>
          <p:nvPr>
            <p:ph type="title"/>
          </p:nvPr>
        </p:nvSpPr>
        <p:spPr>
          <a:xfrm>
            <a:off x="1229995" y="1079500"/>
            <a:ext cx="22076093" cy="1444626"/>
          </a:xfrm>
          <a:prstGeom prst="rect">
            <a:avLst/>
          </a:prstGeom>
          <a:solidFill>
            <a:srgbClr val="EDECED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u="sng"/>
              <a:t>Data standardization terminologies</a:t>
            </a:r>
            <a:endParaRPr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6" name="Google Shape;136;p42"/>
          <p:cNvSpPr txBox="1">
            <a:spLocks noGrp="1"/>
          </p:cNvSpPr>
          <p:nvPr>
            <p:ph type="sldNum" idx="12"/>
          </p:nvPr>
        </p:nvSpPr>
        <p:spPr>
          <a:xfrm>
            <a:off x="23306088" y="12634913"/>
            <a:ext cx="930592" cy="108108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0" dist="254000" dir="13500000" algn="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en-US">
                <a:latin typeface="Avenir"/>
                <a:ea typeface="Avenir"/>
                <a:cs typeface="Avenir"/>
                <a:sym typeface="Avenir"/>
              </a:rPr>
              <a:t>5</a:t>
            </a:fld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2"/>
          <p:cNvSpPr txBox="1">
            <a:spLocks noGrp="1"/>
          </p:cNvSpPr>
          <p:nvPr>
            <p:ph type="ftr" idx="11"/>
          </p:nvPr>
        </p:nvSpPr>
        <p:spPr>
          <a:xfrm>
            <a:off x="8720138" y="12634913"/>
            <a:ext cx="6946900" cy="10810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Transforming lives in Africa through research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2"/>
          <p:cNvSpPr/>
          <p:nvPr/>
        </p:nvSpPr>
        <p:spPr>
          <a:xfrm>
            <a:off x="1229995" y="2929812"/>
            <a:ext cx="17059593" cy="695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structure 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tables, fields, data types </a:t>
            </a:r>
            <a:endParaRPr sz="4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protocols 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set of rules that govern how data are represented </a:t>
            </a:r>
            <a:endParaRPr sz="4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vocabularies 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terminologies to codify clinical domains </a:t>
            </a:r>
            <a:endParaRPr sz="4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Cohort definition 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algorithms for identifying the set of patients who meet a collection of criteria for a given interval of time </a:t>
            </a:r>
            <a:endParaRPr sz="4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Covariate construction 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logic to define variables available for use in statistical analysis </a:t>
            </a:r>
            <a:endParaRPr sz="4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Analysis 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collection of decisions and procedures required to produce aggregate summary statistics from patient-level data </a:t>
            </a:r>
            <a:endParaRPr sz="4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 reporting 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series of aggregate summary statistics presented in tabular and graphical form </a:t>
            </a:r>
            <a:endParaRPr sz="4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3"/>
          <p:cNvSpPr txBox="1">
            <a:spLocks noGrp="1"/>
          </p:cNvSpPr>
          <p:nvPr>
            <p:ph type="title"/>
          </p:nvPr>
        </p:nvSpPr>
        <p:spPr>
          <a:xfrm>
            <a:off x="1229995" y="1079500"/>
            <a:ext cx="22076093" cy="1444626"/>
          </a:xfrm>
          <a:prstGeom prst="rect">
            <a:avLst/>
          </a:prstGeom>
          <a:solidFill>
            <a:srgbClr val="EDECED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/>
              <a:t>The Common Data Model</a:t>
            </a:r>
            <a:endParaRPr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4" name="Google Shape;144;p43"/>
          <p:cNvSpPr txBox="1">
            <a:spLocks noGrp="1"/>
          </p:cNvSpPr>
          <p:nvPr>
            <p:ph type="sldNum" idx="12"/>
          </p:nvPr>
        </p:nvSpPr>
        <p:spPr>
          <a:xfrm>
            <a:off x="23306088" y="12634913"/>
            <a:ext cx="930592" cy="108108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0" dist="254000" dir="13500000" algn="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en-US">
                <a:latin typeface="Avenir"/>
                <a:ea typeface="Avenir"/>
                <a:cs typeface="Avenir"/>
                <a:sym typeface="Avenir"/>
              </a:rPr>
              <a:t>6</a:t>
            </a:fld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5" name="Google Shape;145;p43"/>
          <p:cNvSpPr txBox="1">
            <a:spLocks noGrp="1"/>
          </p:cNvSpPr>
          <p:nvPr>
            <p:ph type="ftr" idx="11"/>
          </p:nvPr>
        </p:nvSpPr>
        <p:spPr>
          <a:xfrm>
            <a:off x="8720138" y="12634913"/>
            <a:ext cx="6946900" cy="10810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Transforming lives in Africa through research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6" name="Google Shape;146;p43"/>
          <p:cNvSpPr/>
          <p:nvPr/>
        </p:nvSpPr>
        <p:spPr>
          <a:xfrm>
            <a:off x="1229995" y="2929812"/>
            <a:ext cx="22283148" cy="4042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Data Model (CDM)- a CDM is used to standardize and facilitate the exchange, pooling, sharing, or storing of data from multiple sources. </a:t>
            </a:r>
            <a:endParaRPr sz="4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CDMs specify structure, format, and (to varying degrees) content of data to be pooled or shared</a:t>
            </a:r>
          </a:p>
          <a:p>
            <a:pPr marL="228600" lvl="0" indent="-228600">
              <a:lnSpc>
                <a:spcPct val="150000"/>
              </a:lnSpc>
              <a:spcBef>
                <a:spcPts val="1000"/>
              </a:spcBef>
              <a:buClr>
                <a:schemeClr val="dk1"/>
              </a:buClr>
              <a:buSzPts val="2800"/>
              <a:buFont typeface="Arial"/>
              <a:buChar char="•"/>
            </a:pPr>
            <a:r>
              <a:rPr lang="en-GB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OMOP provides a standardized framework for organizing and querying observational health</a:t>
            </a:r>
            <a:endParaRPr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C092C70C-C379-7957-C9DF-EDFF4F04F1AB}"/>
              </a:ext>
            </a:extLst>
          </p:cNvPr>
          <p:cNvSpPr/>
          <p:nvPr/>
        </p:nvSpPr>
        <p:spPr>
          <a:xfrm>
            <a:off x="1281747" y="7619288"/>
            <a:ext cx="3291840" cy="2468880"/>
          </a:xfrm>
          <a:prstGeom prst="roundRect">
            <a:avLst/>
          </a:prstGeom>
          <a:solidFill>
            <a:srgbClr val="92D050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54C8B7-BC28-2ED7-FB39-6266B13A77B1}"/>
              </a:ext>
            </a:extLst>
          </p:cNvPr>
          <p:cNvSpPr txBox="1"/>
          <p:nvPr/>
        </p:nvSpPr>
        <p:spPr>
          <a:xfrm>
            <a:off x="1684081" y="7948475"/>
            <a:ext cx="24871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8BBE"/>
                </a:solidFill>
                <a:latin typeface="Aptos"/>
              </a:defRPr>
            </a:pPr>
            <a:r>
              <a: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EHR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49E0D-36C4-FC98-D3A0-F80D2BF90C69}"/>
              </a:ext>
            </a:extLst>
          </p:cNvPr>
          <p:cNvSpPr txBox="1"/>
          <p:nvPr/>
        </p:nvSpPr>
        <p:spPr>
          <a:xfrm>
            <a:off x="1684081" y="8936025"/>
            <a:ext cx="24871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645A"/>
                </a:solidFill>
                <a:latin typeface="Aptos"/>
              </a:defRPr>
            </a:pP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 data</a:t>
            </a:r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E50D79F2-BE7F-155B-B2AB-3C4CF1DB84E6}"/>
              </a:ext>
            </a:extLst>
          </p:cNvPr>
          <p:cNvSpPr/>
          <p:nvPr/>
        </p:nvSpPr>
        <p:spPr>
          <a:xfrm>
            <a:off x="5213665" y="7619288"/>
            <a:ext cx="3291840" cy="2468880"/>
          </a:xfrm>
          <a:prstGeom prst="roundRect">
            <a:avLst/>
          </a:prstGeom>
          <a:solidFill>
            <a:srgbClr val="92D050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74BAC7-D890-D423-79D8-A21C35FCF851}"/>
              </a:ext>
            </a:extLst>
          </p:cNvPr>
          <p:cNvSpPr txBox="1"/>
          <p:nvPr/>
        </p:nvSpPr>
        <p:spPr>
          <a:xfrm>
            <a:off x="5616003" y="7948475"/>
            <a:ext cx="24871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A4A6"/>
                </a:solidFill>
                <a:latin typeface="Aptos"/>
              </a:defRPr>
            </a:pPr>
            <a:r>
              <a: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00C93D-1971-8505-A715-642ABCA6614B}"/>
              </a:ext>
            </a:extLst>
          </p:cNvPr>
          <p:cNvSpPr txBox="1"/>
          <p:nvPr/>
        </p:nvSpPr>
        <p:spPr>
          <a:xfrm>
            <a:off x="5616003" y="8936025"/>
            <a:ext cx="24871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645A"/>
                </a:solidFill>
                <a:latin typeface="Aptos"/>
              </a:defRPr>
            </a:pPr>
            <a:r>
              <a:rPr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 data</a:t>
            </a:r>
          </a:p>
        </p:txBody>
      </p:sp>
      <p:sp>
        <p:nvSpPr>
          <p:cNvPr id="17" name="Rounded Rectangle 14">
            <a:extLst>
              <a:ext uri="{FF2B5EF4-FFF2-40B4-BE49-F238E27FC236}">
                <a16:creationId xmlns:a16="http://schemas.microsoft.com/office/drawing/2014/main" id="{81A38ED2-7399-2D18-762A-FD9F23BDF4E0}"/>
              </a:ext>
            </a:extLst>
          </p:cNvPr>
          <p:cNvSpPr/>
          <p:nvPr/>
        </p:nvSpPr>
        <p:spPr>
          <a:xfrm>
            <a:off x="9145587" y="7619288"/>
            <a:ext cx="3291840" cy="2468880"/>
          </a:xfrm>
          <a:prstGeom prst="roundRect">
            <a:avLst/>
          </a:prstGeom>
          <a:solidFill>
            <a:srgbClr val="F8F9F9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FA55FD-D9CA-ECCF-AFA4-25B2EDBA630C}"/>
              </a:ext>
            </a:extLst>
          </p:cNvPr>
          <p:cNvSpPr txBox="1"/>
          <p:nvPr/>
        </p:nvSpPr>
        <p:spPr>
          <a:xfrm>
            <a:off x="9547923" y="7948474"/>
            <a:ext cx="24871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9940"/>
                </a:solidFill>
                <a:latin typeface="Aptos"/>
              </a:defRPr>
            </a:pPr>
            <a:r>
              <a: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study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046C50-35E4-471A-C89B-0854D2D1372F}"/>
              </a:ext>
            </a:extLst>
          </p:cNvPr>
          <p:cNvSpPr txBox="1"/>
          <p:nvPr/>
        </p:nvSpPr>
        <p:spPr>
          <a:xfrm>
            <a:off x="9547923" y="8936025"/>
            <a:ext cx="24871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645A"/>
                </a:solidFill>
                <a:latin typeface="Aptos"/>
              </a:defRPr>
            </a:pPr>
            <a:r>
              <a:rPr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 data</a:t>
            </a:r>
          </a:p>
        </p:txBody>
      </p:sp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AC762F5F-52FB-9EBE-2CBB-5C6DFCB8464C}"/>
              </a:ext>
            </a:extLst>
          </p:cNvPr>
          <p:cNvSpPr/>
          <p:nvPr/>
        </p:nvSpPr>
        <p:spPr>
          <a:xfrm>
            <a:off x="9054147" y="7198666"/>
            <a:ext cx="5943600" cy="3291840"/>
          </a:xfrm>
          <a:prstGeom prst="roundRect">
            <a:avLst/>
          </a:prstGeom>
          <a:solidFill>
            <a:srgbClr val="E8F2E2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74CFBCC-F5FA-8007-AA8C-BB8FC899D317}"/>
              </a:ext>
            </a:extLst>
          </p:cNvPr>
          <p:cNvSpPr/>
          <p:nvPr/>
        </p:nvSpPr>
        <p:spPr>
          <a:xfrm>
            <a:off x="9383331" y="7527850"/>
            <a:ext cx="1005840" cy="1005840"/>
          </a:xfrm>
          <a:prstGeom prst="ellipse">
            <a:avLst/>
          </a:prstGeom>
          <a:solidFill>
            <a:srgbClr val="FFFFFF"/>
          </a:solidFill>
          <a:ln>
            <a:solidFill>
              <a:srgbClr val="D7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2AE197-56D1-31D2-D872-AB57E67757D7}"/>
              </a:ext>
            </a:extLst>
          </p:cNvPr>
          <p:cNvSpPr txBox="1"/>
          <p:nvPr/>
        </p:nvSpPr>
        <p:spPr>
          <a:xfrm>
            <a:off x="9383331" y="7637579"/>
            <a:ext cx="1005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0BE37"/>
                </a:solidFill>
                <a:latin typeface="Aptos"/>
              </a:defRPr>
            </a:pPr>
            <a:r>
              <a: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★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C4BF6A-05EA-B6B5-CD05-1596688A01F0}"/>
              </a:ext>
            </a:extLst>
          </p:cNvPr>
          <p:cNvSpPr txBox="1"/>
          <p:nvPr/>
        </p:nvSpPr>
        <p:spPr>
          <a:xfrm>
            <a:off x="10608627" y="7527851"/>
            <a:ext cx="4023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0BE37"/>
                </a:solidFill>
                <a:latin typeface="Aptos"/>
              </a:defRPr>
            </a:pPr>
            <a:r>
              <a: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OMOP CDM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5B15BD-33EB-0950-F944-3CB060CFBFCB}"/>
              </a:ext>
            </a:extLst>
          </p:cNvPr>
          <p:cNvSpPr txBox="1"/>
          <p:nvPr/>
        </p:nvSpPr>
        <p:spPr>
          <a:xfrm>
            <a:off x="9456483" y="8515402"/>
            <a:ext cx="51389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645A"/>
                </a:solidFill>
                <a:latin typeface="Aptos"/>
              </a:defRPr>
            </a:pPr>
            <a:r>
              <a:rPr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structure + standardized vocabularies</a:t>
            </a:r>
          </a:p>
        </p:txBody>
      </p:sp>
      <p:sp>
        <p:nvSpPr>
          <p:cNvPr id="33" name="Rounded Rectangle 22">
            <a:extLst>
              <a:ext uri="{FF2B5EF4-FFF2-40B4-BE49-F238E27FC236}">
                <a16:creationId xmlns:a16="http://schemas.microsoft.com/office/drawing/2014/main" id="{C6528B2C-2509-0F6F-403C-D08C6D6244C0}"/>
              </a:ext>
            </a:extLst>
          </p:cNvPr>
          <p:cNvSpPr/>
          <p:nvPr/>
        </p:nvSpPr>
        <p:spPr>
          <a:xfrm>
            <a:off x="15546390" y="7619288"/>
            <a:ext cx="2743198" cy="2468880"/>
          </a:xfrm>
          <a:prstGeom prst="round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1EFFAC-B470-EF26-2E0C-622BC5A4C690}"/>
              </a:ext>
            </a:extLst>
          </p:cNvPr>
          <p:cNvSpPr txBox="1"/>
          <p:nvPr/>
        </p:nvSpPr>
        <p:spPr>
          <a:xfrm>
            <a:off x="15778285" y="7948474"/>
            <a:ext cx="252374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768B2"/>
                </a:solidFill>
                <a:latin typeface="Aptos"/>
              </a:defRPr>
            </a:pP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Descriptive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nalysis</a:t>
            </a:r>
          </a:p>
        </p:txBody>
      </p:sp>
      <p:sp>
        <p:nvSpPr>
          <p:cNvPr id="37" name="Rounded Rectangle 24">
            <a:extLst>
              <a:ext uri="{FF2B5EF4-FFF2-40B4-BE49-F238E27FC236}">
                <a16:creationId xmlns:a16="http://schemas.microsoft.com/office/drawing/2014/main" id="{713766F2-5405-C65F-B3A7-0E622B0F266E}"/>
              </a:ext>
            </a:extLst>
          </p:cNvPr>
          <p:cNvSpPr/>
          <p:nvPr/>
        </p:nvSpPr>
        <p:spPr>
          <a:xfrm>
            <a:off x="18655347" y="7619288"/>
            <a:ext cx="2286000" cy="2468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0B9B153-48F1-BBC8-1E0C-FE4DC3DE5923}"/>
              </a:ext>
            </a:extLst>
          </p:cNvPr>
          <p:cNvSpPr txBox="1"/>
          <p:nvPr/>
        </p:nvSpPr>
        <p:spPr>
          <a:xfrm>
            <a:off x="18691923" y="7948474"/>
            <a:ext cx="22494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8BBE"/>
                </a:solidFill>
                <a:latin typeface="Aptos"/>
              </a:defRPr>
            </a:pP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Cohort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tudies</a:t>
            </a:r>
          </a:p>
        </p:txBody>
      </p:sp>
      <p:sp>
        <p:nvSpPr>
          <p:cNvPr id="41" name="Rounded Rectangle 26">
            <a:extLst>
              <a:ext uri="{FF2B5EF4-FFF2-40B4-BE49-F238E27FC236}">
                <a16:creationId xmlns:a16="http://schemas.microsoft.com/office/drawing/2014/main" id="{260A6F45-C1B4-1848-D60F-5439B14059DA}"/>
              </a:ext>
            </a:extLst>
          </p:cNvPr>
          <p:cNvSpPr/>
          <p:nvPr/>
        </p:nvSpPr>
        <p:spPr>
          <a:xfrm>
            <a:off x="21307107" y="7619288"/>
            <a:ext cx="2468880" cy="2468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90975E1-8A9D-518B-F14F-0560599E4570}"/>
              </a:ext>
            </a:extLst>
          </p:cNvPr>
          <p:cNvSpPr txBox="1"/>
          <p:nvPr/>
        </p:nvSpPr>
        <p:spPr>
          <a:xfrm>
            <a:off x="21307107" y="7948475"/>
            <a:ext cx="24688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3A4A6"/>
                </a:solidFill>
                <a:latin typeface="Aptos"/>
              </a:defRPr>
            </a:pPr>
            <a:r>
              <a:rPr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Federated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nalysis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D7ED53F-2163-1315-26DE-AAEC5B74673A}"/>
              </a:ext>
            </a:extLst>
          </p:cNvPr>
          <p:cNvSpPr txBox="1"/>
          <p:nvPr/>
        </p:nvSpPr>
        <p:spPr>
          <a:xfrm>
            <a:off x="2470467" y="10910276"/>
            <a:ext cx="202996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0BE37"/>
                </a:solidFill>
                <a:latin typeface="Aptos"/>
              </a:defRPr>
            </a:pPr>
            <a:r>
              <a:rPr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OMOP does not mean “one database.” It is a common way to organize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4"/>
          <p:cNvSpPr txBox="1">
            <a:spLocks noGrp="1"/>
          </p:cNvSpPr>
          <p:nvPr>
            <p:ph type="title"/>
          </p:nvPr>
        </p:nvSpPr>
        <p:spPr>
          <a:xfrm>
            <a:off x="1229995" y="1079500"/>
            <a:ext cx="22076093" cy="1444626"/>
          </a:xfrm>
          <a:prstGeom prst="rect">
            <a:avLst/>
          </a:prstGeom>
          <a:solidFill>
            <a:srgbClr val="EDECED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alibri"/>
              <a:buNone/>
            </a:pPr>
            <a:r>
              <a:rPr lang="en-US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Data harmonization and standardization 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2" name="Google Shape;152;p44"/>
          <p:cNvSpPr txBox="1">
            <a:spLocks noGrp="1"/>
          </p:cNvSpPr>
          <p:nvPr>
            <p:ph type="sldNum" idx="12"/>
          </p:nvPr>
        </p:nvSpPr>
        <p:spPr>
          <a:xfrm>
            <a:off x="23306088" y="12634913"/>
            <a:ext cx="930592" cy="108108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0" dist="254000" dir="13500000" algn="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en-US">
                <a:latin typeface="Avenir"/>
                <a:ea typeface="Avenir"/>
                <a:cs typeface="Avenir"/>
                <a:sym typeface="Avenir"/>
              </a:rPr>
              <a:t>7</a:t>
            </a:fld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3" name="Google Shape;153;p44"/>
          <p:cNvSpPr txBox="1">
            <a:spLocks noGrp="1"/>
          </p:cNvSpPr>
          <p:nvPr>
            <p:ph type="ftr" idx="11"/>
          </p:nvPr>
        </p:nvSpPr>
        <p:spPr>
          <a:xfrm>
            <a:off x="8720138" y="12634913"/>
            <a:ext cx="6946900" cy="10810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Transforming lives in Africa through research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4" name="Google Shape;154;p44"/>
          <p:cNvSpPr txBox="1">
            <a:spLocks noGrp="1"/>
          </p:cNvSpPr>
          <p:nvPr>
            <p:ph type="body" idx="1"/>
          </p:nvPr>
        </p:nvSpPr>
        <p:spPr>
          <a:xfrm>
            <a:off x="11707238" y="3392635"/>
            <a:ext cx="11704602" cy="8529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rmAutofit fontScale="25000" lnSpcReduction="20000"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100000"/>
              <a:buNone/>
            </a:pPr>
            <a:r>
              <a:rPr lang="en-US" sz="16000" b="1">
                <a:latin typeface="Calibri"/>
                <a:ea typeface="Calibri"/>
                <a:cs typeface="Calibri"/>
                <a:sym typeface="Calibri"/>
              </a:rPr>
              <a:t>What</a:t>
            </a:r>
            <a:endParaRPr sz="16000" b="1">
              <a:latin typeface="Calibri"/>
              <a:ea typeface="Calibri"/>
              <a:cs typeface="Calibri"/>
              <a:sym typeface="Calibri"/>
            </a:endParaRPr>
          </a:p>
          <a:p>
            <a:pPr marL="800100" lvl="0" indent="-5715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6000">
                <a:latin typeface="Calibri"/>
                <a:ea typeface="Calibri"/>
                <a:cs typeface="Calibri"/>
                <a:sym typeface="Calibri"/>
              </a:rPr>
              <a:t>Process of integrating and standardizing varying data sources,  structures and formats into a common data model(CDM).</a:t>
            </a:r>
            <a:endParaRPr/>
          </a:p>
          <a:p>
            <a:pPr marL="228600" lvl="0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100000"/>
              <a:buNone/>
            </a:pPr>
            <a:r>
              <a:rPr lang="en-US" sz="16000" b="1">
                <a:latin typeface="Calibri"/>
                <a:ea typeface="Calibri"/>
                <a:cs typeface="Calibri"/>
                <a:sym typeface="Calibri"/>
              </a:rPr>
              <a:t>How</a:t>
            </a:r>
            <a:endParaRPr/>
          </a:p>
          <a:p>
            <a:pPr marL="800100" lvl="0" indent="-5715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6000">
                <a:latin typeface="Calibri"/>
                <a:ea typeface="Calibri"/>
                <a:cs typeface="Calibri"/>
                <a:sym typeface="Calibri"/>
              </a:rPr>
              <a:t>Through data transformations and vocabulary integration.</a:t>
            </a:r>
            <a:endParaRPr/>
          </a:p>
          <a:p>
            <a:pPr marL="228600" lvl="0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100000"/>
              <a:buNone/>
            </a:pPr>
            <a:r>
              <a:rPr lang="en-US" sz="16000" b="1">
                <a:latin typeface="Calibri"/>
                <a:ea typeface="Calibri"/>
                <a:cs typeface="Calibri"/>
                <a:sym typeface="Calibri"/>
              </a:rPr>
              <a:t>Why</a:t>
            </a:r>
            <a:endParaRPr/>
          </a:p>
          <a:p>
            <a:pPr marL="800100" lvl="0" indent="-5715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6000">
                <a:latin typeface="Calibri"/>
                <a:ea typeface="Calibri"/>
                <a:cs typeface="Calibri"/>
                <a:sym typeface="Calibri"/>
              </a:rPr>
              <a:t>Facilitates use of common tools for data analysis</a:t>
            </a:r>
            <a:endParaRPr/>
          </a:p>
          <a:p>
            <a:pPr marL="800100" lvl="0" indent="-5715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6000">
                <a:latin typeface="Calibri"/>
                <a:ea typeface="Calibri"/>
                <a:cs typeface="Calibri"/>
                <a:sym typeface="Calibri"/>
              </a:rPr>
              <a:t>Data sharing </a:t>
            </a:r>
            <a:endParaRPr/>
          </a:p>
          <a:p>
            <a:pPr marL="800100" lvl="0" indent="-5715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6000">
                <a:latin typeface="Calibri"/>
                <a:ea typeface="Calibri"/>
                <a:cs typeface="Calibri"/>
                <a:sym typeface="Calibri"/>
              </a:rPr>
              <a:t>Contributes to the FAIR principle</a:t>
            </a:r>
            <a:endParaRPr/>
          </a:p>
          <a:p>
            <a:pPr marL="800100" lvl="0" indent="-3175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4000"/>
              <a:buFont typeface="Arial"/>
              <a:buNone/>
            </a:pP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4000"/>
              <a:buNone/>
            </a:pPr>
            <a:br>
              <a:rPr lang="en-US"/>
            </a:b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2535" y="4030377"/>
            <a:ext cx="9711616" cy="7029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5"/>
          <p:cNvSpPr txBox="1">
            <a:spLocks noGrp="1"/>
          </p:cNvSpPr>
          <p:nvPr>
            <p:ph type="title"/>
          </p:nvPr>
        </p:nvSpPr>
        <p:spPr>
          <a:xfrm>
            <a:off x="1229995" y="1079500"/>
            <a:ext cx="22076093" cy="1444626"/>
          </a:xfrm>
          <a:prstGeom prst="rect">
            <a:avLst/>
          </a:prstGeom>
          <a:solidFill>
            <a:srgbClr val="EDECED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alibri"/>
              <a:buNone/>
            </a:pPr>
            <a:r>
              <a:rPr lang="en-US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Data harmonization and standardization </a:t>
            </a:r>
            <a:endParaRPr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1" name="Google Shape;161;p45"/>
          <p:cNvSpPr txBox="1">
            <a:spLocks noGrp="1"/>
          </p:cNvSpPr>
          <p:nvPr>
            <p:ph type="sldNum" idx="12"/>
          </p:nvPr>
        </p:nvSpPr>
        <p:spPr>
          <a:xfrm>
            <a:off x="23306088" y="12634913"/>
            <a:ext cx="930592" cy="108108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0" dist="254000" dir="13500000" algn="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en-US">
                <a:latin typeface="Avenir"/>
                <a:ea typeface="Avenir"/>
                <a:cs typeface="Avenir"/>
                <a:sym typeface="Avenir"/>
              </a:rPr>
              <a:t>8</a:t>
            </a:fld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2" name="Google Shape;162;p45"/>
          <p:cNvSpPr txBox="1">
            <a:spLocks noGrp="1"/>
          </p:cNvSpPr>
          <p:nvPr>
            <p:ph type="ftr" idx="11"/>
          </p:nvPr>
        </p:nvSpPr>
        <p:spPr>
          <a:xfrm>
            <a:off x="8720138" y="12634913"/>
            <a:ext cx="6946900" cy="10810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Transforming lives in Africa through research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63" name="Google Shape;163;p45" descr="Graphical user interface, diagram, applicati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9995" y="3256596"/>
            <a:ext cx="11552944" cy="786549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45"/>
          <p:cNvSpPr txBox="1">
            <a:spLocks noGrp="1"/>
          </p:cNvSpPr>
          <p:nvPr>
            <p:ph type="body" idx="1"/>
          </p:nvPr>
        </p:nvSpPr>
        <p:spPr>
          <a:xfrm>
            <a:off x="13174824" y="3392635"/>
            <a:ext cx="10237016" cy="8102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rmAutofit fontScale="47500" lnSpcReduction="20000"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6315"/>
              <a:buFont typeface="Arial"/>
              <a:buChar char="●"/>
            </a:pPr>
            <a:r>
              <a:rPr lang="en-US" sz="9600"/>
              <a:t>The Observational Medical Outcomes Partnership (OMOP) Common Data Model (CDM) is a standardized framework for organizing and querying electronic health record (EHR) data. 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sz="9600"/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6315"/>
              <a:buFont typeface="Arial"/>
              <a:buChar char="●"/>
            </a:pPr>
            <a:r>
              <a:rPr lang="en-US" sz="9600"/>
              <a:t>It is designed to enable researchers to use real-world data from multiple sources</a:t>
            </a:r>
            <a:endParaRPr sz="9600">
              <a:solidFill>
                <a:srgbClr val="292929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800100" lvl="0" indent="-3175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210526"/>
              <a:buFont typeface="Arial"/>
              <a:buNone/>
            </a:pP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210526"/>
              <a:buNone/>
            </a:pPr>
            <a:br>
              <a:rPr lang="en-US"/>
            </a:b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3F9A6095-D287-1AF6-2070-AD50C9CDE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6">
            <a:extLst>
              <a:ext uri="{FF2B5EF4-FFF2-40B4-BE49-F238E27FC236}">
                <a16:creationId xmlns:a16="http://schemas.microsoft.com/office/drawing/2014/main" id="{20557188-0A0E-1210-BBC5-D4AD2A193C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29995" y="1079500"/>
            <a:ext cx="22076093" cy="1444626"/>
          </a:xfrm>
          <a:prstGeom prst="rect">
            <a:avLst/>
          </a:prstGeom>
          <a:solidFill>
            <a:srgbClr val="EDECED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alibri"/>
              <a:buNone/>
            </a:pPr>
            <a:r>
              <a:rPr lang="en-US" dirty="0">
                <a:latin typeface="Avenir"/>
                <a:ea typeface="Avenir"/>
                <a:cs typeface="Avenir"/>
                <a:sym typeface="Avenir"/>
              </a:rPr>
              <a:t>Why use </a:t>
            </a:r>
            <a:r>
              <a:rPr lang="en-US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OMOP CDM?</a:t>
            </a:r>
            <a:endParaRPr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0" name="Google Shape;170;p46">
            <a:extLst>
              <a:ext uri="{FF2B5EF4-FFF2-40B4-BE49-F238E27FC236}">
                <a16:creationId xmlns:a16="http://schemas.microsoft.com/office/drawing/2014/main" id="{7B671F96-D009-9B6F-F071-51554043D92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3306088" y="12634913"/>
            <a:ext cx="930592" cy="108108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0" dist="254000" dir="13500000" algn="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en-US">
                <a:latin typeface="Avenir"/>
                <a:ea typeface="Avenir"/>
                <a:cs typeface="Avenir"/>
                <a:sym typeface="Avenir"/>
              </a:rPr>
              <a:t>9</a:t>
            </a:fld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1" name="Google Shape;171;p46">
            <a:extLst>
              <a:ext uri="{FF2B5EF4-FFF2-40B4-BE49-F238E27FC236}">
                <a16:creationId xmlns:a16="http://schemas.microsoft.com/office/drawing/2014/main" id="{4EB62995-2CBF-362D-0923-BECAD8D09E7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720138" y="12634913"/>
            <a:ext cx="6946900" cy="10810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Transforming lives in Africa through research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105FDC-3344-7AD4-B1DB-DA8B53DEC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AA90AC34-A1F5-EE8D-D34F-4107A3A5EC3B}"/>
              </a:ext>
            </a:extLst>
          </p:cNvPr>
          <p:cNvSpPr/>
          <p:nvPr/>
        </p:nvSpPr>
        <p:spPr>
          <a:xfrm>
            <a:off x="1281747" y="2651760"/>
            <a:ext cx="6675120" cy="3200400"/>
          </a:xfrm>
          <a:prstGeom prst="roundRect">
            <a:avLst/>
          </a:prstGeom>
          <a:solidFill>
            <a:srgbClr val="F8F9F9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E1F5FB-9EBF-8223-BC72-92F770908CE4}"/>
              </a:ext>
            </a:extLst>
          </p:cNvPr>
          <p:cNvSpPr txBox="1"/>
          <p:nvPr/>
        </p:nvSpPr>
        <p:spPr>
          <a:xfrm>
            <a:off x="1684081" y="2980945"/>
            <a:ext cx="58704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0BE37"/>
                </a:solidFill>
                <a:latin typeface="Aptos"/>
              </a:defRPr>
            </a:pPr>
            <a:r>
              <a: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DAEE9D-AE49-971B-58D2-4C74180C181F}"/>
              </a:ext>
            </a:extLst>
          </p:cNvPr>
          <p:cNvSpPr txBox="1"/>
          <p:nvPr/>
        </p:nvSpPr>
        <p:spPr>
          <a:xfrm>
            <a:off x="1684081" y="3968497"/>
            <a:ext cx="58704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645A"/>
                </a:solidFill>
                <a:latin typeface="Aptos"/>
              </a:defRPr>
            </a:pPr>
            <a:r>
              <a:rPr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structure and terminology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90923C4-884F-CCD1-AA0C-BFBD54B58F2B}"/>
              </a:ext>
            </a:extLst>
          </p:cNvPr>
          <p:cNvSpPr/>
          <p:nvPr/>
        </p:nvSpPr>
        <p:spPr>
          <a:xfrm>
            <a:off x="8871267" y="2651760"/>
            <a:ext cx="6675120" cy="3200400"/>
          </a:xfrm>
          <a:prstGeom prst="roundRect">
            <a:avLst/>
          </a:prstGeom>
          <a:solidFill>
            <a:srgbClr val="F8F9F9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7A735B-DDD8-B13B-CF77-8666A0A0B2BE}"/>
              </a:ext>
            </a:extLst>
          </p:cNvPr>
          <p:cNvSpPr txBox="1"/>
          <p:nvPr/>
        </p:nvSpPr>
        <p:spPr>
          <a:xfrm>
            <a:off x="9273603" y="2980945"/>
            <a:ext cx="58704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8BBE"/>
                </a:solidFill>
                <a:latin typeface="Aptos"/>
              </a:defRPr>
            </a:pPr>
            <a:r>
              <a: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Interoperability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4E8BF4-5892-8F5B-EA0E-3C406217E1EF}"/>
              </a:ext>
            </a:extLst>
          </p:cNvPr>
          <p:cNvSpPr txBox="1"/>
          <p:nvPr/>
        </p:nvSpPr>
        <p:spPr>
          <a:xfrm>
            <a:off x="9273603" y="3968497"/>
            <a:ext cx="58704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645A"/>
                </a:solidFill>
                <a:latin typeface="Aptos"/>
              </a:defRPr>
            </a:pPr>
            <a:r>
              <a:rPr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Exchange and work across systems</a:t>
            </a:r>
          </a:p>
        </p:txBody>
      </p:sp>
      <p:sp>
        <p:nvSpPr>
          <p:cNvPr id="17" name="Rounded Rectangle 13">
            <a:extLst>
              <a:ext uri="{FF2B5EF4-FFF2-40B4-BE49-F238E27FC236}">
                <a16:creationId xmlns:a16="http://schemas.microsoft.com/office/drawing/2014/main" id="{B051AD7D-4E43-B8F9-ADA2-BC096827A6FB}"/>
              </a:ext>
            </a:extLst>
          </p:cNvPr>
          <p:cNvSpPr/>
          <p:nvPr/>
        </p:nvSpPr>
        <p:spPr>
          <a:xfrm>
            <a:off x="16460787" y="2651760"/>
            <a:ext cx="6675120" cy="3200400"/>
          </a:xfrm>
          <a:prstGeom prst="roundRect">
            <a:avLst/>
          </a:prstGeom>
          <a:solidFill>
            <a:srgbClr val="F8F9F9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8C98C5-DA6E-4273-7514-91BCA31C5714}"/>
              </a:ext>
            </a:extLst>
          </p:cNvPr>
          <p:cNvSpPr txBox="1"/>
          <p:nvPr/>
        </p:nvSpPr>
        <p:spPr>
          <a:xfrm>
            <a:off x="16863123" y="2980945"/>
            <a:ext cx="58704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768B2"/>
                </a:solidFill>
                <a:latin typeface="Aptos"/>
              </a:defRPr>
            </a:pPr>
            <a:r>
              <a: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Reusable analysis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827301-ADE4-13C6-1422-B7FBA2DDB0E7}"/>
              </a:ext>
            </a:extLst>
          </p:cNvPr>
          <p:cNvSpPr txBox="1"/>
          <p:nvPr/>
        </p:nvSpPr>
        <p:spPr>
          <a:xfrm>
            <a:off x="16863123" y="3968496"/>
            <a:ext cx="58704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645A"/>
                </a:solidFill>
                <a:latin typeface="Aptos"/>
              </a:defRPr>
            </a:pPr>
            <a:r>
              <a:rPr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tools can be applied to standardized data</a:t>
            </a:r>
          </a:p>
        </p:txBody>
      </p:sp>
      <p:sp>
        <p:nvSpPr>
          <p:cNvPr id="23" name="Rounded Rectangle 16">
            <a:extLst>
              <a:ext uri="{FF2B5EF4-FFF2-40B4-BE49-F238E27FC236}">
                <a16:creationId xmlns:a16="http://schemas.microsoft.com/office/drawing/2014/main" id="{10B0CDFD-D6B2-8BD6-8A28-95678B2AC61A}"/>
              </a:ext>
            </a:extLst>
          </p:cNvPr>
          <p:cNvSpPr/>
          <p:nvPr/>
        </p:nvSpPr>
        <p:spPr>
          <a:xfrm>
            <a:off x="1281747" y="7040878"/>
            <a:ext cx="6675120" cy="3200400"/>
          </a:xfrm>
          <a:prstGeom prst="roundRect">
            <a:avLst/>
          </a:prstGeom>
          <a:solidFill>
            <a:srgbClr val="F8F9F9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BB29CD0-5D9E-9321-BC3F-57CE2FE2493B}"/>
              </a:ext>
            </a:extLst>
          </p:cNvPr>
          <p:cNvSpPr txBox="1"/>
          <p:nvPr/>
        </p:nvSpPr>
        <p:spPr>
          <a:xfrm>
            <a:off x="1684081" y="7370063"/>
            <a:ext cx="58704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A4A6"/>
                </a:solidFill>
                <a:latin typeface="Aptos"/>
              </a:defRPr>
            </a:pPr>
            <a:r>
              <a: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Flexibility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E8CF96-9A26-645E-B7B8-197A3FC660A4}"/>
              </a:ext>
            </a:extLst>
          </p:cNvPr>
          <p:cNvSpPr txBox="1"/>
          <p:nvPr/>
        </p:nvSpPr>
        <p:spPr>
          <a:xfrm>
            <a:off x="1684081" y="8357614"/>
            <a:ext cx="58704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645A"/>
                </a:solidFill>
                <a:latin typeface="Aptos"/>
              </a:defRPr>
            </a:pPr>
            <a:r>
              <a:rPr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to accommodate different data sources</a:t>
            </a:r>
          </a:p>
        </p:txBody>
      </p:sp>
      <p:sp>
        <p:nvSpPr>
          <p:cNvPr id="29" name="Rounded Rectangle 19">
            <a:extLst>
              <a:ext uri="{FF2B5EF4-FFF2-40B4-BE49-F238E27FC236}">
                <a16:creationId xmlns:a16="http://schemas.microsoft.com/office/drawing/2014/main" id="{75744D5B-26E1-E0E2-200F-F5104B8C39F4}"/>
              </a:ext>
            </a:extLst>
          </p:cNvPr>
          <p:cNvSpPr/>
          <p:nvPr/>
        </p:nvSpPr>
        <p:spPr>
          <a:xfrm>
            <a:off x="8871267" y="7040878"/>
            <a:ext cx="6675120" cy="3200400"/>
          </a:xfrm>
          <a:prstGeom prst="roundRect">
            <a:avLst/>
          </a:prstGeom>
          <a:solidFill>
            <a:srgbClr val="F8F9F9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736DC3-BC31-6422-E6CC-021D0F15290B}"/>
              </a:ext>
            </a:extLst>
          </p:cNvPr>
          <p:cNvSpPr txBox="1"/>
          <p:nvPr/>
        </p:nvSpPr>
        <p:spPr>
          <a:xfrm>
            <a:off x="9273603" y="7370062"/>
            <a:ext cx="58704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9940"/>
                </a:solidFill>
                <a:latin typeface="Aptos"/>
              </a:defRPr>
            </a:pPr>
            <a:r>
              <a: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 improvement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EC9C05-643B-D965-FD46-4C78D1742612}"/>
              </a:ext>
            </a:extLst>
          </p:cNvPr>
          <p:cNvSpPr txBox="1"/>
          <p:nvPr/>
        </p:nvSpPr>
        <p:spPr>
          <a:xfrm>
            <a:off x="9273603" y="8357614"/>
            <a:ext cx="58704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645A"/>
                </a:solidFill>
                <a:latin typeface="Aptos"/>
              </a:defRPr>
            </a:pPr>
            <a:r>
              <a:rPr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Consistent representation supports data quality work</a:t>
            </a:r>
          </a:p>
        </p:txBody>
      </p:sp>
      <p:sp>
        <p:nvSpPr>
          <p:cNvPr id="35" name="Rounded Rectangle 22">
            <a:extLst>
              <a:ext uri="{FF2B5EF4-FFF2-40B4-BE49-F238E27FC236}">
                <a16:creationId xmlns:a16="http://schemas.microsoft.com/office/drawing/2014/main" id="{7ED0FE1D-45BC-424C-CEC4-E7DFF5B5712A}"/>
              </a:ext>
            </a:extLst>
          </p:cNvPr>
          <p:cNvSpPr/>
          <p:nvPr/>
        </p:nvSpPr>
        <p:spPr>
          <a:xfrm>
            <a:off x="16460787" y="7040878"/>
            <a:ext cx="6675120" cy="3200400"/>
          </a:xfrm>
          <a:prstGeom prst="roundRect">
            <a:avLst/>
          </a:prstGeom>
          <a:solidFill>
            <a:srgbClr val="F8F9F9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7CECC1B-06DD-0114-F1EA-BB485EC8FD57}"/>
              </a:ext>
            </a:extLst>
          </p:cNvPr>
          <p:cNvSpPr txBox="1"/>
          <p:nvPr/>
        </p:nvSpPr>
        <p:spPr>
          <a:xfrm>
            <a:off x="16863123" y="7370062"/>
            <a:ext cx="58704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0BE37"/>
                </a:solidFill>
                <a:latin typeface="Aptos"/>
              </a:defRPr>
            </a:pPr>
            <a:r>
              <a: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Sharing &amp; collaboration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E060BC-6118-D663-C692-4B6638EA27AF}"/>
              </a:ext>
            </a:extLst>
          </p:cNvPr>
          <p:cNvSpPr txBox="1"/>
          <p:nvPr/>
        </p:nvSpPr>
        <p:spPr>
          <a:xfrm>
            <a:off x="16863123" y="8357614"/>
            <a:ext cx="58704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645A"/>
                </a:solidFill>
                <a:latin typeface="Aptos"/>
              </a:defRPr>
            </a:pPr>
            <a:r>
              <a:rPr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Facilitates sharing and exchange across organizations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6D345F-E9AD-1614-B19B-80492A6E1836}"/>
              </a:ext>
            </a:extLst>
          </p:cNvPr>
          <p:cNvSpPr txBox="1"/>
          <p:nvPr/>
        </p:nvSpPr>
        <p:spPr>
          <a:xfrm>
            <a:off x="1830387" y="11155681"/>
            <a:ext cx="2066544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70BE37"/>
                </a:solidFill>
                <a:latin typeface="Aptos"/>
              </a:defRPr>
            </a:pPr>
            <a:r>
              <a:rPr sz="4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Ultimately: standardize once, reuse many times.</a:t>
            </a:r>
          </a:p>
        </p:txBody>
      </p:sp>
    </p:spTree>
    <p:extLst>
      <p:ext uri="{BB962C8B-B14F-4D97-AF65-F5344CB8AC3E}">
        <p14:creationId xmlns:p14="http://schemas.microsoft.com/office/powerpoint/2010/main" val="3010124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0EFCBEA9-A1A3-914F-6E63-182B4EFC4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6">
            <a:extLst>
              <a:ext uri="{FF2B5EF4-FFF2-40B4-BE49-F238E27FC236}">
                <a16:creationId xmlns:a16="http://schemas.microsoft.com/office/drawing/2014/main" id="{AE223F63-BFDE-66A4-AE18-5FB51A7315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29995" y="1079500"/>
            <a:ext cx="22076093" cy="1444626"/>
          </a:xfrm>
          <a:prstGeom prst="rect">
            <a:avLst/>
          </a:prstGeom>
          <a:solidFill>
            <a:srgbClr val="EDECED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alibri"/>
              <a:buNone/>
            </a:pPr>
            <a:r>
              <a:rPr lang="en-US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OMOP CDM Table Categories</a:t>
            </a:r>
            <a:endParaRPr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0" name="Google Shape;170;p46">
            <a:extLst>
              <a:ext uri="{FF2B5EF4-FFF2-40B4-BE49-F238E27FC236}">
                <a16:creationId xmlns:a16="http://schemas.microsoft.com/office/drawing/2014/main" id="{88BC2CF9-808F-C6FB-A3E0-15085014E4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3306088" y="12634913"/>
            <a:ext cx="930592" cy="108108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0" dist="254000" dir="13500000" algn="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en-US">
                <a:latin typeface="Avenir"/>
                <a:ea typeface="Avenir"/>
                <a:cs typeface="Avenir"/>
                <a:sym typeface="Avenir"/>
              </a:rPr>
              <a:t>10</a:t>
            </a:fld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1" name="Google Shape;171;p46">
            <a:extLst>
              <a:ext uri="{FF2B5EF4-FFF2-40B4-BE49-F238E27FC236}">
                <a16:creationId xmlns:a16="http://schemas.microsoft.com/office/drawing/2014/main" id="{45B56573-667C-08C8-5130-310289503C0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720138" y="12634913"/>
            <a:ext cx="6946900" cy="10810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Transforming lives in Africa through research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3209D-5A04-6286-D1FF-BC019D622E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84D9643E-3A5E-8641-9E3D-9F9280DC86CD}"/>
              </a:ext>
            </a:extLst>
          </p:cNvPr>
          <p:cNvSpPr/>
          <p:nvPr/>
        </p:nvSpPr>
        <p:spPr>
          <a:xfrm>
            <a:off x="1190307" y="2834640"/>
            <a:ext cx="6675120" cy="3474720"/>
          </a:xfrm>
          <a:prstGeom prst="roundRect">
            <a:avLst/>
          </a:prstGeom>
          <a:solidFill>
            <a:srgbClr val="F8F9F9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D03C13-85EC-A257-164B-CAB885C53A5E}"/>
              </a:ext>
            </a:extLst>
          </p:cNvPr>
          <p:cNvSpPr txBox="1"/>
          <p:nvPr/>
        </p:nvSpPr>
        <p:spPr>
          <a:xfrm>
            <a:off x="1592643" y="3163825"/>
            <a:ext cx="58704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0BE37"/>
                </a:solidFill>
                <a:latin typeface="Aptos"/>
              </a:defRPr>
            </a:pPr>
            <a:r>
              <a: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People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059427-D072-CB1E-2810-EC512A1072E9}"/>
              </a:ext>
            </a:extLst>
          </p:cNvPr>
          <p:cNvSpPr txBox="1"/>
          <p:nvPr/>
        </p:nvSpPr>
        <p:spPr>
          <a:xfrm>
            <a:off x="1592643" y="4151376"/>
            <a:ext cx="58704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645A"/>
                </a:solidFill>
                <a:latin typeface="Aptos"/>
              </a:defRPr>
            </a:pPr>
            <a:r>
              <a:rPr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 • DEATH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F2BE369-2E31-1504-D311-3DFBF769850F}"/>
              </a:ext>
            </a:extLst>
          </p:cNvPr>
          <p:cNvSpPr/>
          <p:nvPr/>
        </p:nvSpPr>
        <p:spPr>
          <a:xfrm>
            <a:off x="8779827" y="2834640"/>
            <a:ext cx="6675120" cy="3474720"/>
          </a:xfrm>
          <a:prstGeom prst="roundRect">
            <a:avLst/>
          </a:prstGeom>
          <a:solidFill>
            <a:srgbClr val="F8F9F9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F97AA1-60C1-490B-5101-B757E47934D7}"/>
              </a:ext>
            </a:extLst>
          </p:cNvPr>
          <p:cNvSpPr txBox="1"/>
          <p:nvPr/>
        </p:nvSpPr>
        <p:spPr>
          <a:xfrm>
            <a:off x="9182163" y="3163825"/>
            <a:ext cx="58704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8BBE"/>
                </a:solidFill>
                <a:latin typeface="Aptos"/>
              </a:defRPr>
            </a:pPr>
            <a:r>
              <a: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BCE020-E339-965A-E742-85D1CFE854B4}"/>
              </a:ext>
            </a:extLst>
          </p:cNvPr>
          <p:cNvSpPr txBox="1"/>
          <p:nvPr/>
        </p:nvSpPr>
        <p:spPr>
          <a:xfrm>
            <a:off x="9182163" y="4151377"/>
            <a:ext cx="58704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645A"/>
                </a:solidFill>
                <a:latin typeface="Aptos"/>
              </a:defRPr>
            </a:pPr>
            <a:r>
              <a:rPr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VISIT • CARE_SITE • PROVIDER</a:t>
            </a:r>
          </a:p>
        </p:txBody>
      </p:sp>
      <p:sp>
        <p:nvSpPr>
          <p:cNvPr id="17" name="Rounded Rectangle 13">
            <a:extLst>
              <a:ext uri="{FF2B5EF4-FFF2-40B4-BE49-F238E27FC236}">
                <a16:creationId xmlns:a16="http://schemas.microsoft.com/office/drawing/2014/main" id="{0B9577B0-F9F5-1B0C-EB7E-8CD9781F4973}"/>
              </a:ext>
            </a:extLst>
          </p:cNvPr>
          <p:cNvSpPr/>
          <p:nvPr/>
        </p:nvSpPr>
        <p:spPr>
          <a:xfrm>
            <a:off x="16369347" y="2834640"/>
            <a:ext cx="6675120" cy="3474720"/>
          </a:xfrm>
          <a:prstGeom prst="roundRect">
            <a:avLst/>
          </a:prstGeom>
          <a:solidFill>
            <a:srgbClr val="F8F9F9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EA36F9-C445-24CE-658C-D7BE0C66CAD5}"/>
              </a:ext>
            </a:extLst>
          </p:cNvPr>
          <p:cNvSpPr txBox="1"/>
          <p:nvPr/>
        </p:nvSpPr>
        <p:spPr>
          <a:xfrm>
            <a:off x="16771683" y="3163825"/>
            <a:ext cx="58704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9940"/>
                </a:solidFill>
                <a:latin typeface="Aptos"/>
              </a:defRPr>
            </a:pPr>
            <a:r>
              <a: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87F13C-B44A-3962-4F7A-7BD1204B2D72}"/>
              </a:ext>
            </a:extLst>
          </p:cNvPr>
          <p:cNvSpPr txBox="1"/>
          <p:nvPr/>
        </p:nvSpPr>
        <p:spPr>
          <a:xfrm>
            <a:off x="16771683" y="4151377"/>
            <a:ext cx="58704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645A"/>
                </a:solidFill>
                <a:latin typeface="Aptos"/>
              </a:defRPr>
            </a:pPr>
            <a:r>
              <a:rPr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CONDITION_OCCURRENCE</a:t>
            </a:r>
          </a:p>
        </p:txBody>
      </p:sp>
      <p:sp>
        <p:nvSpPr>
          <p:cNvPr id="23" name="Rounded Rectangle 16">
            <a:extLst>
              <a:ext uri="{FF2B5EF4-FFF2-40B4-BE49-F238E27FC236}">
                <a16:creationId xmlns:a16="http://schemas.microsoft.com/office/drawing/2014/main" id="{0D177BC7-9356-9AD5-F424-C7185457FCD0}"/>
              </a:ext>
            </a:extLst>
          </p:cNvPr>
          <p:cNvSpPr/>
          <p:nvPr/>
        </p:nvSpPr>
        <p:spPr>
          <a:xfrm>
            <a:off x="1190307" y="7498078"/>
            <a:ext cx="6675120" cy="3474720"/>
          </a:xfrm>
          <a:prstGeom prst="roundRect">
            <a:avLst/>
          </a:prstGeom>
          <a:solidFill>
            <a:srgbClr val="F8F9F9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80F8DF-423F-A75E-5C66-66A101FAD975}"/>
              </a:ext>
            </a:extLst>
          </p:cNvPr>
          <p:cNvSpPr txBox="1"/>
          <p:nvPr/>
        </p:nvSpPr>
        <p:spPr>
          <a:xfrm>
            <a:off x="1592643" y="7827263"/>
            <a:ext cx="58704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768B2"/>
                </a:solidFill>
                <a:latin typeface="Aptos"/>
              </a:defRPr>
            </a:pPr>
            <a:r>
              <a: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Treatment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DBD84A-0FA0-CF37-95D1-4E810E1CAC35}"/>
              </a:ext>
            </a:extLst>
          </p:cNvPr>
          <p:cNvSpPr txBox="1"/>
          <p:nvPr/>
        </p:nvSpPr>
        <p:spPr>
          <a:xfrm>
            <a:off x="1592643" y="8814814"/>
            <a:ext cx="58704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645A"/>
                </a:solidFill>
                <a:latin typeface="Aptos"/>
              </a:defRPr>
            </a:pPr>
            <a:r>
              <a:rPr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DRUG_EXPOSURE • PROCEDURE_OCCURRENCE</a:t>
            </a:r>
          </a:p>
        </p:txBody>
      </p:sp>
      <p:sp>
        <p:nvSpPr>
          <p:cNvPr id="29" name="Rounded Rectangle 19">
            <a:extLst>
              <a:ext uri="{FF2B5EF4-FFF2-40B4-BE49-F238E27FC236}">
                <a16:creationId xmlns:a16="http://schemas.microsoft.com/office/drawing/2014/main" id="{8C075988-038F-13E1-62DB-67D9ABC2E95C}"/>
              </a:ext>
            </a:extLst>
          </p:cNvPr>
          <p:cNvSpPr/>
          <p:nvPr/>
        </p:nvSpPr>
        <p:spPr>
          <a:xfrm>
            <a:off x="8779827" y="7498078"/>
            <a:ext cx="6675120" cy="3474720"/>
          </a:xfrm>
          <a:prstGeom prst="roundRect">
            <a:avLst/>
          </a:prstGeom>
          <a:solidFill>
            <a:srgbClr val="F8F9F9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3C3F70-9743-78B8-9D1D-4D7AA1923B51}"/>
              </a:ext>
            </a:extLst>
          </p:cNvPr>
          <p:cNvSpPr txBox="1"/>
          <p:nvPr/>
        </p:nvSpPr>
        <p:spPr>
          <a:xfrm>
            <a:off x="9182163" y="7827263"/>
            <a:ext cx="58704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A4A6"/>
                </a:solidFill>
                <a:latin typeface="Aptos"/>
              </a:defRPr>
            </a:pPr>
            <a:r>
              <a: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Measurements &amp; facts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7EA517-88F0-3F8A-954E-CF4D52705668}"/>
              </a:ext>
            </a:extLst>
          </p:cNvPr>
          <p:cNvSpPr txBox="1"/>
          <p:nvPr/>
        </p:nvSpPr>
        <p:spPr>
          <a:xfrm>
            <a:off x="9182163" y="8814814"/>
            <a:ext cx="58704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645A"/>
                </a:solidFill>
                <a:latin typeface="Aptos"/>
              </a:defRPr>
            </a:pPr>
            <a:r>
              <a:rPr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MEASUREMENT • OBSERVATION • DEVICE_EXPOSURE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C000D8-2194-C713-ACF6-0F4D8BB74AEB}"/>
              </a:ext>
            </a:extLst>
          </p:cNvPr>
          <p:cNvSpPr txBox="1"/>
          <p:nvPr/>
        </p:nvSpPr>
        <p:spPr>
          <a:xfrm>
            <a:off x="1830387" y="11064240"/>
            <a:ext cx="2066544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70BE37"/>
                </a:solidFill>
                <a:latin typeface="Aptos"/>
              </a:defRPr>
            </a:pP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Sample OMOP CDM Tables</a:t>
            </a:r>
            <a:endParaRPr sz="3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923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7"/>
          <p:cNvSpPr txBox="1">
            <a:spLocks noGrp="1"/>
          </p:cNvSpPr>
          <p:nvPr>
            <p:ph type="title"/>
          </p:nvPr>
        </p:nvSpPr>
        <p:spPr>
          <a:xfrm>
            <a:off x="1229995" y="1079500"/>
            <a:ext cx="22076093" cy="1444626"/>
          </a:xfrm>
          <a:prstGeom prst="rect">
            <a:avLst/>
          </a:prstGeom>
          <a:solidFill>
            <a:srgbClr val="EDECED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alibri"/>
              <a:buNone/>
            </a:pPr>
            <a:r>
              <a:rPr lang="en-US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Database Tables within OMOP CDM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7" name="Google Shape;207;p47"/>
          <p:cNvSpPr txBox="1">
            <a:spLocks noGrp="1"/>
          </p:cNvSpPr>
          <p:nvPr>
            <p:ph type="sldNum" idx="12"/>
          </p:nvPr>
        </p:nvSpPr>
        <p:spPr>
          <a:xfrm>
            <a:off x="23306088" y="12634913"/>
            <a:ext cx="930592" cy="108108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0" dist="254000" dir="13500000" algn="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en-US">
                <a:latin typeface="Avenir"/>
                <a:ea typeface="Avenir"/>
                <a:cs typeface="Avenir"/>
                <a:sym typeface="Avenir"/>
              </a:rPr>
              <a:t>11</a:t>
            </a:fld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8" name="Google Shape;208;p47"/>
          <p:cNvSpPr txBox="1">
            <a:spLocks noGrp="1"/>
          </p:cNvSpPr>
          <p:nvPr>
            <p:ph type="ftr" idx="11"/>
          </p:nvPr>
        </p:nvSpPr>
        <p:spPr>
          <a:xfrm>
            <a:off x="8720138" y="12634913"/>
            <a:ext cx="6946900" cy="10810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Transforming lives in Africa through research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09" name="Google Shape;209;p47" descr="Chapter 4 The Common Data Model | The Book of OHDSI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55294" y="3439435"/>
            <a:ext cx="16779157" cy="8634378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47"/>
          <p:cNvSpPr txBox="1">
            <a:spLocks noGrp="1"/>
          </p:cNvSpPr>
          <p:nvPr>
            <p:ph type="body" idx="1"/>
          </p:nvPr>
        </p:nvSpPr>
        <p:spPr>
          <a:xfrm>
            <a:off x="1068388" y="3285866"/>
            <a:ext cx="22237700" cy="9349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8"/>
          <p:cNvSpPr txBox="1">
            <a:spLocks noGrp="1"/>
          </p:cNvSpPr>
          <p:nvPr>
            <p:ph type="title"/>
          </p:nvPr>
        </p:nvSpPr>
        <p:spPr>
          <a:xfrm>
            <a:off x="1229995" y="1079500"/>
            <a:ext cx="22076093" cy="1444626"/>
          </a:xfrm>
          <a:prstGeom prst="rect">
            <a:avLst/>
          </a:prstGeom>
          <a:solidFill>
            <a:srgbClr val="EDECED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alibri"/>
              <a:buNone/>
            </a:pPr>
            <a:r>
              <a:rPr lang="en-US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Database Tables within OMOP CDM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16" name="Google Shape;216;p48"/>
          <p:cNvSpPr txBox="1">
            <a:spLocks noGrp="1"/>
          </p:cNvSpPr>
          <p:nvPr>
            <p:ph type="sldNum" idx="12"/>
          </p:nvPr>
        </p:nvSpPr>
        <p:spPr>
          <a:xfrm>
            <a:off x="23306088" y="12634913"/>
            <a:ext cx="930592" cy="108108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0" dist="254000" dir="13500000" algn="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en-US">
                <a:latin typeface="Avenir"/>
                <a:ea typeface="Avenir"/>
                <a:cs typeface="Avenir"/>
                <a:sym typeface="Avenir"/>
              </a:rPr>
              <a:t>12</a:t>
            </a:fld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17" name="Google Shape;217;p48"/>
          <p:cNvSpPr txBox="1">
            <a:spLocks noGrp="1"/>
          </p:cNvSpPr>
          <p:nvPr>
            <p:ph type="ftr" idx="11"/>
          </p:nvPr>
        </p:nvSpPr>
        <p:spPr>
          <a:xfrm>
            <a:off x="8720138" y="12634913"/>
            <a:ext cx="6946900" cy="10810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Transforming lives in Africa through research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graphicFrame>
        <p:nvGraphicFramePr>
          <p:cNvPr id="218" name="Google Shape;218;p48"/>
          <p:cNvGraphicFramePr/>
          <p:nvPr/>
        </p:nvGraphicFramePr>
        <p:xfrm>
          <a:off x="2008094" y="2711617"/>
          <a:ext cx="19829925" cy="9479410"/>
        </p:xfrm>
        <a:graphic>
          <a:graphicData uri="http://schemas.openxmlformats.org/drawingml/2006/table">
            <a:tbl>
              <a:tblPr firstRow="1" bandRow="1">
                <a:noFill/>
                <a:tableStyleId>{6CF77A0F-6D22-40FF-81DA-3A1FEB37C469}</a:tableStyleId>
              </a:tblPr>
              <a:tblGrid>
                <a:gridCol w="468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3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/>
                        <a:t>TABLE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/>
                        <a:t>DESCRIPTION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/>
                        <a:t>Person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/>
                        <a:t>The central entity representing individuals/patients in the dataset.</a:t>
                      </a:r>
                      <a:endParaRPr sz="32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/>
                        <a:t>Observation period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/>
                        <a:t>Links a person to one or more time periods during which their data was collected</a:t>
                      </a:r>
                      <a:endParaRPr sz="32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/>
                        <a:t>Visit_occurence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/>
                        <a:t>Represents instances of patient visits to healthcare facilities.</a:t>
                      </a:r>
                      <a:endParaRPr sz="32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1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/>
                        <a:t>Condition occurrence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/>
                        <a:t>Stores information about diagnoses or medical conditions recorded during patient encounters.</a:t>
                      </a:r>
                      <a:endParaRPr sz="32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/>
                        <a:t>Drug exposure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/>
                        <a:t>Contains records of medications prescribed or administered to a patient.</a:t>
                      </a:r>
                      <a:endParaRPr sz="32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1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/>
                        <a:t>Procedure occurrence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Stores data on medical or surgical procedures performed on the patient.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/>
                        <a:t>Measurement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/>
                        <a:t>Contains clinical measurements such as lab test results or vitals like blood pressure.</a:t>
                      </a:r>
                      <a:endParaRPr sz="32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11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/>
                        <a:t>Observation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/>
                        <a:t>Represents clinical facts or observations recorded during healthcare encounters (e.g., smoking status, lifestyle factors).</a:t>
                      </a:r>
                      <a:endParaRPr sz="32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/>
                        <a:t>Device Exposure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/>
                        <a:t>Stores records of medical devices used in patient care, such as pacemakers or ventilators</a:t>
                      </a:r>
                      <a:endParaRPr sz="32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4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/>
                        <a:t>Care site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/>
                        <a:t>Represents healthcare facilities where visits or procedures occurred.</a:t>
                      </a:r>
                      <a:endParaRPr sz="32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4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/>
                        <a:t>Provider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/>
                        <a:t>Represents healthcare professionals associated with the patient's care.</a:t>
                      </a:r>
                      <a:endParaRPr sz="32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4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/>
                        <a:t>Death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 dirty="0"/>
                        <a:t>Stores information on patients who have died, including the cause of death.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9"/>
          <p:cNvSpPr txBox="1">
            <a:spLocks noGrp="1"/>
          </p:cNvSpPr>
          <p:nvPr>
            <p:ph type="title"/>
          </p:nvPr>
        </p:nvSpPr>
        <p:spPr>
          <a:xfrm>
            <a:off x="1229995" y="1079500"/>
            <a:ext cx="22076093" cy="1444626"/>
          </a:xfrm>
          <a:prstGeom prst="rect">
            <a:avLst/>
          </a:prstGeom>
          <a:solidFill>
            <a:srgbClr val="EDECED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alibri"/>
              <a:buNone/>
            </a:pPr>
            <a:r>
              <a:rPr lang="en-US" baseline="-25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Database Tables within OMOP CDM</a:t>
            </a:r>
            <a:endParaRPr baseline="-25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24" name="Google Shape;224;p49"/>
          <p:cNvSpPr txBox="1">
            <a:spLocks noGrp="1"/>
          </p:cNvSpPr>
          <p:nvPr>
            <p:ph type="sldNum" idx="12"/>
          </p:nvPr>
        </p:nvSpPr>
        <p:spPr>
          <a:xfrm>
            <a:off x="23306088" y="12634913"/>
            <a:ext cx="930592" cy="108108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0" dist="254000" dir="13500000" algn="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en-US">
                <a:latin typeface="Avenir"/>
                <a:ea typeface="Avenir"/>
                <a:cs typeface="Avenir"/>
                <a:sym typeface="Avenir"/>
              </a:rPr>
              <a:t>13</a:t>
            </a:fld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25" name="Google Shape;225;p49"/>
          <p:cNvSpPr txBox="1">
            <a:spLocks noGrp="1"/>
          </p:cNvSpPr>
          <p:nvPr>
            <p:ph type="ftr" idx="11"/>
          </p:nvPr>
        </p:nvSpPr>
        <p:spPr>
          <a:xfrm>
            <a:off x="8720138" y="12634913"/>
            <a:ext cx="6946900" cy="10810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Transforming lives in Africa through research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26" name="Google Shape;226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9995" y="3227294"/>
            <a:ext cx="4812217" cy="8871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844733" y="3048000"/>
            <a:ext cx="9312447" cy="2408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66496" y="3046486"/>
            <a:ext cx="6934801" cy="1120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51255" y="4689083"/>
            <a:ext cx="6950042" cy="1493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52186" y="6554541"/>
            <a:ext cx="7049111" cy="1676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4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52186" y="8347689"/>
            <a:ext cx="8199831" cy="1691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4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51255" y="10460471"/>
            <a:ext cx="7811177" cy="1638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49" descr="Standard representation of vocabulary concepts in the OMOP CDM. The example provided is the CONCEPT table record for the SNOMED code for Atrial Fibrillation.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4977524" y="5651055"/>
            <a:ext cx="8551702" cy="6663006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49"/>
          <p:cNvSpPr txBox="1"/>
          <p:nvPr/>
        </p:nvSpPr>
        <p:spPr>
          <a:xfrm>
            <a:off x="9233647" y="2895935"/>
            <a:ext cx="295994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OBSERVATION PERIOD</a:t>
            </a:r>
            <a:endParaRPr/>
          </a:p>
        </p:txBody>
      </p:sp>
      <p:sp>
        <p:nvSpPr>
          <p:cNvPr id="235" name="Google Shape;235;p49"/>
          <p:cNvSpPr txBox="1"/>
          <p:nvPr/>
        </p:nvSpPr>
        <p:spPr>
          <a:xfrm>
            <a:off x="2554942" y="2928484"/>
            <a:ext cx="170329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PERSON</a:t>
            </a:r>
            <a:endParaRPr/>
          </a:p>
        </p:txBody>
      </p:sp>
      <p:sp>
        <p:nvSpPr>
          <p:cNvPr id="236" name="Google Shape;236;p49"/>
          <p:cNvSpPr txBox="1"/>
          <p:nvPr/>
        </p:nvSpPr>
        <p:spPr>
          <a:xfrm>
            <a:off x="9272131" y="4476893"/>
            <a:ext cx="295994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VISIT OCCURENCE</a:t>
            </a:r>
            <a:endParaRPr/>
          </a:p>
        </p:txBody>
      </p:sp>
      <p:sp>
        <p:nvSpPr>
          <p:cNvPr id="237" name="Google Shape;237;p49"/>
          <p:cNvSpPr txBox="1"/>
          <p:nvPr/>
        </p:nvSpPr>
        <p:spPr>
          <a:xfrm>
            <a:off x="9361587" y="6240227"/>
            <a:ext cx="295994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VISIT DETAIL</a:t>
            </a:r>
            <a:endParaRPr/>
          </a:p>
        </p:txBody>
      </p:sp>
      <p:sp>
        <p:nvSpPr>
          <p:cNvPr id="238" name="Google Shape;238;p49"/>
          <p:cNvSpPr txBox="1"/>
          <p:nvPr/>
        </p:nvSpPr>
        <p:spPr>
          <a:xfrm>
            <a:off x="9218580" y="8035906"/>
            <a:ext cx="295994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CONDITION OCCURENCE</a:t>
            </a:r>
            <a:endParaRPr/>
          </a:p>
        </p:txBody>
      </p:sp>
      <p:sp>
        <p:nvSpPr>
          <p:cNvPr id="239" name="Google Shape;239;p49"/>
          <p:cNvSpPr txBox="1"/>
          <p:nvPr/>
        </p:nvSpPr>
        <p:spPr>
          <a:xfrm>
            <a:off x="9302253" y="10153587"/>
            <a:ext cx="295994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DRUG EXPOSURE</a:t>
            </a:r>
            <a:endParaRPr/>
          </a:p>
        </p:txBody>
      </p:sp>
      <p:sp>
        <p:nvSpPr>
          <p:cNvPr id="240" name="Google Shape;240;p49"/>
          <p:cNvSpPr txBox="1"/>
          <p:nvPr/>
        </p:nvSpPr>
        <p:spPr>
          <a:xfrm>
            <a:off x="18249028" y="5414994"/>
            <a:ext cx="295994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CONCEPT</a:t>
            </a:r>
            <a:endParaRPr/>
          </a:p>
        </p:txBody>
      </p:sp>
      <p:sp>
        <p:nvSpPr>
          <p:cNvPr id="241" name="Google Shape;241;p49"/>
          <p:cNvSpPr txBox="1"/>
          <p:nvPr/>
        </p:nvSpPr>
        <p:spPr>
          <a:xfrm>
            <a:off x="18195241" y="2793986"/>
            <a:ext cx="295994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OBSERVATION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9"/>
          <p:cNvSpPr txBox="1">
            <a:spLocks noGrp="1"/>
          </p:cNvSpPr>
          <p:nvPr>
            <p:ph type="title"/>
          </p:nvPr>
        </p:nvSpPr>
        <p:spPr>
          <a:xfrm>
            <a:off x="0" y="5413375"/>
            <a:ext cx="24387175" cy="2887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0"/>
              <a:buFont typeface="Calibri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THANK YOU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47" name="Google Shape;247;p19"/>
          <p:cNvSpPr txBox="1">
            <a:spLocks noGrp="1"/>
          </p:cNvSpPr>
          <p:nvPr>
            <p:ph type="body" idx="1"/>
          </p:nvPr>
        </p:nvSpPr>
        <p:spPr>
          <a:xfrm>
            <a:off x="6635750" y="10460038"/>
            <a:ext cx="11114088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libri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www.aphrc.org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48" name="Google Shape;24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6517" y="483712"/>
            <a:ext cx="4454140" cy="5010908"/>
          </a:xfrm>
          <a:prstGeom prst="rect">
            <a:avLst/>
          </a:prstGeom>
          <a:noFill/>
          <a:ln>
            <a:noFill/>
          </a:ln>
          <a:effectLst>
            <a:outerShdw blurRad="508000" dist="381000" dir="5400000" algn="t" rotWithShape="0">
              <a:srgbClr val="000000">
                <a:alpha val="14509"/>
              </a:srgbClr>
            </a:outerShdw>
          </a:effectLst>
        </p:spPr>
      </p:pic>
      <p:pic>
        <p:nvPicPr>
          <p:cNvPr id="249" name="Google Shape;249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41756" y="8133425"/>
            <a:ext cx="1122363" cy="113733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9"/>
          <p:cNvSpPr txBox="1"/>
          <p:nvPr/>
        </p:nvSpPr>
        <p:spPr>
          <a:xfrm>
            <a:off x="9386095" y="9440016"/>
            <a:ext cx="277971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@APHRC</a:t>
            </a:r>
            <a:endParaRPr sz="14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51" name="Google Shape;251;p19"/>
          <p:cNvSpPr txBox="1"/>
          <p:nvPr/>
        </p:nvSpPr>
        <p:spPr>
          <a:xfrm>
            <a:off x="12165807" y="9440016"/>
            <a:ext cx="277971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@aphrc</a:t>
            </a:r>
            <a:endParaRPr sz="14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52" name="Google Shape;252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025114" y="8164030"/>
            <a:ext cx="1075219" cy="10752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ain Pallet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BC148"/>
      </a:accent1>
      <a:accent2>
        <a:srgbClr val="9ACD69"/>
      </a:accent2>
      <a:accent3>
        <a:srgbClr val="B9D989"/>
      </a:accent3>
      <a:accent4>
        <a:srgbClr val="A6A4A9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830</Words>
  <Application>Microsoft Office PowerPoint</Application>
  <PresentationFormat>Custom</PresentationFormat>
  <Paragraphs>165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Avenir</vt:lpstr>
      <vt:lpstr>Calibri</vt:lpstr>
      <vt:lpstr>Georgia</vt:lpstr>
      <vt:lpstr>Office Theme</vt:lpstr>
      <vt:lpstr>Introduction to OMOP Common Data Model </vt:lpstr>
      <vt:lpstr>Content Outline</vt:lpstr>
      <vt:lpstr>What is a data model</vt:lpstr>
      <vt:lpstr>Types of Data Models </vt:lpstr>
      <vt:lpstr>Data standardization terminologies</vt:lpstr>
      <vt:lpstr>The Common Data Model</vt:lpstr>
      <vt:lpstr>Data harmonization and standardization </vt:lpstr>
      <vt:lpstr>Data harmonization and standardization </vt:lpstr>
      <vt:lpstr>Why use OMOP CDM?</vt:lpstr>
      <vt:lpstr>OMOP CDM Table Categories</vt:lpstr>
      <vt:lpstr>Database Tables within OMOP CDM</vt:lpstr>
      <vt:lpstr>Database Tables within OMOP CDM</vt:lpstr>
      <vt:lpstr>Database Tables within OMOP CDM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David</dc:creator>
  <cp:lastModifiedBy>Michael Ochola</cp:lastModifiedBy>
  <cp:revision>3</cp:revision>
  <dcterms:created xsi:type="dcterms:W3CDTF">2022-02-02T17:01:08Z</dcterms:created>
  <dcterms:modified xsi:type="dcterms:W3CDTF">2026-09-14T21:01:29Z</dcterms:modified>
</cp:coreProperties>
</file>